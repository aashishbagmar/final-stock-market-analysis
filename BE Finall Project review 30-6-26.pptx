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2" r:id="rId5"/>
    <p:sldId id="291" r:id="rId6"/>
    <p:sldId id="260" r:id="rId7"/>
    <p:sldId id="286" r:id="rId8"/>
    <p:sldId id="287" r:id="rId9"/>
    <p:sldId id="259" r:id="rId10"/>
    <p:sldId id="261" r:id="rId11"/>
    <p:sldId id="273" r:id="rId12"/>
    <p:sldId id="274" r:id="rId13"/>
    <p:sldId id="278" r:id="rId14"/>
    <p:sldId id="277" r:id="rId15"/>
    <p:sldId id="279" r:id="rId16"/>
    <p:sldId id="275" r:id="rId17"/>
    <p:sldId id="265" r:id="rId18"/>
    <p:sldId id="282" r:id="rId19"/>
    <p:sldId id="266" r:id="rId20"/>
    <p:sldId id="283" r:id="rId21"/>
    <p:sldId id="280" r:id="rId22"/>
    <p:sldId id="289" r:id="rId23"/>
    <p:sldId id="284" r:id="rId24"/>
    <p:sldId id="262" r:id="rId25"/>
    <p:sldId id="292" r:id="rId26"/>
    <p:sldId id="270" r:id="rId27"/>
    <p:sldId id="271" r:id="rId28"/>
  </p:sldIdLst>
  <p:sldSz cx="9144000" cy="5143500" type="screen16x9"/>
  <p:notesSz cx="9144000" cy="5143500"/>
  <p:defaultTextStyle>
    <a:defPPr>
      <a:defRPr kern="0"/>
    </a:def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F14672-9176-4AB9-900C-8B3D5AEEC216}" v="1087" dt="2026-03-23T21:41:59.504"/>
    <p1510:client id="{377C1BE2-AEA9-79BC-9EC8-95F9D8D69DA5}" v="1733" dt="2026-03-24T07:17:38.047"/>
    <p1510:client id="{E4A3D409-5CC1-960C-C074-8F714B41E8AC}" v="109" dt="2026-03-24T07:58:52.663"/>
    <p1510:client id="{FAED937F-6636-311E-A6FF-2D79F5D89839}" v="105" dt="2026-03-24T07:27:29.33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016" y="-25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55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lang="en-US" spc="-95"/>
              <a:t> 13/11/25</a:t>
            </a:r>
            <a:endParaRPr spc="-95"/>
          </a:p>
        </p:txBody>
      </p:sp>
      <p:sp>
        <p:nvSpPr>
          <p:cNvPr id="5" name="Holder 5"/>
          <p:cNvSpPr>
            <a:spLocks noGrp="1"/>
          </p:cNvSpPr>
          <p:nvPr>
            <p:ph type="dt" sz="half" idx="6"/>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spc="-130"/>
              <a:t>AI&amp;DS-</a:t>
            </a:r>
            <a:r>
              <a:rPr spc="-105"/>
              <a:t>Department</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4905375"/>
            <a:ext cx="9144000" cy="238125"/>
          </a:xfrm>
          <a:prstGeom prst="rect">
            <a:avLst/>
          </a:prstGeom>
        </p:spPr>
      </p:pic>
      <p:pic>
        <p:nvPicPr>
          <p:cNvPr id="17" name="bg object 17"/>
          <p:cNvPicPr/>
          <p:nvPr/>
        </p:nvPicPr>
        <p:blipFill>
          <a:blip r:embed="rId3" cstate="print"/>
          <a:stretch>
            <a:fillRect/>
          </a:stretch>
        </p:blipFill>
        <p:spPr>
          <a:xfrm>
            <a:off x="3781425" y="4867275"/>
            <a:ext cx="4938776" cy="276225"/>
          </a:xfrm>
          <a:prstGeom prst="rect">
            <a:avLst/>
          </a:prstGeom>
        </p:spPr>
      </p:pic>
      <p:pic>
        <p:nvPicPr>
          <p:cNvPr id="18" name="bg object 18"/>
          <p:cNvPicPr/>
          <p:nvPr/>
        </p:nvPicPr>
        <p:blipFill>
          <a:blip r:embed="rId4" cstate="print"/>
          <a:stretch>
            <a:fillRect/>
          </a:stretch>
        </p:blipFill>
        <p:spPr>
          <a:xfrm>
            <a:off x="0" y="4914900"/>
            <a:ext cx="9144000" cy="228600"/>
          </a:xfrm>
          <a:prstGeom prst="rect">
            <a:avLst/>
          </a:prstGeom>
        </p:spPr>
      </p:pic>
      <p:pic>
        <p:nvPicPr>
          <p:cNvPr id="19" name="bg object 19"/>
          <p:cNvPicPr/>
          <p:nvPr/>
        </p:nvPicPr>
        <p:blipFill>
          <a:blip r:embed="rId5" cstate="print"/>
          <a:stretch>
            <a:fillRect/>
          </a:stretch>
        </p:blipFill>
        <p:spPr>
          <a:xfrm>
            <a:off x="285750" y="4857750"/>
            <a:ext cx="795337" cy="285750"/>
          </a:xfrm>
          <a:prstGeom prst="rect">
            <a:avLst/>
          </a:prstGeom>
        </p:spPr>
      </p:pic>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55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lang="en-US" spc="-95"/>
              <a:t> 13/11/25</a:t>
            </a:r>
            <a:endParaRPr spc="-95"/>
          </a:p>
        </p:txBody>
      </p:sp>
      <p:sp>
        <p:nvSpPr>
          <p:cNvPr id="5" name="Holder 5"/>
          <p:cNvSpPr>
            <a:spLocks noGrp="1"/>
          </p:cNvSpPr>
          <p:nvPr>
            <p:ph type="dt" sz="half" idx="6"/>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spc="-130"/>
              <a:t>AI&amp;DS-</a:t>
            </a:r>
            <a:r>
              <a:rPr spc="-105"/>
              <a:t>Department</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4905375"/>
            <a:ext cx="9144000" cy="238125"/>
          </a:xfrm>
          <a:prstGeom prst="rect">
            <a:avLst/>
          </a:prstGeom>
        </p:spPr>
      </p:pic>
      <p:pic>
        <p:nvPicPr>
          <p:cNvPr id="17" name="bg object 17"/>
          <p:cNvPicPr/>
          <p:nvPr/>
        </p:nvPicPr>
        <p:blipFill>
          <a:blip r:embed="rId3" cstate="print"/>
          <a:stretch>
            <a:fillRect/>
          </a:stretch>
        </p:blipFill>
        <p:spPr>
          <a:xfrm>
            <a:off x="3781425" y="4867275"/>
            <a:ext cx="4938776" cy="276225"/>
          </a:xfrm>
          <a:prstGeom prst="rect">
            <a:avLst/>
          </a:prstGeom>
        </p:spPr>
      </p:pic>
      <p:pic>
        <p:nvPicPr>
          <p:cNvPr id="18" name="bg object 18"/>
          <p:cNvPicPr/>
          <p:nvPr/>
        </p:nvPicPr>
        <p:blipFill>
          <a:blip r:embed="rId4" cstate="print"/>
          <a:stretch>
            <a:fillRect/>
          </a:stretch>
        </p:blipFill>
        <p:spPr>
          <a:xfrm>
            <a:off x="0" y="4914900"/>
            <a:ext cx="9144000" cy="228600"/>
          </a:xfrm>
          <a:prstGeom prst="rect">
            <a:avLst/>
          </a:prstGeom>
        </p:spPr>
      </p:pic>
      <p:pic>
        <p:nvPicPr>
          <p:cNvPr id="19" name="bg object 19"/>
          <p:cNvPicPr/>
          <p:nvPr/>
        </p:nvPicPr>
        <p:blipFill>
          <a:blip r:embed="rId5" cstate="print"/>
          <a:stretch>
            <a:fillRect/>
          </a:stretch>
        </p:blipFill>
        <p:spPr>
          <a:xfrm>
            <a:off x="285750" y="4857750"/>
            <a:ext cx="795337" cy="285750"/>
          </a:xfrm>
          <a:prstGeom prst="rect">
            <a:avLst/>
          </a:prstGeom>
        </p:spPr>
      </p:pic>
      <p:pic>
        <p:nvPicPr>
          <p:cNvPr id="20" name="bg object 20"/>
          <p:cNvPicPr/>
          <p:nvPr/>
        </p:nvPicPr>
        <p:blipFill>
          <a:blip r:embed="rId6" cstate="print"/>
          <a:stretch>
            <a:fillRect/>
          </a:stretch>
        </p:blipFill>
        <p:spPr>
          <a:xfrm>
            <a:off x="0" y="0"/>
            <a:ext cx="9144000" cy="681356"/>
          </a:xfrm>
          <a:prstGeom prst="rect">
            <a:avLst/>
          </a:prstGeom>
        </p:spPr>
      </p:pic>
      <p:pic>
        <p:nvPicPr>
          <p:cNvPr id="21" name="bg object 21"/>
          <p:cNvPicPr/>
          <p:nvPr/>
        </p:nvPicPr>
        <p:blipFill>
          <a:blip r:embed="rId7" cstate="print"/>
          <a:stretch>
            <a:fillRect/>
          </a:stretch>
        </p:blipFill>
        <p:spPr>
          <a:xfrm>
            <a:off x="2771775" y="9461"/>
            <a:ext cx="3595751" cy="738187"/>
          </a:xfrm>
          <a:prstGeom prst="rect">
            <a:avLst/>
          </a:prstGeom>
        </p:spPr>
      </p:pic>
      <p:pic>
        <p:nvPicPr>
          <p:cNvPr id="22" name="bg object 22"/>
          <p:cNvPicPr/>
          <p:nvPr/>
        </p:nvPicPr>
        <p:blipFill>
          <a:blip r:embed="rId8" cstate="print"/>
          <a:stretch>
            <a:fillRect/>
          </a:stretch>
        </p:blipFill>
        <p:spPr>
          <a:xfrm>
            <a:off x="0" y="0"/>
            <a:ext cx="9144000" cy="628650"/>
          </a:xfrm>
          <a:prstGeom prst="rect">
            <a:avLst/>
          </a:prstGeom>
        </p:spPr>
      </p:pic>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319087" y="1157287"/>
            <a:ext cx="4000500" cy="34194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4834001" y="1157287"/>
            <a:ext cx="4000500" cy="3419475"/>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lang="en-US" spc="-95"/>
              <a:t> 13/11/25</a:t>
            </a:r>
            <a:endParaRPr spc="-95"/>
          </a:p>
        </p:txBody>
      </p:sp>
      <p:sp>
        <p:nvSpPr>
          <p:cNvPr id="6" name="Holder 6"/>
          <p:cNvSpPr>
            <a:spLocks noGrp="1"/>
          </p:cNvSpPr>
          <p:nvPr>
            <p:ph type="dt" sz="half" idx="6"/>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spc="-130"/>
              <a:t>AI&amp;DS-</a:t>
            </a:r>
            <a:r>
              <a:rPr spc="-105"/>
              <a:t>Department</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4905375"/>
            <a:ext cx="9144000" cy="238125"/>
          </a:xfrm>
          <a:prstGeom prst="rect">
            <a:avLst/>
          </a:prstGeom>
        </p:spPr>
      </p:pic>
      <p:pic>
        <p:nvPicPr>
          <p:cNvPr id="17" name="bg object 17"/>
          <p:cNvPicPr/>
          <p:nvPr/>
        </p:nvPicPr>
        <p:blipFill>
          <a:blip r:embed="rId3" cstate="print"/>
          <a:stretch>
            <a:fillRect/>
          </a:stretch>
        </p:blipFill>
        <p:spPr>
          <a:xfrm>
            <a:off x="3781425" y="4867275"/>
            <a:ext cx="4938776" cy="276225"/>
          </a:xfrm>
          <a:prstGeom prst="rect">
            <a:avLst/>
          </a:prstGeom>
        </p:spPr>
      </p:pic>
      <p:pic>
        <p:nvPicPr>
          <p:cNvPr id="18" name="bg object 18"/>
          <p:cNvPicPr/>
          <p:nvPr/>
        </p:nvPicPr>
        <p:blipFill>
          <a:blip r:embed="rId4" cstate="print"/>
          <a:stretch>
            <a:fillRect/>
          </a:stretch>
        </p:blipFill>
        <p:spPr>
          <a:xfrm>
            <a:off x="0" y="4914900"/>
            <a:ext cx="9144000" cy="228600"/>
          </a:xfrm>
          <a:prstGeom prst="rect">
            <a:avLst/>
          </a:prstGeom>
        </p:spPr>
      </p:pic>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lang="en-US" spc="-95"/>
              <a:t> 13/11/25</a:t>
            </a:r>
            <a:endParaRPr spc="-95"/>
          </a:p>
        </p:txBody>
      </p:sp>
      <p:sp>
        <p:nvSpPr>
          <p:cNvPr id="4" name="Holder 4"/>
          <p:cNvSpPr>
            <a:spLocks noGrp="1"/>
          </p:cNvSpPr>
          <p:nvPr>
            <p:ph type="dt" sz="half" idx="6"/>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spc="-130"/>
              <a:t>AI&amp;DS-</a:t>
            </a:r>
            <a:r>
              <a:rPr spc="-105"/>
              <a:t>Department</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lang="en-US" spc="-95"/>
              <a:t> 13/11/25</a:t>
            </a:r>
            <a:endParaRPr spc="-95"/>
          </a:p>
        </p:txBody>
      </p:sp>
      <p:sp>
        <p:nvSpPr>
          <p:cNvPr id="3" name="Holder 3"/>
          <p:cNvSpPr>
            <a:spLocks noGrp="1"/>
          </p:cNvSpPr>
          <p:nvPr>
            <p:ph type="dt" sz="half" idx="6"/>
          </p:nvPr>
        </p:nvSpPr>
        <p:spPr/>
        <p:txBody>
          <a:bodyPr lIns="0" tIns="0" rIns="0" bIns="0"/>
          <a:lstStyle>
            <a:lvl1pPr>
              <a:defRPr sz="1100" b="1" i="0">
                <a:solidFill>
                  <a:schemeClr val="bg1"/>
                </a:solidFill>
                <a:latin typeface="Arial"/>
                <a:cs typeface="Arial"/>
              </a:defRPr>
            </a:lvl1pPr>
          </a:lstStyle>
          <a:p>
            <a:pPr marL="12700">
              <a:lnSpc>
                <a:spcPct val="100000"/>
              </a:lnSpc>
              <a:spcBef>
                <a:spcPts val="50"/>
              </a:spcBef>
            </a:pPr>
            <a:r>
              <a:rPr spc="-130"/>
              <a:t>AI&amp;DS-</a:t>
            </a:r>
            <a:r>
              <a:rPr spc="-105"/>
              <a:t>Department</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4905375"/>
            <a:ext cx="9144000" cy="238125"/>
          </a:xfrm>
          <a:prstGeom prst="rect">
            <a:avLst/>
          </a:prstGeom>
        </p:spPr>
      </p:pic>
      <p:pic>
        <p:nvPicPr>
          <p:cNvPr id="17" name="bg object 17"/>
          <p:cNvPicPr/>
          <p:nvPr/>
        </p:nvPicPr>
        <p:blipFill>
          <a:blip r:embed="rId8" cstate="print"/>
          <a:stretch>
            <a:fillRect/>
          </a:stretch>
        </p:blipFill>
        <p:spPr>
          <a:xfrm>
            <a:off x="3781425" y="4867275"/>
            <a:ext cx="4938776" cy="276225"/>
          </a:xfrm>
          <a:prstGeom prst="rect">
            <a:avLst/>
          </a:prstGeom>
        </p:spPr>
      </p:pic>
      <p:pic>
        <p:nvPicPr>
          <p:cNvPr id="18" name="bg object 18"/>
          <p:cNvPicPr/>
          <p:nvPr/>
        </p:nvPicPr>
        <p:blipFill>
          <a:blip r:embed="rId9" cstate="print"/>
          <a:stretch>
            <a:fillRect/>
          </a:stretch>
        </p:blipFill>
        <p:spPr>
          <a:xfrm>
            <a:off x="0" y="4914900"/>
            <a:ext cx="9144000" cy="228600"/>
          </a:xfrm>
          <a:prstGeom prst="rect">
            <a:avLst/>
          </a:prstGeom>
        </p:spPr>
      </p:pic>
      <p:pic>
        <p:nvPicPr>
          <p:cNvPr id="19" name="bg object 19"/>
          <p:cNvPicPr/>
          <p:nvPr/>
        </p:nvPicPr>
        <p:blipFill>
          <a:blip r:embed="rId10" cstate="print"/>
          <a:stretch>
            <a:fillRect/>
          </a:stretch>
        </p:blipFill>
        <p:spPr>
          <a:xfrm>
            <a:off x="285750" y="4857750"/>
            <a:ext cx="795337" cy="285750"/>
          </a:xfrm>
          <a:prstGeom prst="rect">
            <a:avLst/>
          </a:prstGeom>
        </p:spPr>
      </p:pic>
      <p:pic>
        <p:nvPicPr>
          <p:cNvPr id="20" name="bg object 20"/>
          <p:cNvPicPr/>
          <p:nvPr/>
        </p:nvPicPr>
        <p:blipFill>
          <a:blip r:embed="rId11" cstate="print"/>
          <a:stretch>
            <a:fillRect/>
          </a:stretch>
        </p:blipFill>
        <p:spPr>
          <a:xfrm>
            <a:off x="0" y="0"/>
            <a:ext cx="9144000" cy="681356"/>
          </a:xfrm>
          <a:prstGeom prst="rect">
            <a:avLst/>
          </a:prstGeom>
        </p:spPr>
      </p:pic>
      <p:sp>
        <p:nvSpPr>
          <p:cNvPr id="2" name="Holder 2"/>
          <p:cNvSpPr>
            <a:spLocks noGrp="1"/>
          </p:cNvSpPr>
          <p:nvPr>
            <p:ph type="title"/>
          </p:nvPr>
        </p:nvSpPr>
        <p:spPr>
          <a:xfrm>
            <a:off x="1927225" y="8318"/>
            <a:ext cx="5289549" cy="575310"/>
          </a:xfrm>
          <a:prstGeom prst="rect">
            <a:avLst/>
          </a:prstGeom>
        </p:spPr>
        <p:txBody>
          <a:bodyPr wrap="square" lIns="0" tIns="0" rIns="0" bIns="0">
            <a:spAutoFit/>
          </a:bodyPr>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678684" y="1760851"/>
            <a:ext cx="3786631" cy="2459990"/>
          </a:xfrm>
          <a:prstGeom prst="rect">
            <a:avLst/>
          </a:prstGeom>
        </p:spPr>
        <p:txBody>
          <a:bodyPr wrap="square" lIns="0" tIns="0" rIns="0" bIns="0">
            <a:spAutoFit/>
          </a:bodyPr>
          <a:lstStyle>
            <a:lvl1pPr>
              <a:defRPr sz="155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9417" y="4929946"/>
            <a:ext cx="540385" cy="189229"/>
          </a:xfrm>
          <a:prstGeom prst="rect">
            <a:avLst/>
          </a:prstGeom>
        </p:spPr>
        <p:txBody>
          <a:bodyPr wrap="square" lIns="0" tIns="0" rIns="0" bIns="0">
            <a:spAutoFit/>
          </a:bodyPr>
          <a:lstStyle>
            <a:lvl1pPr>
              <a:defRPr sz="1100" b="1" i="0">
                <a:solidFill>
                  <a:schemeClr val="bg1"/>
                </a:solidFill>
                <a:latin typeface="Arial"/>
                <a:cs typeface="Arial"/>
              </a:defRPr>
            </a:lvl1pPr>
          </a:lstStyle>
          <a:p>
            <a:pPr marL="12700">
              <a:lnSpc>
                <a:spcPct val="100000"/>
              </a:lnSpc>
              <a:spcBef>
                <a:spcPts val="50"/>
              </a:spcBef>
            </a:pPr>
            <a:r>
              <a:rPr lang="en-US" spc="-95"/>
              <a:t> 13/11/25</a:t>
            </a:r>
            <a:endParaRPr spc="-95"/>
          </a:p>
        </p:txBody>
      </p:sp>
      <p:sp>
        <p:nvSpPr>
          <p:cNvPr id="5" name="Holder 5"/>
          <p:cNvSpPr>
            <a:spLocks noGrp="1"/>
          </p:cNvSpPr>
          <p:nvPr>
            <p:ph type="dt" sz="half" idx="6"/>
          </p:nvPr>
        </p:nvSpPr>
        <p:spPr>
          <a:xfrm>
            <a:off x="3918839" y="4942011"/>
            <a:ext cx="1058545" cy="189229"/>
          </a:xfrm>
          <a:prstGeom prst="rect">
            <a:avLst/>
          </a:prstGeom>
        </p:spPr>
        <p:txBody>
          <a:bodyPr wrap="square" lIns="0" tIns="0" rIns="0" bIns="0">
            <a:spAutoFit/>
          </a:bodyPr>
          <a:lstStyle>
            <a:lvl1pPr>
              <a:defRPr sz="1100" b="1" i="0">
                <a:solidFill>
                  <a:schemeClr val="bg1"/>
                </a:solidFill>
                <a:latin typeface="Arial"/>
                <a:cs typeface="Arial"/>
              </a:defRPr>
            </a:lvl1pPr>
          </a:lstStyle>
          <a:p>
            <a:pPr marL="12700">
              <a:lnSpc>
                <a:spcPct val="100000"/>
              </a:lnSpc>
              <a:spcBef>
                <a:spcPts val="50"/>
              </a:spcBef>
            </a:pPr>
            <a:r>
              <a:rPr spc="-130"/>
              <a:t>AI&amp;DS-</a:t>
            </a:r>
            <a:r>
              <a:rPr spc="-105"/>
              <a:t>Department</a:t>
            </a:r>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3.png"/><Relationship Id="rId12" Type="http://schemas.openxmlformats.org/officeDocument/2006/relationships/image" Target="../media/image15.jp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4.jpg"/><Relationship Id="rId5" Type="http://schemas.openxmlformats.org/officeDocument/2006/relationships/image" Target="../media/image1.png"/><Relationship Id="rId10"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hyperlink" Target="FINAL_FINAL_PPT1.pptx" TargetMode="Externa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938530"/>
            <a:chOff x="0" y="0"/>
            <a:chExt cx="9144000" cy="938530"/>
          </a:xfrm>
        </p:grpSpPr>
        <p:pic>
          <p:nvPicPr>
            <p:cNvPr id="3" name="object 3"/>
            <p:cNvPicPr/>
            <p:nvPr/>
          </p:nvPicPr>
          <p:blipFill>
            <a:blip r:embed="rId2" cstate="print"/>
            <a:stretch>
              <a:fillRect/>
            </a:stretch>
          </p:blipFill>
          <p:spPr>
            <a:xfrm>
              <a:off x="0" y="0"/>
              <a:ext cx="9144000" cy="681356"/>
            </a:xfrm>
            <a:prstGeom prst="rect">
              <a:avLst/>
            </a:prstGeom>
          </p:spPr>
        </p:pic>
        <p:pic>
          <p:nvPicPr>
            <p:cNvPr id="4" name="object 4"/>
            <p:cNvPicPr/>
            <p:nvPr/>
          </p:nvPicPr>
          <p:blipFill>
            <a:blip r:embed="rId3" cstate="print"/>
            <a:stretch>
              <a:fillRect/>
            </a:stretch>
          </p:blipFill>
          <p:spPr>
            <a:xfrm>
              <a:off x="1771650" y="0"/>
              <a:ext cx="6500876" cy="938149"/>
            </a:xfrm>
            <a:prstGeom prst="rect">
              <a:avLst/>
            </a:prstGeom>
          </p:spPr>
        </p:pic>
        <p:pic>
          <p:nvPicPr>
            <p:cNvPr id="5" name="object 5"/>
            <p:cNvPicPr/>
            <p:nvPr/>
          </p:nvPicPr>
          <p:blipFill>
            <a:blip r:embed="rId4" cstate="print"/>
            <a:stretch>
              <a:fillRect/>
            </a:stretch>
          </p:blipFill>
          <p:spPr>
            <a:xfrm>
              <a:off x="0" y="0"/>
              <a:ext cx="9144000" cy="628650"/>
            </a:xfrm>
            <a:prstGeom prst="rect">
              <a:avLst/>
            </a:prstGeom>
          </p:spPr>
        </p:pic>
      </p:grpSp>
      <p:sp>
        <p:nvSpPr>
          <p:cNvPr id="6" name="object 6"/>
          <p:cNvSpPr txBox="1">
            <a:spLocks noGrp="1"/>
          </p:cNvSpPr>
          <p:nvPr>
            <p:ph type="title"/>
          </p:nvPr>
        </p:nvSpPr>
        <p:spPr>
          <a:prstGeom prst="rect">
            <a:avLst/>
          </a:prstGeom>
        </p:spPr>
        <p:txBody>
          <a:bodyPr vert="horz" wrap="square" lIns="0" tIns="13335" rIns="0" bIns="0" rtlCol="0">
            <a:spAutoFit/>
          </a:bodyPr>
          <a:lstStyle/>
          <a:p>
            <a:pPr marL="177800">
              <a:lnSpc>
                <a:spcPct val="100000"/>
              </a:lnSpc>
              <a:spcBef>
                <a:spcPts val="105"/>
              </a:spcBef>
            </a:pPr>
            <a:r>
              <a:rPr sz="3600"/>
              <a:t>A</a:t>
            </a:r>
            <a:r>
              <a:rPr sz="3600" spc="-15"/>
              <a:t> </a:t>
            </a:r>
            <a:r>
              <a:rPr sz="3600"/>
              <a:t>Project</a:t>
            </a:r>
            <a:r>
              <a:rPr sz="3600" spc="-30"/>
              <a:t> </a:t>
            </a:r>
            <a:r>
              <a:rPr sz="3600"/>
              <a:t>Presentation</a:t>
            </a:r>
            <a:r>
              <a:rPr sz="3600" spc="-10"/>
              <a:t> </a:t>
            </a:r>
            <a:r>
              <a:rPr sz="3600" spc="-25"/>
              <a:t>on</a:t>
            </a:r>
            <a:endParaRPr sz="3600"/>
          </a:p>
        </p:txBody>
      </p:sp>
      <p:grpSp>
        <p:nvGrpSpPr>
          <p:cNvPr id="7" name="object 7"/>
          <p:cNvGrpSpPr/>
          <p:nvPr/>
        </p:nvGrpSpPr>
        <p:grpSpPr>
          <a:xfrm>
            <a:off x="0" y="4867275"/>
            <a:ext cx="9144000" cy="276225"/>
            <a:chOff x="0" y="4867275"/>
            <a:chExt cx="9144000" cy="276225"/>
          </a:xfrm>
        </p:grpSpPr>
        <p:pic>
          <p:nvPicPr>
            <p:cNvPr id="8" name="object 8"/>
            <p:cNvPicPr/>
            <p:nvPr/>
          </p:nvPicPr>
          <p:blipFill>
            <a:blip r:embed="rId5" cstate="print"/>
            <a:stretch>
              <a:fillRect/>
            </a:stretch>
          </p:blipFill>
          <p:spPr>
            <a:xfrm>
              <a:off x="0" y="4905375"/>
              <a:ext cx="9144000" cy="238125"/>
            </a:xfrm>
            <a:prstGeom prst="rect">
              <a:avLst/>
            </a:prstGeom>
          </p:spPr>
        </p:pic>
        <p:pic>
          <p:nvPicPr>
            <p:cNvPr id="9" name="object 9"/>
            <p:cNvPicPr/>
            <p:nvPr/>
          </p:nvPicPr>
          <p:blipFill>
            <a:blip r:embed="rId6" cstate="print"/>
            <a:stretch>
              <a:fillRect/>
            </a:stretch>
          </p:blipFill>
          <p:spPr>
            <a:xfrm>
              <a:off x="3200400" y="4867275"/>
              <a:ext cx="5500751" cy="276225"/>
            </a:xfrm>
            <a:prstGeom prst="rect">
              <a:avLst/>
            </a:prstGeom>
          </p:spPr>
        </p:pic>
        <p:pic>
          <p:nvPicPr>
            <p:cNvPr id="10" name="object 10"/>
            <p:cNvPicPr/>
            <p:nvPr/>
          </p:nvPicPr>
          <p:blipFill>
            <a:blip r:embed="rId7" cstate="print"/>
            <a:stretch>
              <a:fillRect/>
            </a:stretch>
          </p:blipFill>
          <p:spPr>
            <a:xfrm>
              <a:off x="0" y="4914900"/>
              <a:ext cx="9144000" cy="228600"/>
            </a:xfrm>
            <a:prstGeom prst="rect">
              <a:avLst/>
            </a:prstGeom>
          </p:spPr>
        </p:pic>
      </p:grpSp>
      <p:sp>
        <p:nvSpPr>
          <p:cNvPr id="11" name="object 11"/>
          <p:cNvSpPr txBox="1"/>
          <p:nvPr/>
        </p:nvSpPr>
        <p:spPr>
          <a:xfrm>
            <a:off x="3844767" y="4928250"/>
            <a:ext cx="1502081" cy="185307"/>
          </a:xfrm>
          <a:prstGeom prst="rect">
            <a:avLst/>
          </a:prstGeom>
        </p:spPr>
        <p:txBody>
          <a:bodyPr vert="horz" wrap="square" lIns="0" tIns="15875" rIns="0" bIns="0" rtlCol="0" anchor="t">
            <a:spAutoFit/>
          </a:bodyPr>
          <a:lstStyle/>
          <a:p>
            <a:pPr marL="12700">
              <a:spcBef>
                <a:spcPts val="125"/>
              </a:spcBef>
            </a:pPr>
            <a:r>
              <a:rPr sz="1100" b="1" spc="-125" dirty="0" smtClean="0">
                <a:solidFill>
                  <a:srgbClr val="FFFFFF"/>
                </a:solidFill>
                <a:latin typeface="Arial" pitchFamily="34" charset="0"/>
                <a:cs typeface="Arial" pitchFamily="34" charset="0"/>
              </a:rPr>
              <a:t>AI</a:t>
            </a:r>
            <a:r>
              <a:rPr lang="en-US" sz="1100" b="1" spc="-125" dirty="0" smtClean="0">
                <a:solidFill>
                  <a:srgbClr val="FFFFFF"/>
                </a:solidFill>
                <a:latin typeface="Arial" pitchFamily="34" charset="0"/>
                <a:cs typeface="Arial" pitchFamily="34" charset="0"/>
              </a:rPr>
              <a:t> </a:t>
            </a:r>
            <a:r>
              <a:rPr sz="1100" b="1" spc="-125" dirty="0" smtClean="0">
                <a:solidFill>
                  <a:srgbClr val="FFFFFF"/>
                </a:solidFill>
                <a:latin typeface="Arial" pitchFamily="34" charset="0"/>
                <a:cs typeface="Arial" pitchFamily="34" charset="0"/>
              </a:rPr>
              <a:t>&amp;</a:t>
            </a:r>
            <a:r>
              <a:rPr lang="en-US" sz="1100" b="1" spc="-125" dirty="0" smtClean="0">
                <a:solidFill>
                  <a:srgbClr val="FFFFFF"/>
                </a:solidFill>
                <a:latin typeface="Arial" pitchFamily="34" charset="0"/>
                <a:cs typeface="Arial" pitchFamily="34" charset="0"/>
              </a:rPr>
              <a:t> DS - </a:t>
            </a:r>
            <a:r>
              <a:rPr sz="1100" b="1" spc="-105" dirty="0" smtClean="0">
                <a:solidFill>
                  <a:srgbClr val="FFFFFF"/>
                </a:solidFill>
                <a:latin typeface="Arial" pitchFamily="34" charset="0"/>
                <a:cs typeface="Arial" pitchFamily="34" charset="0"/>
              </a:rPr>
              <a:t>Department</a:t>
            </a:r>
            <a:endParaRPr sz="1100" dirty="0">
              <a:latin typeface="Arial" pitchFamily="34" charset="0"/>
              <a:cs typeface="Arial" pitchFamily="34" charset="0"/>
            </a:endParaRPr>
          </a:p>
        </p:txBody>
      </p:sp>
      <p:sp>
        <p:nvSpPr>
          <p:cNvPr id="12" name="object 12"/>
          <p:cNvSpPr txBox="1"/>
          <p:nvPr/>
        </p:nvSpPr>
        <p:spPr>
          <a:xfrm>
            <a:off x="7729600" y="4932362"/>
            <a:ext cx="1158677" cy="367408"/>
          </a:xfrm>
          <a:prstGeom prst="rect">
            <a:avLst/>
          </a:prstGeom>
        </p:spPr>
        <p:txBody>
          <a:bodyPr vert="horz" wrap="square" lIns="0" tIns="15875" rIns="0" bIns="0" rtlCol="0">
            <a:spAutoFit/>
          </a:bodyPr>
          <a:lstStyle/>
          <a:p>
            <a:pPr marL="12700">
              <a:spcBef>
                <a:spcPts val="125"/>
              </a:spcBef>
            </a:pPr>
            <a:r>
              <a:rPr lang="en-US" sz="1100" b="1" spc="-140" dirty="0" smtClean="0">
                <a:solidFill>
                  <a:srgbClr val="FFFFFF"/>
                </a:solidFill>
                <a:latin typeface="Arial"/>
                <a:cs typeface="Arial"/>
              </a:rPr>
              <a:t>APCOER,</a:t>
            </a:r>
            <a:r>
              <a:rPr lang="en-US" sz="1100" b="1" spc="-35" dirty="0" smtClean="0">
                <a:solidFill>
                  <a:srgbClr val="FFFFFF"/>
                </a:solidFill>
                <a:latin typeface="Arial"/>
                <a:cs typeface="Arial"/>
              </a:rPr>
              <a:t> </a:t>
            </a:r>
            <a:r>
              <a:rPr lang="en-US" sz="1100" b="1" spc="-95" dirty="0" smtClean="0">
                <a:solidFill>
                  <a:srgbClr val="FFFFFF"/>
                </a:solidFill>
                <a:latin typeface="Arial"/>
                <a:cs typeface="Arial"/>
              </a:rPr>
              <a:t>Pune</a:t>
            </a:r>
            <a:endParaRPr lang="en-US" sz="1100" dirty="0" smtClean="0">
              <a:latin typeface="Arial"/>
              <a:cs typeface="Arial"/>
            </a:endParaRPr>
          </a:p>
          <a:p>
            <a:pPr marL="12700">
              <a:lnSpc>
                <a:spcPct val="100000"/>
              </a:lnSpc>
              <a:spcBef>
                <a:spcPts val="125"/>
              </a:spcBef>
            </a:pPr>
            <a:endParaRPr sz="1100" dirty="0">
              <a:latin typeface="Arial"/>
              <a:cs typeface="Arial"/>
            </a:endParaRPr>
          </a:p>
        </p:txBody>
      </p:sp>
      <p:grpSp>
        <p:nvGrpSpPr>
          <p:cNvPr id="15" name="object 15"/>
          <p:cNvGrpSpPr/>
          <p:nvPr/>
        </p:nvGrpSpPr>
        <p:grpSpPr>
          <a:xfrm>
            <a:off x="492696" y="738774"/>
            <a:ext cx="8234680" cy="767080"/>
            <a:chOff x="476250" y="742886"/>
            <a:chExt cx="8234680" cy="767080"/>
          </a:xfrm>
        </p:grpSpPr>
        <p:pic>
          <p:nvPicPr>
            <p:cNvPr id="16" name="object 16"/>
            <p:cNvPicPr/>
            <p:nvPr/>
          </p:nvPicPr>
          <p:blipFill>
            <a:blip r:embed="rId8" cstate="print"/>
            <a:stretch>
              <a:fillRect/>
            </a:stretch>
          </p:blipFill>
          <p:spPr>
            <a:xfrm>
              <a:off x="476250" y="742886"/>
              <a:ext cx="8234426" cy="766762"/>
            </a:xfrm>
            <a:prstGeom prst="rect">
              <a:avLst/>
            </a:prstGeom>
          </p:spPr>
        </p:pic>
        <p:pic>
          <p:nvPicPr>
            <p:cNvPr id="17" name="object 17"/>
            <p:cNvPicPr/>
            <p:nvPr/>
          </p:nvPicPr>
          <p:blipFill>
            <a:blip r:embed="rId9" cstate="print"/>
            <a:stretch>
              <a:fillRect/>
            </a:stretch>
          </p:blipFill>
          <p:spPr>
            <a:xfrm>
              <a:off x="3657600" y="752411"/>
              <a:ext cx="1862201" cy="595312"/>
            </a:xfrm>
            <a:prstGeom prst="rect">
              <a:avLst/>
            </a:prstGeom>
          </p:spPr>
        </p:pic>
        <p:pic>
          <p:nvPicPr>
            <p:cNvPr id="18" name="object 18"/>
            <p:cNvPicPr/>
            <p:nvPr/>
          </p:nvPicPr>
          <p:blipFill>
            <a:blip r:embed="rId10" cstate="print"/>
            <a:stretch>
              <a:fillRect/>
            </a:stretch>
          </p:blipFill>
          <p:spPr>
            <a:xfrm>
              <a:off x="538162" y="785875"/>
              <a:ext cx="8115363" cy="647700"/>
            </a:xfrm>
            <a:prstGeom prst="rect">
              <a:avLst/>
            </a:prstGeom>
          </p:spPr>
        </p:pic>
        <p:sp>
          <p:nvSpPr>
            <p:cNvPr id="19" name="object 19"/>
            <p:cNvSpPr/>
            <p:nvPr/>
          </p:nvSpPr>
          <p:spPr>
            <a:xfrm>
              <a:off x="538162" y="785875"/>
              <a:ext cx="8115934" cy="647700"/>
            </a:xfrm>
            <a:custGeom>
              <a:avLst/>
              <a:gdLst/>
              <a:ahLst/>
              <a:cxnLst/>
              <a:rect l="l" t="t" r="r" b="b"/>
              <a:pathLst>
                <a:path w="8115934" h="647700">
                  <a:moveTo>
                    <a:pt x="0" y="107950"/>
                  </a:moveTo>
                  <a:lnTo>
                    <a:pt x="8483" y="65901"/>
                  </a:lnTo>
                  <a:lnTo>
                    <a:pt x="31619" y="31591"/>
                  </a:lnTo>
                  <a:lnTo>
                    <a:pt x="65933" y="8473"/>
                  </a:lnTo>
                  <a:lnTo>
                    <a:pt x="107950" y="0"/>
                  </a:lnTo>
                  <a:lnTo>
                    <a:pt x="8007286" y="0"/>
                  </a:lnTo>
                  <a:lnTo>
                    <a:pt x="8049355" y="8473"/>
                  </a:lnTo>
                  <a:lnTo>
                    <a:pt x="8083708" y="31591"/>
                  </a:lnTo>
                  <a:lnTo>
                    <a:pt x="8106870" y="65901"/>
                  </a:lnTo>
                  <a:lnTo>
                    <a:pt x="8115363" y="107950"/>
                  </a:lnTo>
                  <a:lnTo>
                    <a:pt x="8115363" y="539623"/>
                  </a:lnTo>
                  <a:lnTo>
                    <a:pt x="8106870" y="581691"/>
                  </a:lnTo>
                  <a:lnTo>
                    <a:pt x="8083708" y="616045"/>
                  </a:lnTo>
                  <a:lnTo>
                    <a:pt x="8049355" y="639206"/>
                  </a:lnTo>
                  <a:lnTo>
                    <a:pt x="8007286" y="647700"/>
                  </a:lnTo>
                  <a:lnTo>
                    <a:pt x="107950" y="647700"/>
                  </a:lnTo>
                  <a:lnTo>
                    <a:pt x="65933" y="639206"/>
                  </a:lnTo>
                  <a:lnTo>
                    <a:pt x="31619" y="616045"/>
                  </a:lnTo>
                  <a:lnTo>
                    <a:pt x="8483" y="581691"/>
                  </a:lnTo>
                  <a:lnTo>
                    <a:pt x="0" y="539623"/>
                  </a:lnTo>
                  <a:lnTo>
                    <a:pt x="0" y="107950"/>
                  </a:lnTo>
                  <a:close/>
                </a:path>
              </a:pathLst>
            </a:custGeom>
            <a:ln w="9525">
              <a:solidFill>
                <a:srgbClr val="000000"/>
              </a:solidFill>
            </a:ln>
          </p:spPr>
          <p:txBody>
            <a:bodyPr wrap="square" lIns="0" tIns="0" rIns="0" bIns="0" rtlCol="0"/>
            <a:lstStyle/>
            <a:p>
              <a:endParaRPr/>
            </a:p>
          </p:txBody>
        </p:sp>
      </p:grpSp>
      <p:sp>
        <p:nvSpPr>
          <p:cNvPr id="20" name="object 20"/>
          <p:cNvSpPr txBox="1"/>
          <p:nvPr/>
        </p:nvSpPr>
        <p:spPr>
          <a:xfrm>
            <a:off x="1524012" y="837818"/>
            <a:ext cx="6042127" cy="567463"/>
          </a:xfrm>
          <a:prstGeom prst="rect">
            <a:avLst/>
          </a:prstGeom>
        </p:spPr>
        <p:txBody>
          <a:bodyPr vert="horz" wrap="square" lIns="0" tIns="13335" rIns="0" bIns="0" rtlCol="0" anchor="t">
            <a:spAutoFit/>
          </a:bodyPr>
          <a:lstStyle/>
          <a:p>
            <a:pPr marL="12700" algn="ctr">
              <a:spcBef>
                <a:spcPts val="105"/>
              </a:spcBef>
            </a:pPr>
            <a:r>
              <a:rPr lang="en-US" b="1" dirty="0" smtClean="0">
                <a:solidFill>
                  <a:srgbClr val="FF0000"/>
                </a:solidFill>
                <a:latin typeface="Times New Roman"/>
                <a:cs typeface="Times New Roman"/>
              </a:rPr>
              <a:t>AI-Driven </a:t>
            </a:r>
            <a:r>
              <a:rPr lang="en-US" b="1" dirty="0">
                <a:solidFill>
                  <a:srgbClr val="FF0000"/>
                </a:solidFill>
                <a:latin typeface="Times New Roman"/>
                <a:cs typeface="Times New Roman"/>
              </a:rPr>
              <a:t>Stock Price Prediction and </a:t>
            </a:r>
            <a:r>
              <a:rPr lang="en-US" b="1" dirty="0" smtClean="0">
                <a:solidFill>
                  <a:srgbClr val="FF0000"/>
                </a:solidFill>
                <a:latin typeface="Times New Roman"/>
                <a:cs typeface="Times New Roman"/>
              </a:rPr>
              <a:t>Real-Time </a:t>
            </a:r>
            <a:r>
              <a:rPr lang="en-US" b="1" dirty="0">
                <a:solidFill>
                  <a:srgbClr val="FF0000"/>
                </a:solidFill>
                <a:latin typeface="Times New Roman"/>
                <a:cs typeface="Times New Roman"/>
              </a:rPr>
              <a:t>News Sentiment Analysis  </a:t>
            </a:r>
            <a:endParaRPr lang="en-US" sz="1800" b="1" spc="-10" dirty="0">
              <a:solidFill>
                <a:srgbClr val="FF0000"/>
              </a:solidFill>
              <a:latin typeface="Times New Roman"/>
              <a:cs typeface="Times New Roman"/>
            </a:endParaRPr>
          </a:p>
        </p:txBody>
      </p:sp>
      <p:sp>
        <p:nvSpPr>
          <p:cNvPr id="21" name="object 21"/>
          <p:cNvSpPr txBox="1">
            <a:spLocks noGrp="1"/>
          </p:cNvSpPr>
          <p:nvPr>
            <p:ph type="body" idx="1"/>
          </p:nvPr>
        </p:nvSpPr>
        <p:spPr>
          <a:xfrm>
            <a:off x="581812" y="1637506"/>
            <a:ext cx="7559903" cy="2873159"/>
          </a:xfrm>
          <a:prstGeom prst="rect">
            <a:avLst/>
          </a:prstGeom>
        </p:spPr>
        <p:txBody>
          <a:bodyPr vert="horz" wrap="square" lIns="0" tIns="17145" rIns="0" bIns="0" rtlCol="0" anchor="t">
            <a:spAutoFit/>
          </a:bodyPr>
          <a:lstStyle/>
          <a:p>
            <a:pPr marL="871855" marR="860425" algn="ctr">
              <a:lnSpc>
                <a:spcPct val="151600"/>
              </a:lnSpc>
              <a:spcBef>
                <a:spcPts val="135"/>
              </a:spcBef>
            </a:pPr>
            <a:r>
              <a:rPr lang="en-US" sz="1600" dirty="0" smtClean="0"/>
              <a:t> </a:t>
            </a:r>
            <a:r>
              <a:rPr sz="1600" dirty="0" smtClean="0"/>
              <a:t>Under</a:t>
            </a:r>
            <a:r>
              <a:rPr sz="1600" spc="75" dirty="0" smtClean="0"/>
              <a:t> </a:t>
            </a:r>
            <a:r>
              <a:rPr sz="1600" dirty="0"/>
              <a:t>The</a:t>
            </a:r>
            <a:r>
              <a:rPr sz="1600" spc="170" dirty="0"/>
              <a:t> </a:t>
            </a:r>
            <a:r>
              <a:rPr sz="1600" dirty="0"/>
              <a:t>Guidance</a:t>
            </a:r>
            <a:r>
              <a:rPr sz="1600" spc="75" dirty="0"/>
              <a:t> </a:t>
            </a:r>
            <a:r>
              <a:rPr sz="1600" spc="-25" dirty="0"/>
              <a:t>of </a:t>
            </a:r>
            <a:r>
              <a:rPr lang="en-US" sz="1600" spc="-25" dirty="0"/>
              <a:t>:</a:t>
            </a:r>
            <a:endParaRPr lang="en-US" sz="1600" dirty="0"/>
          </a:p>
          <a:p>
            <a:pPr marL="871855" marR="860425" algn="ctr">
              <a:lnSpc>
                <a:spcPct val="151600"/>
              </a:lnSpc>
              <a:spcBef>
                <a:spcPts val="135"/>
              </a:spcBef>
            </a:pPr>
            <a:r>
              <a:rPr sz="1600" b="0" dirty="0"/>
              <a:t>Prof.</a:t>
            </a:r>
            <a:r>
              <a:rPr sz="1600" b="0" spc="120" dirty="0"/>
              <a:t> </a:t>
            </a:r>
            <a:r>
              <a:rPr sz="1600" b="0" dirty="0" err="1"/>
              <a:t>Mangal</a:t>
            </a:r>
            <a:r>
              <a:rPr sz="1600" b="0" spc="70" dirty="0"/>
              <a:t> </a:t>
            </a:r>
            <a:r>
              <a:rPr lang="en-US" sz="1600" b="0" spc="-20" dirty="0" err="1"/>
              <a:t>Wagh</a:t>
            </a:r>
            <a:endParaRPr lang="en-US" sz="1600" dirty="0"/>
          </a:p>
          <a:p>
            <a:pPr marL="871855" marR="860425" algn="ctr">
              <a:lnSpc>
                <a:spcPct val="151600"/>
              </a:lnSpc>
              <a:spcBef>
                <a:spcPts val="135"/>
              </a:spcBef>
            </a:pPr>
            <a:r>
              <a:rPr lang="en-US" sz="1600" dirty="0"/>
              <a:t>Presented</a:t>
            </a:r>
            <a:r>
              <a:rPr sz="1600" spc="-5" dirty="0"/>
              <a:t> </a:t>
            </a:r>
            <a:r>
              <a:rPr sz="1600" spc="-25" dirty="0"/>
              <a:t>by:</a:t>
            </a:r>
            <a:endParaRPr lang="en-US" sz="1400" dirty="0"/>
          </a:p>
          <a:p>
            <a:pPr marL="871855" marR="860425" algn="ctr">
              <a:lnSpc>
                <a:spcPct val="151600"/>
              </a:lnSpc>
              <a:spcBef>
                <a:spcPts val="135"/>
              </a:spcBef>
            </a:pPr>
            <a:r>
              <a:rPr lang="en-US" sz="1400" b="0" dirty="0" smtClean="0"/>
              <a:t>7403 - </a:t>
            </a:r>
            <a:r>
              <a:rPr lang="en-US" sz="1400" b="0" dirty="0" err="1"/>
              <a:t>Simrah</a:t>
            </a:r>
            <a:r>
              <a:rPr sz="1400" b="0" spc="-40" dirty="0">
                <a:latin typeface="Times New Roman"/>
                <a:cs typeface="Times New Roman"/>
              </a:rPr>
              <a:t> </a:t>
            </a:r>
            <a:r>
              <a:rPr sz="1400" b="0" spc="-10" dirty="0" err="1">
                <a:latin typeface="Times New Roman"/>
                <a:cs typeface="Times New Roman"/>
              </a:rPr>
              <a:t>Awati</a:t>
            </a:r>
            <a:r>
              <a:rPr sz="1400" b="0" spc="-10" dirty="0">
                <a:latin typeface="Times New Roman"/>
                <a:cs typeface="Times New Roman"/>
              </a:rPr>
              <a:t> </a:t>
            </a:r>
            <a:endParaRPr lang="en-US" sz="1400" dirty="0"/>
          </a:p>
          <a:p>
            <a:pPr marL="871855" marR="860425" algn="ctr">
              <a:lnSpc>
                <a:spcPct val="151600"/>
              </a:lnSpc>
              <a:spcBef>
                <a:spcPts val="135"/>
              </a:spcBef>
            </a:pPr>
            <a:r>
              <a:rPr lang="en-US" sz="1400" b="0" dirty="0"/>
              <a:t>      7405 - </a:t>
            </a:r>
            <a:r>
              <a:rPr lang="en-US" sz="1400" b="0" dirty="0" err="1"/>
              <a:t>Aashish</a:t>
            </a:r>
            <a:r>
              <a:rPr lang="en-US" sz="1400" b="0" dirty="0"/>
              <a:t> </a:t>
            </a:r>
            <a:r>
              <a:rPr lang="en-US" sz="1400" b="0" dirty="0" err="1"/>
              <a:t>Bagmar</a:t>
            </a:r>
            <a:r>
              <a:rPr lang="en-US" sz="1400" b="0" dirty="0"/>
              <a:t> </a:t>
            </a:r>
            <a:endParaRPr lang="en-US" sz="1400" b="0" spc="-10" dirty="0"/>
          </a:p>
          <a:p>
            <a:pPr marL="871855" marR="860425" algn="ctr">
              <a:lnSpc>
                <a:spcPct val="151600"/>
              </a:lnSpc>
              <a:spcBef>
                <a:spcPts val="135"/>
              </a:spcBef>
            </a:pPr>
            <a:r>
              <a:rPr lang="en-US" sz="1400" b="0" dirty="0"/>
              <a:t>7413 - </a:t>
            </a:r>
            <a:r>
              <a:rPr lang="en-US" sz="1400" b="0" dirty="0" err="1"/>
              <a:t>Aarya</a:t>
            </a:r>
            <a:r>
              <a:rPr lang="en-US" sz="1400" b="0" dirty="0"/>
              <a:t> </a:t>
            </a:r>
            <a:r>
              <a:rPr lang="en-US" sz="1400" b="0" dirty="0" err="1"/>
              <a:t>Jadhav</a:t>
            </a:r>
            <a:endParaRPr lang="en-US" sz="1400" b="0" spc="-10" dirty="0"/>
          </a:p>
          <a:p>
            <a:pPr marL="871855" marR="860425" algn="ctr">
              <a:lnSpc>
                <a:spcPct val="151600"/>
              </a:lnSpc>
              <a:spcBef>
                <a:spcPts val="135"/>
              </a:spcBef>
            </a:pPr>
            <a:r>
              <a:rPr lang="en-US" sz="1400" b="0" dirty="0"/>
              <a:t>         7431 - </a:t>
            </a:r>
            <a:r>
              <a:rPr lang="en-US" sz="1400" b="0" dirty="0" err="1"/>
              <a:t>Eshwari</a:t>
            </a:r>
            <a:r>
              <a:rPr lang="en-US" sz="1400" b="0" dirty="0"/>
              <a:t> </a:t>
            </a:r>
            <a:r>
              <a:rPr lang="en-US" sz="1400" b="0" dirty="0" err="1"/>
              <a:t>Bhandkar</a:t>
            </a:r>
            <a:r>
              <a:rPr lang="en-US" sz="1400" b="0" dirty="0"/>
              <a:t> </a:t>
            </a:r>
            <a:endParaRPr sz="1400" b="0" spc="-10" dirty="0">
              <a:latin typeface="Times New Roman"/>
              <a:cs typeface="Times New Roman"/>
            </a:endParaRPr>
          </a:p>
          <a:p>
            <a:pPr marL="13335" algn="ctr">
              <a:spcBef>
                <a:spcPts val="315"/>
              </a:spcBef>
            </a:pPr>
            <a:r>
              <a:rPr lang="en-US" dirty="0"/>
              <a:t>                </a:t>
            </a:r>
            <a:r>
              <a:rPr sz="2000" dirty="0" smtClean="0"/>
              <a:t>B.E</a:t>
            </a:r>
            <a:r>
              <a:rPr sz="2000" spc="55" dirty="0" smtClean="0"/>
              <a:t> </a:t>
            </a:r>
            <a:r>
              <a:rPr sz="2000" dirty="0"/>
              <a:t>Artificial</a:t>
            </a:r>
            <a:r>
              <a:rPr sz="2000" spc="170" dirty="0"/>
              <a:t> </a:t>
            </a:r>
            <a:r>
              <a:rPr sz="2000" dirty="0"/>
              <a:t>Intelligence</a:t>
            </a:r>
            <a:r>
              <a:rPr sz="2000" spc="125" dirty="0"/>
              <a:t> </a:t>
            </a:r>
            <a:r>
              <a:rPr sz="2000" dirty="0"/>
              <a:t>and</a:t>
            </a:r>
            <a:r>
              <a:rPr sz="2000" spc="185" dirty="0"/>
              <a:t> </a:t>
            </a:r>
            <a:r>
              <a:rPr sz="2000" dirty="0"/>
              <a:t>Data</a:t>
            </a:r>
            <a:r>
              <a:rPr sz="2000" spc="110" dirty="0"/>
              <a:t> </a:t>
            </a:r>
            <a:r>
              <a:rPr sz="2000" spc="-10" dirty="0"/>
              <a:t>Science</a:t>
            </a:r>
          </a:p>
        </p:txBody>
      </p:sp>
      <p:grpSp>
        <p:nvGrpSpPr>
          <p:cNvPr id="22" name="object 22"/>
          <p:cNvGrpSpPr/>
          <p:nvPr/>
        </p:nvGrpSpPr>
        <p:grpSpPr>
          <a:xfrm>
            <a:off x="0" y="0"/>
            <a:ext cx="9144000" cy="647700"/>
            <a:chOff x="0" y="0"/>
            <a:chExt cx="9144000" cy="647700"/>
          </a:xfrm>
        </p:grpSpPr>
        <p:pic>
          <p:nvPicPr>
            <p:cNvPr id="23" name="object 23"/>
            <p:cNvPicPr/>
            <p:nvPr/>
          </p:nvPicPr>
          <p:blipFill>
            <a:blip r:embed="rId11" cstate="print"/>
            <a:stretch>
              <a:fillRect/>
            </a:stretch>
          </p:blipFill>
          <p:spPr>
            <a:xfrm>
              <a:off x="0" y="0"/>
              <a:ext cx="771524" cy="628650"/>
            </a:xfrm>
            <a:prstGeom prst="rect">
              <a:avLst/>
            </a:prstGeom>
          </p:spPr>
        </p:pic>
        <p:pic>
          <p:nvPicPr>
            <p:cNvPr id="24" name="object 24"/>
            <p:cNvPicPr/>
            <p:nvPr/>
          </p:nvPicPr>
          <p:blipFill>
            <a:blip r:embed="rId12" cstate="print"/>
            <a:stretch>
              <a:fillRect/>
            </a:stretch>
          </p:blipFill>
          <p:spPr>
            <a:xfrm>
              <a:off x="8372475" y="0"/>
              <a:ext cx="771525" cy="647700"/>
            </a:xfrm>
            <a:prstGeom prst="rect">
              <a:avLst/>
            </a:prstGeom>
          </p:spPr>
        </p:pic>
      </p:grpSp>
      <p:sp>
        <p:nvSpPr>
          <p:cNvPr id="25" name="object 25"/>
          <p:cNvSpPr txBox="1"/>
          <p:nvPr/>
        </p:nvSpPr>
        <p:spPr>
          <a:xfrm>
            <a:off x="4545076" y="4799329"/>
            <a:ext cx="64135" cy="208915"/>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878787"/>
                </a:solidFill>
                <a:latin typeface="Calibri"/>
                <a:cs typeface="Calibri"/>
              </a:rPr>
              <a:t>.</a:t>
            </a:r>
            <a:endParaRPr sz="1200">
              <a:latin typeface="Calibri"/>
              <a:cs typeface="Calibri"/>
            </a:endParaRPr>
          </a:p>
        </p:txBody>
      </p:sp>
      <p:sp>
        <p:nvSpPr>
          <p:cNvPr id="13" name="Footer Placeholder 12">
            <a:extLst>
              <a:ext uri="{FF2B5EF4-FFF2-40B4-BE49-F238E27FC236}">
                <a16:creationId xmlns="" xmlns:a16="http://schemas.microsoft.com/office/drawing/2014/main" id="{2832721D-C935-BEC9-6E11-E9D3E91AA645}"/>
              </a:ext>
            </a:extLst>
          </p:cNvPr>
          <p:cNvSpPr>
            <a:spLocks noGrp="1"/>
          </p:cNvSpPr>
          <p:nvPr>
            <p:ph type="ftr" sz="quarter" idx="5"/>
          </p:nvPr>
        </p:nvSpPr>
        <p:spPr>
          <a:xfrm>
            <a:off x="293433" y="4928250"/>
            <a:ext cx="630838" cy="169277"/>
          </a:xfrm>
        </p:spPr>
        <p:txBody>
          <a:bodyPr wrap="square" lIns="0" tIns="0" rIns="0" bIns="0" anchor="t">
            <a:spAutoFit/>
          </a:bodyPr>
          <a:lstStyle/>
          <a:p>
            <a:r>
              <a:rPr lang="en-US" spc="-95" dirty="0" smtClean="0"/>
              <a:t>30  </a:t>
            </a:r>
            <a:r>
              <a:rPr lang="en-US" spc="-95" dirty="0" smtClean="0"/>
              <a:t>/ 06 /  </a:t>
            </a:r>
            <a:r>
              <a:rPr lang="en-US" spc="-95" dirty="0"/>
              <a:t>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938530"/>
            <a:chOff x="0" y="0"/>
            <a:chExt cx="9144000" cy="938530"/>
          </a:xfrm>
        </p:grpSpPr>
        <p:pic>
          <p:nvPicPr>
            <p:cNvPr id="3" name="object 3"/>
            <p:cNvPicPr/>
            <p:nvPr/>
          </p:nvPicPr>
          <p:blipFill>
            <a:blip r:embed="rId2" cstate="print"/>
            <a:stretch>
              <a:fillRect/>
            </a:stretch>
          </p:blipFill>
          <p:spPr>
            <a:xfrm>
              <a:off x="0" y="0"/>
              <a:ext cx="9144000" cy="681356"/>
            </a:xfrm>
            <a:prstGeom prst="rect">
              <a:avLst/>
            </a:prstGeom>
          </p:spPr>
        </p:pic>
        <p:pic>
          <p:nvPicPr>
            <p:cNvPr id="4" name="object 4"/>
            <p:cNvPicPr/>
            <p:nvPr/>
          </p:nvPicPr>
          <p:blipFill>
            <a:blip r:embed="rId3" cstate="print"/>
            <a:stretch>
              <a:fillRect/>
            </a:stretch>
          </p:blipFill>
          <p:spPr>
            <a:xfrm>
              <a:off x="2809875" y="0"/>
              <a:ext cx="4719701" cy="938149"/>
            </a:xfrm>
            <a:prstGeom prst="rect">
              <a:avLst/>
            </a:prstGeom>
          </p:spPr>
        </p:pic>
        <p:pic>
          <p:nvPicPr>
            <p:cNvPr id="5" name="object 5"/>
            <p:cNvPicPr/>
            <p:nvPr/>
          </p:nvPicPr>
          <p:blipFill>
            <a:blip r:embed="rId4" cstate="print"/>
            <a:stretch>
              <a:fillRect/>
            </a:stretch>
          </p:blipFill>
          <p:spPr>
            <a:xfrm>
              <a:off x="0" y="0"/>
              <a:ext cx="9144000" cy="628650"/>
            </a:xfrm>
            <a:prstGeom prst="rect">
              <a:avLst/>
            </a:prstGeom>
          </p:spPr>
        </p:pic>
      </p:grpSp>
      <p:sp>
        <p:nvSpPr>
          <p:cNvPr id="6" name="object 6"/>
          <p:cNvSpPr txBox="1">
            <a:spLocks noGrp="1"/>
          </p:cNvSpPr>
          <p:nvPr>
            <p:ph type="title"/>
          </p:nvPr>
        </p:nvSpPr>
        <p:spPr>
          <a:xfrm>
            <a:off x="1405063" y="95"/>
            <a:ext cx="5289549" cy="575310"/>
          </a:xfrm>
          <a:prstGeom prst="rect">
            <a:avLst/>
          </a:prstGeom>
        </p:spPr>
        <p:txBody>
          <a:bodyPr vert="horz" wrap="square" lIns="0" tIns="13335" rIns="0" bIns="0" rtlCol="0">
            <a:spAutoFit/>
          </a:bodyPr>
          <a:lstStyle/>
          <a:p>
            <a:pPr marL="1221105">
              <a:lnSpc>
                <a:spcPct val="100000"/>
              </a:lnSpc>
              <a:spcBef>
                <a:spcPts val="105"/>
              </a:spcBef>
            </a:pPr>
            <a:r>
              <a:rPr sz="3600"/>
              <a:t>Presentation</a:t>
            </a:r>
            <a:r>
              <a:rPr sz="3600" spc="-20"/>
              <a:t> </a:t>
            </a:r>
            <a:r>
              <a:rPr sz="3600" spc="-10"/>
              <a:t>Outline</a:t>
            </a:r>
            <a:endParaRPr sz="3600"/>
          </a:p>
        </p:txBody>
      </p:sp>
      <p:grpSp>
        <p:nvGrpSpPr>
          <p:cNvPr id="7" name="object 7"/>
          <p:cNvGrpSpPr/>
          <p:nvPr/>
        </p:nvGrpSpPr>
        <p:grpSpPr>
          <a:xfrm>
            <a:off x="408837" y="4838700"/>
            <a:ext cx="8735695" cy="304800"/>
            <a:chOff x="408837" y="4838700"/>
            <a:chExt cx="8735695" cy="304800"/>
          </a:xfrm>
        </p:grpSpPr>
        <p:pic>
          <p:nvPicPr>
            <p:cNvPr id="8" name="object 8"/>
            <p:cNvPicPr/>
            <p:nvPr/>
          </p:nvPicPr>
          <p:blipFill>
            <a:blip r:embed="rId5" cstate="print"/>
            <a:stretch>
              <a:fillRect/>
            </a:stretch>
          </p:blipFill>
          <p:spPr>
            <a:xfrm>
              <a:off x="408837" y="4953000"/>
              <a:ext cx="558629" cy="171450"/>
            </a:xfrm>
            <a:prstGeom prst="rect">
              <a:avLst/>
            </a:prstGeom>
          </p:spPr>
        </p:pic>
        <p:pic>
          <p:nvPicPr>
            <p:cNvPr id="9" name="object 9"/>
            <p:cNvPicPr/>
            <p:nvPr/>
          </p:nvPicPr>
          <p:blipFill>
            <a:blip r:embed="rId6" cstate="print"/>
            <a:stretch>
              <a:fillRect/>
            </a:stretch>
          </p:blipFill>
          <p:spPr>
            <a:xfrm>
              <a:off x="8658225" y="4905375"/>
              <a:ext cx="485775" cy="238125"/>
            </a:xfrm>
            <a:prstGeom prst="rect">
              <a:avLst/>
            </a:prstGeom>
          </p:spPr>
        </p:pic>
        <p:pic>
          <p:nvPicPr>
            <p:cNvPr id="10" name="object 10"/>
            <p:cNvPicPr/>
            <p:nvPr/>
          </p:nvPicPr>
          <p:blipFill>
            <a:blip r:embed="rId7" cstate="print"/>
            <a:stretch>
              <a:fillRect/>
            </a:stretch>
          </p:blipFill>
          <p:spPr>
            <a:xfrm>
              <a:off x="8734425" y="4838700"/>
              <a:ext cx="357187" cy="304800"/>
            </a:xfrm>
            <a:prstGeom prst="rect">
              <a:avLst/>
            </a:prstGeom>
          </p:spPr>
        </p:pic>
      </p:grpSp>
      <p:sp>
        <p:nvSpPr>
          <p:cNvPr id="11" name="object 11"/>
          <p:cNvSpPr txBox="1"/>
          <p:nvPr/>
        </p:nvSpPr>
        <p:spPr>
          <a:xfrm>
            <a:off x="8877045" y="4914265"/>
            <a:ext cx="95250" cy="208915"/>
          </a:xfrm>
          <a:prstGeom prst="rect">
            <a:avLst/>
          </a:prstGeom>
        </p:spPr>
        <p:txBody>
          <a:bodyPr vert="horz" wrap="square" lIns="0" tIns="12700" rIns="0" bIns="0" rtlCol="0">
            <a:spAutoFit/>
          </a:bodyPr>
          <a:lstStyle/>
          <a:p>
            <a:pPr marL="12700">
              <a:lnSpc>
                <a:spcPct val="100000"/>
              </a:lnSpc>
              <a:spcBef>
                <a:spcPts val="100"/>
              </a:spcBef>
            </a:pPr>
            <a:r>
              <a:rPr sz="1200" b="1" spc="-70">
                <a:solidFill>
                  <a:srgbClr val="FFFFFF"/>
                </a:solidFill>
                <a:latin typeface="Arial"/>
                <a:cs typeface="Arial"/>
              </a:rPr>
              <a:t>2</a:t>
            </a:r>
            <a:endParaRPr sz="1200">
              <a:latin typeface="Arial"/>
              <a:cs typeface="Arial"/>
            </a:endParaRPr>
          </a:p>
        </p:txBody>
      </p:sp>
      <p:sp>
        <p:nvSpPr>
          <p:cNvPr id="12" name="object 12"/>
          <p:cNvSpPr txBox="1"/>
          <p:nvPr/>
        </p:nvSpPr>
        <p:spPr>
          <a:xfrm>
            <a:off x="655981" y="640475"/>
            <a:ext cx="3559558" cy="2620589"/>
          </a:xfrm>
          <a:prstGeom prst="rect">
            <a:avLst/>
          </a:prstGeom>
        </p:spPr>
        <p:txBody>
          <a:bodyPr vert="horz" wrap="square" lIns="0" tIns="34925" rIns="0" bIns="0" rtlCol="0" anchor="t">
            <a:spAutoFit/>
          </a:bodyPr>
          <a:lstStyle/>
          <a:p>
            <a:pPr marL="342900" indent="-342900" algn="l">
              <a:buAutoNum type="arabicPeriod"/>
              <a:tabLst>
                <a:tab pos="387350" algn="l"/>
              </a:tabLst>
            </a:pPr>
            <a:r>
              <a:rPr lang="en-US" sz="1400" dirty="0">
                <a:latin typeface="Times New Roman"/>
                <a:cs typeface="Times New Roman"/>
              </a:rPr>
              <a:t>Introduction</a:t>
            </a:r>
            <a:endParaRPr lang="en-US" dirty="0">
              <a:latin typeface="Times New Roman"/>
              <a:cs typeface="Times New Roman"/>
            </a:endParaRPr>
          </a:p>
          <a:p>
            <a:pPr marL="342900" indent="-342900" algn="l">
              <a:buAutoNum type="arabicPeriod"/>
              <a:tabLst>
                <a:tab pos="387350" algn="l"/>
              </a:tabLst>
            </a:pPr>
            <a:r>
              <a:rPr lang="en-US" sz="1400" dirty="0">
                <a:latin typeface="Times New Roman"/>
                <a:cs typeface="Times New Roman"/>
              </a:rPr>
              <a:t>Problem </a:t>
            </a:r>
            <a:r>
              <a:rPr lang="en-US" sz="1400" dirty="0" smtClean="0">
                <a:latin typeface="Times New Roman"/>
                <a:cs typeface="Times New Roman"/>
              </a:rPr>
              <a:t>Statement</a:t>
            </a:r>
          </a:p>
          <a:p>
            <a:pPr marL="342900" indent="-342900" algn="l">
              <a:buAutoNum type="arabicPeriod"/>
              <a:tabLst>
                <a:tab pos="387350" algn="l"/>
              </a:tabLst>
            </a:pPr>
            <a:r>
              <a:rPr lang="en-US" sz="1400" dirty="0" smtClean="0">
                <a:latin typeface="Times New Roman"/>
                <a:cs typeface="Times New Roman"/>
              </a:rPr>
              <a:t>Motivation</a:t>
            </a:r>
            <a:endParaRPr lang="en-US" dirty="0">
              <a:latin typeface="Times New Roman"/>
              <a:cs typeface="Times New Roman"/>
            </a:endParaRPr>
          </a:p>
          <a:p>
            <a:pPr marL="342900" indent="-342900" algn="l">
              <a:buAutoNum type="arabicPeriod"/>
              <a:tabLst>
                <a:tab pos="387350" algn="l"/>
              </a:tabLst>
            </a:pPr>
            <a:r>
              <a:rPr lang="en-US" sz="1400" dirty="0" smtClean="0">
                <a:latin typeface="Times New Roman"/>
                <a:cs typeface="Times New Roman"/>
              </a:rPr>
              <a:t>Research Objectives</a:t>
            </a:r>
          </a:p>
          <a:p>
            <a:pPr marL="342900" indent="-342900" algn="l">
              <a:buAutoNum type="arabicPeriod"/>
              <a:tabLst>
                <a:tab pos="387350" algn="l"/>
              </a:tabLst>
            </a:pPr>
            <a:r>
              <a:rPr lang="en-US" sz="1400" dirty="0" smtClean="0">
                <a:latin typeface="Times New Roman"/>
                <a:cs typeface="Times New Roman"/>
              </a:rPr>
              <a:t>Research </a:t>
            </a:r>
            <a:endParaRPr lang="en-US" dirty="0">
              <a:latin typeface="Times New Roman"/>
              <a:cs typeface="Times New Roman"/>
            </a:endParaRPr>
          </a:p>
          <a:p>
            <a:pPr marL="342900" indent="-342900" algn="l">
              <a:buAutoNum type="arabicPeriod"/>
              <a:tabLst>
                <a:tab pos="387350" algn="l"/>
              </a:tabLst>
            </a:pPr>
            <a:r>
              <a:rPr lang="en-US" sz="1400" dirty="0" smtClean="0">
                <a:latin typeface="Times New Roman"/>
                <a:cs typeface="Times New Roman"/>
              </a:rPr>
              <a:t>Existing Systems</a:t>
            </a:r>
          </a:p>
          <a:p>
            <a:pPr marL="342900" indent="-342900" algn="l">
              <a:buAutoNum type="arabicPeriod"/>
              <a:tabLst>
                <a:tab pos="387350" algn="l"/>
              </a:tabLst>
            </a:pPr>
            <a:r>
              <a:rPr lang="en-US" sz="1400" dirty="0" smtClean="0">
                <a:latin typeface="Times New Roman"/>
                <a:cs typeface="Times New Roman"/>
              </a:rPr>
              <a:t>Literature Survey</a:t>
            </a:r>
            <a:endParaRPr lang="en-US" sz="1400" dirty="0">
              <a:latin typeface="Times New Roman"/>
              <a:cs typeface="Times New Roman"/>
            </a:endParaRPr>
          </a:p>
          <a:p>
            <a:pPr marL="342900" indent="-342900" algn="l">
              <a:buAutoNum type="arabicPeriod"/>
              <a:tabLst>
                <a:tab pos="387350" algn="l"/>
              </a:tabLst>
            </a:pPr>
            <a:r>
              <a:rPr lang="en-US" sz="1400" dirty="0">
                <a:latin typeface="Times New Roman"/>
                <a:cs typeface="Times New Roman"/>
              </a:rPr>
              <a:t>Proposed System</a:t>
            </a:r>
            <a:endParaRPr lang="en-US" dirty="0">
              <a:latin typeface="Times New Roman"/>
              <a:cs typeface="Times New Roman"/>
            </a:endParaRPr>
          </a:p>
          <a:p>
            <a:pPr marL="342900" indent="-342900" algn="l">
              <a:buAutoNum type="arabicPeriod"/>
              <a:tabLst>
                <a:tab pos="387350" algn="l"/>
              </a:tabLst>
            </a:pPr>
            <a:r>
              <a:rPr lang="en-US" sz="1400" dirty="0">
                <a:latin typeface="Times New Roman"/>
                <a:cs typeface="Times New Roman"/>
              </a:rPr>
              <a:t>System Architecture / Modular </a:t>
            </a:r>
            <a:r>
              <a:rPr lang="en-US" sz="1400" dirty="0" smtClean="0">
                <a:latin typeface="Times New Roman"/>
                <a:cs typeface="Times New Roman"/>
              </a:rPr>
              <a:t>Diagram</a:t>
            </a:r>
            <a:endParaRPr lang="en-US" dirty="0" smtClean="0">
              <a:latin typeface="Times New Roman"/>
              <a:cs typeface="Times New Roman"/>
            </a:endParaRPr>
          </a:p>
          <a:p>
            <a:pPr marL="342900" indent="-342900" algn="l">
              <a:buAutoNum type="arabicPeriod"/>
              <a:tabLst>
                <a:tab pos="387350" algn="l"/>
              </a:tabLst>
            </a:pPr>
            <a:r>
              <a:rPr lang="en-US" sz="1400" dirty="0" smtClean="0">
                <a:latin typeface="Times New Roman"/>
                <a:cs typeface="Times New Roman"/>
              </a:rPr>
              <a:t>Research </a:t>
            </a:r>
            <a:r>
              <a:rPr lang="en-US" sz="1400" dirty="0">
                <a:latin typeface="Times New Roman"/>
                <a:cs typeface="Times New Roman"/>
              </a:rPr>
              <a:t>Methodology</a:t>
            </a:r>
            <a:endParaRPr lang="en-US" dirty="0">
              <a:latin typeface="Times New Roman"/>
              <a:cs typeface="Times New Roman"/>
            </a:endParaRPr>
          </a:p>
          <a:p>
            <a:pPr marL="342900" indent="-342900" algn="l">
              <a:buAutoNum type="arabicPeriod"/>
              <a:tabLst>
                <a:tab pos="387350" algn="l"/>
              </a:tabLst>
            </a:pPr>
            <a:r>
              <a:rPr lang="en-US" sz="1400" dirty="0" smtClean="0">
                <a:latin typeface="Times New Roman"/>
                <a:cs typeface="Times New Roman"/>
              </a:rPr>
              <a:t>Algorithm</a:t>
            </a:r>
          </a:p>
          <a:p>
            <a:pPr marL="342900" indent="-342900" algn="l">
              <a:buAutoNum type="arabicPeriod"/>
              <a:tabLst>
                <a:tab pos="387350" algn="l"/>
              </a:tabLst>
            </a:pPr>
            <a:r>
              <a:rPr lang="en-US" sz="1400" dirty="0" smtClean="0">
                <a:latin typeface="Times New Roman"/>
                <a:cs typeface="Times New Roman"/>
              </a:rPr>
              <a:t>Mathematical Model</a:t>
            </a:r>
            <a:endParaRPr lang="en-US" dirty="0">
              <a:latin typeface="Times New Roman"/>
              <a:cs typeface="Times New Roman"/>
            </a:endParaRPr>
          </a:p>
        </p:txBody>
      </p:sp>
      <p:grpSp>
        <p:nvGrpSpPr>
          <p:cNvPr id="13" name="object 13"/>
          <p:cNvGrpSpPr/>
          <p:nvPr/>
        </p:nvGrpSpPr>
        <p:grpSpPr>
          <a:xfrm>
            <a:off x="0" y="4867275"/>
            <a:ext cx="9144000" cy="276225"/>
            <a:chOff x="0" y="4867275"/>
            <a:chExt cx="9144000" cy="276225"/>
          </a:xfrm>
        </p:grpSpPr>
        <p:pic>
          <p:nvPicPr>
            <p:cNvPr id="14" name="object 14"/>
            <p:cNvPicPr/>
            <p:nvPr/>
          </p:nvPicPr>
          <p:blipFill>
            <a:blip r:embed="rId8" cstate="print"/>
            <a:stretch>
              <a:fillRect/>
            </a:stretch>
          </p:blipFill>
          <p:spPr>
            <a:xfrm>
              <a:off x="0" y="4876800"/>
              <a:ext cx="9144000" cy="266700"/>
            </a:xfrm>
            <a:prstGeom prst="rect">
              <a:avLst/>
            </a:prstGeom>
          </p:spPr>
        </p:pic>
        <p:pic>
          <p:nvPicPr>
            <p:cNvPr id="15" name="object 15"/>
            <p:cNvPicPr/>
            <p:nvPr/>
          </p:nvPicPr>
          <p:blipFill>
            <a:blip r:embed="rId9" cstate="print"/>
            <a:stretch>
              <a:fillRect/>
            </a:stretch>
          </p:blipFill>
          <p:spPr>
            <a:xfrm>
              <a:off x="3914775" y="4867275"/>
              <a:ext cx="1309624" cy="276225"/>
            </a:xfrm>
            <a:prstGeom prst="rect">
              <a:avLst/>
            </a:prstGeom>
          </p:spPr>
        </p:pic>
        <p:pic>
          <p:nvPicPr>
            <p:cNvPr id="16" name="object 16"/>
            <p:cNvPicPr/>
            <p:nvPr/>
          </p:nvPicPr>
          <p:blipFill>
            <a:blip r:embed="rId10" cstate="print"/>
            <a:stretch>
              <a:fillRect/>
            </a:stretch>
          </p:blipFill>
          <p:spPr>
            <a:xfrm>
              <a:off x="0" y="4914900"/>
              <a:ext cx="9144000" cy="228600"/>
            </a:xfrm>
            <a:prstGeom prst="rect">
              <a:avLst/>
            </a:prstGeom>
          </p:spPr>
        </p:pic>
      </p:grpSp>
      <p:sp>
        <p:nvSpPr>
          <p:cNvPr id="17" name="object 17"/>
          <p:cNvSpPr txBox="1"/>
          <p:nvPr/>
        </p:nvSpPr>
        <p:spPr>
          <a:xfrm>
            <a:off x="3816376" y="4936546"/>
            <a:ext cx="1408023" cy="185307"/>
          </a:xfrm>
          <a:prstGeom prst="rect">
            <a:avLst/>
          </a:prstGeom>
        </p:spPr>
        <p:txBody>
          <a:bodyPr vert="horz" wrap="square" lIns="0" tIns="15875" rIns="0" bIns="0" rtlCol="0" anchor="t">
            <a:spAutoFit/>
          </a:bodyPr>
          <a:lstStyle/>
          <a:p>
            <a:pPr marL="12700">
              <a:lnSpc>
                <a:spcPct val="100000"/>
              </a:lnSpc>
              <a:spcBef>
                <a:spcPts val="125"/>
              </a:spcBef>
            </a:pPr>
            <a:r>
              <a:rPr lang="en-US" sz="1100" b="1" baseline="0" dirty="0" smtClean="0">
                <a:solidFill>
                  <a:srgbClr val="FFFFFF"/>
                </a:solidFill>
                <a:latin typeface="Arial" pitchFamily="34" charset="0"/>
                <a:cs typeface="Arial" pitchFamily="34" charset="0"/>
              </a:rPr>
              <a:t>AI&amp;DS</a:t>
            </a:r>
            <a:r>
              <a:rPr lang="en-US" sz="1100" b="1" dirty="0" smtClean="0">
                <a:solidFill>
                  <a:srgbClr val="FFFFFF"/>
                </a:solidFill>
                <a:latin typeface="Arial" pitchFamily="34" charset="0"/>
                <a:cs typeface="Arial" pitchFamily="34" charset="0"/>
              </a:rPr>
              <a:t>-</a:t>
            </a:r>
            <a:r>
              <a:rPr lang="en-US" sz="1100" b="1" baseline="0" dirty="0" smtClean="0">
                <a:solidFill>
                  <a:srgbClr val="FFFFFF"/>
                </a:solidFill>
                <a:latin typeface="Arial" pitchFamily="34" charset="0"/>
                <a:cs typeface="Arial" pitchFamily="34" charset="0"/>
              </a:rPr>
              <a:t>Department</a:t>
            </a:r>
            <a:r>
              <a:rPr lang="en-US" sz="1100" dirty="0">
                <a:latin typeface="Arial" pitchFamily="34" charset="0"/>
                <a:ea typeface="Times New Roman"/>
                <a:cs typeface="Arial" pitchFamily="34" charset="0"/>
              </a:rPr>
              <a:t>​</a:t>
            </a:r>
            <a:endParaRPr sz="1100" dirty="0">
              <a:latin typeface="Arial" pitchFamily="34" charset="0"/>
              <a:cs typeface="Arial" pitchFamily="34" charset="0"/>
            </a:endParaRPr>
          </a:p>
        </p:txBody>
      </p:sp>
      <p:sp>
        <p:nvSpPr>
          <p:cNvPr id="18" name="object 18"/>
          <p:cNvSpPr txBox="1"/>
          <p:nvPr/>
        </p:nvSpPr>
        <p:spPr>
          <a:xfrm>
            <a:off x="7766939" y="4940142"/>
            <a:ext cx="1205356" cy="379591"/>
          </a:xfrm>
          <a:prstGeom prst="rect">
            <a:avLst/>
          </a:prstGeom>
        </p:spPr>
        <p:txBody>
          <a:bodyPr vert="horz" wrap="square" lIns="0" tIns="12700" rIns="0" bIns="0" rtlCol="0">
            <a:spAutoFit/>
          </a:bodyPr>
          <a:lstStyle/>
          <a:p>
            <a:pPr marL="12700">
              <a:spcBef>
                <a:spcPts val="100"/>
              </a:spcBef>
            </a:pPr>
            <a:r>
              <a:rPr lang="en-US" sz="1100" b="1" spc="-140" dirty="0" smtClean="0">
                <a:solidFill>
                  <a:srgbClr val="FFFFFF"/>
                </a:solidFill>
                <a:latin typeface="Arial"/>
                <a:cs typeface="Arial"/>
              </a:rPr>
              <a:t>APCOER,</a:t>
            </a:r>
            <a:r>
              <a:rPr lang="en-US" sz="1100" b="1" spc="-35" dirty="0" smtClean="0">
                <a:solidFill>
                  <a:srgbClr val="FFFFFF"/>
                </a:solidFill>
                <a:latin typeface="Arial"/>
                <a:cs typeface="Arial"/>
              </a:rPr>
              <a:t> </a:t>
            </a:r>
            <a:r>
              <a:rPr lang="en-US" sz="1100" b="1" spc="-95" dirty="0" smtClean="0">
                <a:solidFill>
                  <a:srgbClr val="FFFFFF"/>
                </a:solidFill>
                <a:latin typeface="Arial"/>
                <a:cs typeface="Arial"/>
              </a:rPr>
              <a:t>Pune</a:t>
            </a:r>
            <a:endParaRPr lang="en-US" sz="1100" dirty="0" smtClean="0">
              <a:latin typeface="Arial"/>
              <a:cs typeface="Arial"/>
            </a:endParaRPr>
          </a:p>
          <a:p>
            <a:pPr marL="12700">
              <a:lnSpc>
                <a:spcPct val="100000"/>
              </a:lnSpc>
              <a:spcBef>
                <a:spcPts val="100"/>
              </a:spcBef>
            </a:pPr>
            <a:endParaRPr sz="1200" dirty="0">
              <a:latin typeface="Arial"/>
              <a:cs typeface="Arial"/>
            </a:endParaRPr>
          </a:p>
        </p:txBody>
      </p:sp>
      <p:sp>
        <p:nvSpPr>
          <p:cNvPr id="19" name="Footer Placeholder 18">
            <a:extLst>
              <a:ext uri="{FF2B5EF4-FFF2-40B4-BE49-F238E27FC236}">
                <a16:creationId xmlns="" xmlns:a16="http://schemas.microsoft.com/office/drawing/2014/main" id="{54E6B13D-91C7-359D-3D4D-4A9D91D3A4A1}"/>
              </a:ext>
            </a:extLst>
          </p:cNvPr>
          <p:cNvSpPr>
            <a:spLocks noGrp="1"/>
          </p:cNvSpPr>
          <p:nvPr>
            <p:ph type="ftr" sz="quarter" idx="5"/>
          </p:nvPr>
        </p:nvSpPr>
        <p:spPr>
          <a:xfrm>
            <a:off x="274956" y="4932362"/>
            <a:ext cx="692510" cy="338554"/>
          </a:xfrm>
        </p:spPr>
        <p:txBody>
          <a:bodyPr wrap="square" lIns="0" tIns="0" rIns="0" bIns="0" anchor="t">
            <a:spAutoFit/>
          </a:bodyPr>
          <a:lstStyle/>
          <a:p>
            <a:r>
              <a:rPr lang="en-US" spc="-95" dirty="0"/>
              <a:t>30  / 06 </a:t>
            </a:r>
            <a:r>
              <a:rPr lang="en-US" spc="-95" dirty="0" smtClean="0"/>
              <a:t>/  </a:t>
            </a:r>
            <a:r>
              <a:rPr lang="en-US" spc="-95" dirty="0"/>
              <a:t>26</a:t>
            </a:r>
          </a:p>
          <a:p>
            <a:endParaRPr lang="en-US" dirty="0"/>
          </a:p>
        </p:txBody>
      </p:sp>
      <p:sp>
        <p:nvSpPr>
          <p:cNvPr id="20" name="TextBox 19"/>
          <p:cNvSpPr txBox="1"/>
          <p:nvPr/>
        </p:nvSpPr>
        <p:spPr>
          <a:xfrm>
            <a:off x="4463511" y="681356"/>
            <a:ext cx="4068305" cy="2308324"/>
          </a:xfrm>
          <a:prstGeom prst="rect">
            <a:avLst/>
          </a:prstGeom>
          <a:noFill/>
        </p:spPr>
        <p:txBody>
          <a:bodyPr wrap="square" rtlCol="0">
            <a:spAutoFit/>
          </a:bodyPr>
          <a:lstStyle/>
          <a:p>
            <a:pPr algn="l">
              <a:tabLst>
                <a:tab pos="387350" algn="l"/>
              </a:tabLst>
            </a:pPr>
            <a:r>
              <a:rPr lang="en-US" sz="1400" dirty="0" smtClean="0">
                <a:latin typeface="Times New Roman"/>
                <a:cs typeface="Times New Roman"/>
              </a:rPr>
              <a:t>13.    UML Diagram</a:t>
            </a:r>
          </a:p>
          <a:p>
            <a:pPr algn="l">
              <a:tabLst>
                <a:tab pos="387350" algn="l"/>
              </a:tabLst>
            </a:pPr>
            <a:r>
              <a:rPr lang="en-US" sz="1400" dirty="0" smtClean="0">
                <a:latin typeface="Times New Roman"/>
                <a:cs typeface="Times New Roman"/>
              </a:rPr>
              <a:t>14.    Data Flow Diagram</a:t>
            </a:r>
          </a:p>
          <a:p>
            <a:pPr algn="l">
              <a:tabLst>
                <a:tab pos="387350" algn="l"/>
              </a:tabLst>
            </a:pPr>
            <a:r>
              <a:rPr lang="en-US" sz="1400" dirty="0" smtClean="0">
                <a:latin typeface="Times New Roman"/>
                <a:cs typeface="Times New Roman"/>
              </a:rPr>
              <a:t>15.    Activity Diagram</a:t>
            </a:r>
          </a:p>
          <a:p>
            <a:pPr algn="l">
              <a:tabLst>
                <a:tab pos="387350" algn="l"/>
              </a:tabLst>
            </a:pPr>
            <a:r>
              <a:rPr lang="en-US" sz="1400" dirty="0" smtClean="0">
                <a:latin typeface="Times New Roman"/>
                <a:cs typeface="Times New Roman"/>
              </a:rPr>
              <a:t>16.    Tools and Technologies</a:t>
            </a:r>
          </a:p>
          <a:p>
            <a:pPr algn="l">
              <a:tabLst>
                <a:tab pos="387350" algn="l"/>
              </a:tabLst>
            </a:pPr>
            <a:r>
              <a:rPr lang="en-US" sz="1400" dirty="0" smtClean="0">
                <a:latin typeface="Times New Roman"/>
                <a:cs typeface="Times New Roman"/>
              </a:rPr>
              <a:t>17.     Results and Discussion</a:t>
            </a:r>
          </a:p>
          <a:p>
            <a:pPr algn="l">
              <a:tabLst>
                <a:tab pos="387350" algn="l"/>
              </a:tabLst>
            </a:pPr>
            <a:r>
              <a:rPr lang="en-US" sz="1400" dirty="0" smtClean="0">
                <a:latin typeface="Times New Roman"/>
                <a:cs typeface="Times New Roman"/>
              </a:rPr>
              <a:t>18.     Evaluation metrics</a:t>
            </a:r>
          </a:p>
          <a:p>
            <a:pPr algn="l">
              <a:tabLst>
                <a:tab pos="387350" algn="l"/>
              </a:tabLst>
            </a:pPr>
            <a:r>
              <a:rPr lang="en-US" sz="1400" dirty="0" smtClean="0">
                <a:latin typeface="Times New Roman"/>
                <a:cs typeface="Times New Roman"/>
              </a:rPr>
              <a:t>19.     Test Cases</a:t>
            </a:r>
          </a:p>
          <a:p>
            <a:pPr algn="l">
              <a:tabLst>
                <a:tab pos="387350" algn="l"/>
              </a:tabLst>
            </a:pPr>
            <a:r>
              <a:rPr lang="en-US" sz="1400" dirty="0" smtClean="0">
                <a:latin typeface="Times New Roman"/>
                <a:cs typeface="Times New Roman"/>
              </a:rPr>
              <a:t>20.     </a:t>
            </a:r>
            <a:r>
              <a:rPr lang="en-US" sz="1400" dirty="0" smtClean="0">
                <a:latin typeface="Times New Roman"/>
                <a:cs typeface="Times New Roman"/>
              </a:rPr>
              <a:t>Conclusion</a:t>
            </a:r>
          </a:p>
          <a:p>
            <a:pPr algn="l">
              <a:tabLst>
                <a:tab pos="387350" algn="l"/>
              </a:tabLst>
            </a:pPr>
            <a:r>
              <a:rPr lang="en-US" sz="1400" dirty="0" smtClean="0">
                <a:latin typeface="Times New Roman"/>
                <a:cs typeface="Times New Roman"/>
              </a:rPr>
              <a:t>21.     Future Scope</a:t>
            </a:r>
            <a:r>
              <a:rPr lang="en-US" sz="1400" dirty="0" smtClean="0">
                <a:latin typeface="Times New Roman"/>
                <a:cs typeface="Times New Roman"/>
              </a:rPr>
              <a:t> </a:t>
            </a:r>
            <a:endParaRPr lang="en-US" sz="1400" i="1" dirty="0" smtClean="0">
              <a:latin typeface="Times New Roman"/>
              <a:cs typeface="Times New Roman"/>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814705"/>
            <a:chOff x="0" y="0"/>
            <a:chExt cx="9144000" cy="814705"/>
          </a:xfrm>
        </p:grpSpPr>
        <p:pic>
          <p:nvPicPr>
            <p:cNvPr id="3" name="object 3"/>
            <p:cNvPicPr/>
            <p:nvPr/>
          </p:nvPicPr>
          <p:blipFill>
            <a:blip r:embed="rId2" cstate="print"/>
            <a:stretch>
              <a:fillRect/>
            </a:stretch>
          </p:blipFill>
          <p:spPr>
            <a:xfrm>
              <a:off x="0" y="0"/>
              <a:ext cx="9144000" cy="681356"/>
            </a:xfrm>
            <a:prstGeom prst="rect">
              <a:avLst/>
            </a:prstGeom>
          </p:spPr>
        </p:pic>
        <p:pic>
          <p:nvPicPr>
            <p:cNvPr id="4" name="object 4"/>
            <p:cNvPicPr/>
            <p:nvPr/>
          </p:nvPicPr>
          <p:blipFill>
            <a:blip r:embed="rId3" cstate="print"/>
            <a:stretch>
              <a:fillRect/>
            </a:stretch>
          </p:blipFill>
          <p:spPr>
            <a:xfrm>
              <a:off x="2752725" y="0"/>
              <a:ext cx="3671951" cy="814324"/>
            </a:xfrm>
            <a:prstGeom prst="rect">
              <a:avLst/>
            </a:prstGeom>
          </p:spPr>
        </p:pic>
        <p:pic>
          <p:nvPicPr>
            <p:cNvPr id="5" name="object 5"/>
            <p:cNvPicPr/>
            <p:nvPr/>
          </p:nvPicPr>
          <p:blipFill>
            <a:blip r:embed="rId4" cstate="print"/>
            <a:stretch>
              <a:fillRect/>
            </a:stretch>
          </p:blipFill>
          <p:spPr>
            <a:xfrm>
              <a:off x="0" y="0"/>
              <a:ext cx="9144000" cy="628650"/>
            </a:xfrm>
            <a:prstGeom prst="rect">
              <a:avLst/>
            </a:prstGeom>
          </p:spPr>
        </p:pic>
      </p:grpSp>
      <p:sp>
        <p:nvSpPr>
          <p:cNvPr id="6" name="object 6"/>
          <p:cNvSpPr txBox="1">
            <a:spLocks noGrp="1"/>
          </p:cNvSpPr>
          <p:nvPr>
            <p:ph type="title"/>
          </p:nvPr>
        </p:nvSpPr>
        <p:spPr>
          <a:xfrm>
            <a:off x="2275937" y="7749"/>
            <a:ext cx="5289549" cy="638315"/>
          </a:xfrm>
          <a:prstGeom prst="rect">
            <a:avLst/>
          </a:prstGeom>
        </p:spPr>
        <p:txBody>
          <a:bodyPr vert="horz" wrap="square" lIns="0" tIns="83502" rIns="0" bIns="0" rtlCol="0" anchor="t">
            <a:spAutoFit/>
          </a:bodyPr>
          <a:lstStyle/>
          <a:p>
            <a:pPr marL="1064895">
              <a:lnSpc>
                <a:spcPct val="100000"/>
              </a:lnSpc>
              <a:spcBef>
                <a:spcPts val="130"/>
              </a:spcBef>
            </a:pPr>
            <a:r>
              <a:rPr lang="en-US" sz="3600" dirty="0">
                <a:ea typeface="Calibri"/>
              </a:rPr>
              <a:t>Introduction</a:t>
            </a:r>
            <a:endParaRPr lang="en-US" sz="3600" spc="-10" dirty="0"/>
          </a:p>
        </p:txBody>
      </p:sp>
      <p:sp>
        <p:nvSpPr>
          <p:cNvPr id="9" name="object 9"/>
          <p:cNvSpPr txBox="1">
            <a:spLocks noGrp="1"/>
          </p:cNvSpPr>
          <p:nvPr>
            <p:ph type="dt" sz="half" idx="6"/>
          </p:nvPr>
        </p:nvSpPr>
        <p:spPr>
          <a:xfrm>
            <a:off x="3918839" y="4942011"/>
            <a:ext cx="1423628"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AI&amp;DS-</a:t>
            </a:r>
            <a:r>
              <a:rPr spc="-105" dirty="0" smtClean="0"/>
              <a:t>Department</a:t>
            </a:r>
            <a:endParaRPr spc="-105" dirty="0"/>
          </a:p>
        </p:txBody>
      </p:sp>
      <p:sp>
        <p:nvSpPr>
          <p:cNvPr id="10" name="object 10"/>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dirty="0">
                <a:solidFill>
                  <a:srgbClr val="FFFFFF"/>
                </a:solidFill>
                <a:latin typeface="Arial"/>
                <a:cs typeface="Arial"/>
              </a:rPr>
              <a:t>APCOER,</a:t>
            </a:r>
            <a:r>
              <a:rPr sz="1100" b="1" spc="-35" dirty="0">
                <a:solidFill>
                  <a:srgbClr val="FFFFFF"/>
                </a:solidFill>
                <a:latin typeface="Arial"/>
                <a:cs typeface="Arial"/>
              </a:rPr>
              <a:t> </a:t>
            </a:r>
            <a:r>
              <a:rPr sz="1100" b="1" spc="-95" dirty="0">
                <a:solidFill>
                  <a:srgbClr val="FFFFFF"/>
                </a:solidFill>
                <a:latin typeface="Arial"/>
                <a:cs typeface="Arial"/>
              </a:rPr>
              <a:t>Pune</a:t>
            </a:r>
            <a:endParaRPr sz="1100" dirty="0">
              <a:latin typeface="Arial"/>
              <a:cs typeface="Arial"/>
            </a:endParaRPr>
          </a:p>
        </p:txBody>
      </p:sp>
      <p:sp>
        <p:nvSpPr>
          <p:cNvPr id="7" name="object 7"/>
          <p:cNvSpPr txBox="1"/>
          <p:nvPr/>
        </p:nvSpPr>
        <p:spPr>
          <a:xfrm>
            <a:off x="450165" y="998594"/>
            <a:ext cx="8314007" cy="1981953"/>
          </a:xfrm>
          <a:prstGeom prst="rect">
            <a:avLst/>
          </a:prstGeom>
        </p:spPr>
        <p:txBody>
          <a:bodyPr vert="horz" wrap="square" lIns="0" tIns="12065" rIns="0" bIns="0" rtlCol="0" anchor="t">
            <a:spAutoFit/>
          </a:bodyPr>
          <a:lstStyle/>
          <a:p>
            <a:pPr algn="l">
              <a:lnSpc>
                <a:spcPct val="200000"/>
              </a:lnSpc>
              <a:buClr>
                <a:srgbClr val="000000"/>
              </a:buClr>
              <a:tabLst>
                <a:tab pos="298450" algn="l"/>
              </a:tabLst>
            </a:pPr>
            <a:r>
              <a:rPr lang="en-US" sz="1600" spc="-25" dirty="0" smtClean="0">
                <a:solidFill>
                  <a:srgbClr val="1D1D1D"/>
                </a:solidFill>
                <a:latin typeface="Times New Roman"/>
                <a:cs typeface="Times New Roman"/>
              </a:rPr>
              <a:t>The </a:t>
            </a:r>
            <a:r>
              <a:rPr lang="en-US" sz="1600" spc="-25" dirty="0" smtClean="0">
                <a:solidFill>
                  <a:srgbClr val="1D1D1D"/>
                </a:solidFill>
                <a:latin typeface="Times New Roman"/>
                <a:cs typeface="Times New Roman"/>
              </a:rPr>
              <a:t>stock market is unpredictable due to constant fluctuations and external influences. Traditional models rely only on historical data and miss real-time insights. This projects uses AI and news sentiment analysis to improve predictions accuracy and help investors make smarter decisions.</a:t>
            </a:r>
            <a:r>
              <a:rPr lang="en-US" sz="1600" dirty="0"/>
              <a:t/>
            </a:r>
            <a:br>
              <a:rPr lang="en-US" sz="1600" dirty="0"/>
            </a:br>
            <a:endParaRPr lang="en-US" sz="1600" dirty="0">
              <a:latin typeface="Times New Roman"/>
              <a:cs typeface="Times New Roman"/>
            </a:endParaRPr>
          </a:p>
        </p:txBody>
      </p:sp>
      <p:sp>
        <p:nvSpPr>
          <p:cNvPr id="8" name="Footer Placeholder 7">
            <a:extLst>
              <a:ext uri="{FF2B5EF4-FFF2-40B4-BE49-F238E27FC236}">
                <a16:creationId xmlns="" xmlns:a16="http://schemas.microsoft.com/office/drawing/2014/main" id="{18F19E62-8208-C57D-4015-85B6EDE5BAEC}"/>
              </a:ext>
            </a:extLst>
          </p:cNvPr>
          <p:cNvSpPr>
            <a:spLocks noGrp="1"/>
          </p:cNvSpPr>
          <p:nvPr>
            <p:ph type="ftr" sz="quarter" idx="5"/>
          </p:nvPr>
        </p:nvSpPr>
        <p:spPr>
          <a:xfrm>
            <a:off x="304295" y="4934057"/>
            <a:ext cx="655507" cy="338554"/>
          </a:xfrm>
        </p:spPr>
        <p:txBody>
          <a:bodyPr wrap="square" lIns="0" tIns="0" rIns="0" bIns="0" anchor="t">
            <a:spAutoFit/>
          </a:bodyPr>
          <a:lstStyle/>
          <a:p>
            <a:r>
              <a:rPr lang="en-US" spc="-95" dirty="0"/>
              <a:t>30  / 06 </a:t>
            </a:r>
            <a:r>
              <a:rPr lang="en-US" spc="-95" dirty="0" smtClean="0"/>
              <a:t>/  </a:t>
            </a:r>
            <a:r>
              <a:rPr lang="en-US" spc="-95" dirty="0"/>
              <a:t>26</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69AF4FC-8F5A-46D7-5956-874949FB40BE}"/>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3FBD8CE0-1B45-50B4-E4E1-E1C866F4DBC9}"/>
              </a:ext>
            </a:extLst>
          </p:cNvPr>
          <p:cNvGrpSpPr/>
          <p:nvPr/>
        </p:nvGrpSpPr>
        <p:grpSpPr>
          <a:xfrm>
            <a:off x="0" y="0"/>
            <a:ext cx="9144000" cy="814705"/>
            <a:chOff x="0" y="0"/>
            <a:chExt cx="9144000" cy="814705"/>
          </a:xfrm>
        </p:grpSpPr>
        <p:pic>
          <p:nvPicPr>
            <p:cNvPr id="3" name="object 3">
              <a:extLst>
                <a:ext uri="{FF2B5EF4-FFF2-40B4-BE49-F238E27FC236}">
                  <a16:creationId xmlns="" xmlns:a16="http://schemas.microsoft.com/office/drawing/2014/main" id="{38EBC7FA-D7A3-13E6-D4AF-C6509884AEA7}"/>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8C52401D-D509-A810-BD70-95C44EB2DB0B}"/>
                </a:ext>
              </a:extLst>
            </p:cNvPr>
            <p:cNvPicPr/>
            <p:nvPr/>
          </p:nvPicPr>
          <p:blipFill>
            <a:blip r:embed="rId3" cstate="print"/>
            <a:stretch>
              <a:fillRect/>
            </a:stretch>
          </p:blipFill>
          <p:spPr>
            <a:xfrm>
              <a:off x="2752725" y="0"/>
              <a:ext cx="3671951" cy="814324"/>
            </a:xfrm>
            <a:prstGeom prst="rect">
              <a:avLst/>
            </a:prstGeom>
          </p:spPr>
        </p:pic>
        <p:pic>
          <p:nvPicPr>
            <p:cNvPr id="5" name="object 5">
              <a:extLst>
                <a:ext uri="{FF2B5EF4-FFF2-40B4-BE49-F238E27FC236}">
                  <a16:creationId xmlns="" xmlns:a16="http://schemas.microsoft.com/office/drawing/2014/main" id="{9B6C03E8-8F9A-7847-609E-88D7B664C683}"/>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762AB7DD-90C4-A528-7CA2-8A7A8C669442}"/>
              </a:ext>
            </a:extLst>
          </p:cNvPr>
          <p:cNvSpPr txBox="1">
            <a:spLocks noGrp="1"/>
          </p:cNvSpPr>
          <p:nvPr>
            <p:ph type="title"/>
          </p:nvPr>
        </p:nvSpPr>
        <p:spPr>
          <a:xfrm>
            <a:off x="1725747" y="0"/>
            <a:ext cx="5289549" cy="638315"/>
          </a:xfrm>
          <a:prstGeom prst="rect">
            <a:avLst/>
          </a:prstGeom>
        </p:spPr>
        <p:txBody>
          <a:bodyPr vert="horz" wrap="square" lIns="0" tIns="83502" rIns="0" bIns="0" rtlCol="0" anchor="t">
            <a:spAutoFit/>
          </a:bodyPr>
          <a:lstStyle/>
          <a:p>
            <a:pPr marL="1064895">
              <a:lnSpc>
                <a:spcPct val="100000"/>
              </a:lnSpc>
              <a:spcBef>
                <a:spcPts val="130"/>
              </a:spcBef>
            </a:pPr>
            <a:r>
              <a:rPr sz="3600" dirty="0"/>
              <a:t>Problem</a:t>
            </a:r>
            <a:r>
              <a:rPr sz="3600" spc="-65" dirty="0"/>
              <a:t> </a:t>
            </a:r>
            <a:r>
              <a:rPr sz="3600" spc="-10" dirty="0"/>
              <a:t>Statement</a:t>
            </a:r>
            <a:endParaRPr lang="en-US" sz="3600" dirty="0"/>
          </a:p>
        </p:txBody>
      </p:sp>
      <p:sp>
        <p:nvSpPr>
          <p:cNvPr id="9" name="object 9">
            <a:extLst>
              <a:ext uri="{FF2B5EF4-FFF2-40B4-BE49-F238E27FC236}">
                <a16:creationId xmlns="" xmlns:a16="http://schemas.microsoft.com/office/drawing/2014/main" id="{053DD194-EED1-3787-540D-2EF07102EE61}"/>
              </a:ext>
            </a:extLst>
          </p:cNvPr>
          <p:cNvSpPr txBox="1">
            <a:spLocks noGrp="1"/>
          </p:cNvSpPr>
          <p:nvPr>
            <p:ph type="dt" sz="half" idx="6"/>
          </p:nvPr>
        </p:nvSpPr>
        <p:spPr>
          <a:xfrm>
            <a:off x="3918839" y="4942011"/>
            <a:ext cx="1660694"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AI&amp;DS-</a:t>
            </a:r>
            <a:r>
              <a:rPr spc="-105" dirty="0" smtClean="0"/>
              <a:t>Department</a:t>
            </a:r>
            <a:endParaRPr spc="-105" dirty="0"/>
          </a:p>
        </p:txBody>
      </p:sp>
      <p:sp>
        <p:nvSpPr>
          <p:cNvPr id="10" name="object 10">
            <a:extLst>
              <a:ext uri="{FF2B5EF4-FFF2-40B4-BE49-F238E27FC236}">
                <a16:creationId xmlns="" xmlns:a16="http://schemas.microsoft.com/office/drawing/2014/main" id="{CFB0510B-F071-1937-AC13-1D4C0D5F06D8}"/>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1BADCC83-5DD1-F11C-E2A3-7DA4DF0C50A5}"/>
              </a:ext>
            </a:extLst>
          </p:cNvPr>
          <p:cNvSpPr txBox="1"/>
          <p:nvPr/>
        </p:nvSpPr>
        <p:spPr>
          <a:xfrm>
            <a:off x="419449" y="1107058"/>
            <a:ext cx="7677563" cy="1858842"/>
          </a:xfrm>
          <a:prstGeom prst="rect">
            <a:avLst/>
          </a:prstGeom>
        </p:spPr>
        <p:txBody>
          <a:bodyPr vert="horz" wrap="square" lIns="0" tIns="12065" rIns="0" bIns="0" rtlCol="0" anchor="t">
            <a:spAutoFit/>
          </a:bodyPr>
          <a:lstStyle/>
          <a:p>
            <a:pPr algn="l">
              <a:lnSpc>
                <a:spcPct val="150000"/>
              </a:lnSpc>
              <a:buClr>
                <a:srgbClr val="000000"/>
              </a:buClr>
              <a:tabLst>
                <a:tab pos="298450" algn="l"/>
              </a:tabLst>
            </a:pPr>
            <a:r>
              <a:rPr lang="en-US" sz="1600" spc="-25" dirty="0" smtClean="0">
                <a:solidFill>
                  <a:srgbClr val="1D1D1D"/>
                </a:solidFill>
                <a:latin typeface="Times New Roman"/>
                <a:cs typeface="Times New Roman"/>
              </a:rPr>
              <a:t>The </a:t>
            </a:r>
            <a:r>
              <a:rPr lang="en-US" sz="1600" spc="-25" dirty="0">
                <a:solidFill>
                  <a:srgbClr val="1D1D1D"/>
                </a:solidFill>
                <a:latin typeface="Times New Roman"/>
                <a:cs typeface="Times New Roman"/>
              </a:rPr>
              <a:t>stock market is highly volatile and influenced by multiple dynamic factors, making accurate prediction </a:t>
            </a:r>
            <a:r>
              <a:rPr lang="en-US" sz="1600" spc="-25" dirty="0" smtClean="0">
                <a:solidFill>
                  <a:srgbClr val="1D1D1D"/>
                </a:solidFill>
                <a:latin typeface="Times New Roman"/>
                <a:cs typeface="Times New Roman"/>
              </a:rPr>
              <a:t>difficult. Existing </a:t>
            </a:r>
            <a:r>
              <a:rPr lang="en-US" sz="1600" spc="-25" dirty="0">
                <a:solidFill>
                  <a:srgbClr val="1D1D1D"/>
                </a:solidFill>
                <a:latin typeface="Times New Roman"/>
                <a:cs typeface="Times New Roman"/>
              </a:rPr>
              <a:t>models fail to combine real-time sentiment analysis with quantitative forecasting, creating the need for an AI-based hybrid system that delivers adaptive and interpretable market predictions.</a:t>
            </a:r>
            <a:r>
              <a:rPr lang="en-US" sz="1600" dirty="0">
                <a:latin typeface="Times New Roman"/>
                <a:cs typeface="Times New Roman"/>
              </a:rPr>
              <a:t/>
            </a:r>
            <a:br>
              <a:rPr lang="en-US" sz="1600" dirty="0">
                <a:latin typeface="Times New Roman"/>
                <a:cs typeface="Times New Roman"/>
              </a:rPr>
            </a:br>
            <a:endParaRPr lang="en-US" sz="1600" dirty="0">
              <a:latin typeface="Times New Roman"/>
              <a:cs typeface="Times New Roman"/>
            </a:endParaRPr>
          </a:p>
        </p:txBody>
      </p:sp>
      <p:sp>
        <p:nvSpPr>
          <p:cNvPr id="8" name="Footer Placeholder 7">
            <a:extLst>
              <a:ext uri="{FF2B5EF4-FFF2-40B4-BE49-F238E27FC236}">
                <a16:creationId xmlns="" xmlns:a16="http://schemas.microsoft.com/office/drawing/2014/main" id="{E5832239-77D2-A40F-E06D-C7750A73181C}"/>
              </a:ext>
            </a:extLst>
          </p:cNvPr>
          <p:cNvSpPr>
            <a:spLocks noGrp="1"/>
          </p:cNvSpPr>
          <p:nvPr>
            <p:ph type="ftr" sz="quarter" idx="5"/>
          </p:nvPr>
        </p:nvSpPr>
        <p:spPr>
          <a:xfrm>
            <a:off x="304295" y="4934057"/>
            <a:ext cx="655507"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1769266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0552C02-7ED3-EF5C-1B8F-8D48941F831E}"/>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A6ACF542-4468-50C3-DDA5-B4F619481A4A}"/>
              </a:ext>
            </a:extLst>
          </p:cNvPr>
          <p:cNvGrpSpPr/>
          <p:nvPr/>
        </p:nvGrpSpPr>
        <p:grpSpPr>
          <a:xfrm>
            <a:off x="0" y="0"/>
            <a:ext cx="9144000" cy="814705"/>
            <a:chOff x="0" y="0"/>
            <a:chExt cx="9144000" cy="814705"/>
          </a:xfrm>
        </p:grpSpPr>
        <p:pic>
          <p:nvPicPr>
            <p:cNvPr id="3" name="object 3">
              <a:extLst>
                <a:ext uri="{FF2B5EF4-FFF2-40B4-BE49-F238E27FC236}">
                  <a16:creationId xmlns="" xmlns:a16="http://schemas.microsoft.com/office/drawing/2014/main" id="{1DF48D1D-1DF0-588F-6F0C-8E979CC6BA1B}"/>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62147CB2-C3E1-1686-FC22-6E88AE597C9E}"/>
                </a:ext>
              </a:extLst>
            </p:cNvPr>
            <p:cNvPicPr/>
            <p:nvPr/>
          </p:nvPicPr>
          <p:blipFill>
            <a:blip r:embed="rId3" cstate="print"/>
            <a:stretch>
              <a:fillRect/>
            </a:stretch>
          </p:blipFill>
          <p:spPr>
            <a:xfrm>
              <a:off x="2752725" y="0"/>
              <a:ext cx="3671951" cy="814324"/>
            </a:xfrm>
            <a:prstGeom prst="rect">
              <a:avLst/>
            </a:prstGeom>
          </p:spPr>
        </p:pic>
        <p:pic>
          <p:nvPicPr>
            <p:cNvPr id="5" name="object 5">
              <a:extLst>
                <a:ext uri="{FF2B5EF4-FFF2-40B4-BE49-F238E27FC236}">
                  <a16:creationId xmlns="" xmlns:a16="http://schemas.microsoft.com/office/drawing/2014/main" id="{27C3D026-CE05-E262-C49D-8DDFDBCF7053}"/>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4326B00A-D8E9-4DB1-EDFC-AF1AF1678131}"/>
              </a:ext>
            </a:extLst>
          </p:cNvPr>
          <p:cNvSpPr txBox="1">
            <a:spLocks noGrp="1"/>
          </p:cNvSpPr>
          <p:nvPr>
            <p:ph type="title"/>
          </p:nvPr>
        </p:nvSpPr>
        <p:spPr>
          <a:xfrm>
            <a:off x="2455927" y="-9665"/>
            <a:ext cx="5289549" cy="638315"/>
          </a:xfrm>
          <a:prstGeom prst="rect">
            <a:avLst/>
          </a:prstGeom>
        </p:spPr>
        <p:txBody>
          <a:bodyPr vert="horz" wrap="square" lIns="0" tIns="83502" rIns="0" bIns="0" rtlCol="0" anchor="t">
            <a:spAutoFit/>
          </a:bodyPr>
          <a:lstStyle/>
          <a:p>
            <a:pPr marL="1064895">
              <a:lnSpc>
                <a:spcPct val="100000"/>
              </a:lnSpc>
              <a:spcBef>
                <a:spcPts val="130"/>
              </a:spcBef>
            </a:pPr>
            <a:r>
              <a:rPr lang="en-US" sz="3600" dirty="0"/>
              <a:t>Motivation</a:t>
            </a:r>
            <a:endParaRPr lang="en-US" dirty="0"/>
          </a:p>
        </p:txBody>
      </p:sp>
      <p:sp>
        <p:nvSpPr>
          <p:cNvPr id="9" name="object 9">
            <a:extLst>
              <a:ext uri="{FF2B5EF4-FFF2-40B4-BE49-F238E27FC236}">
                <a16:creationId xmlns="" xmlns:a16="http://schemas.microsoft.com/office/drawing/2014/main" id="{75F30CD8-A10E-1C93-C0A1-42CBAA5F57CF}"/>
              </a:ext>
            </a:extLst>
          </p:cNvPr>
          <p:cNvSpPr txBox="1">
            <a:spLocks noGrp="1"/>
          </p:cNvSpPr>
          <p:nvPr>
            <p:ph type="dt" sz="half" idx="6"/>
          </p:nvPr>
        </p:nvSpPr>
        <p:spPr>
          <a:xfrm>
            <a:off x="3918839" y="4942011"/>
            <a:ext cx="1834261"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AI&amp;DS-</a:t>
            </a:r>
            <a:r>
              <a:rPr spc="-105" dirty="0" smtClean="0"/>
              <a:t>Department</a:t>
            </a:r>
            <a:endParaRPr spc="-105" dirty="0"/>
          </a:p>
        </p:txBody>
      </p:sp>
      <p:sp>
        <p:nvSpPr>
          <p:cNvPr id="10" name="object 10">
            <a:extLst>
              <a:ext uri="{FF2B5EF4-FFF2-40B4-BE49-F238E27FC236}">
                <a16:creationId xmlns="" xmlns:a16="http://schemas.microsoft.com/office/drawing/2014/main" id="{D44EA266-020B-F1A8-B41D-1A73D0E14BC0}"/>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E254CE81-A970-EFC3-90DD-FC6DC9BC6891}"/>
              </a:ext>
            </a:extLst>
          </p:cNvPr>
          <p:cNvSpPr txBox="1"/>
          <p:nvPr/>
        </p:nvSpPr>
        <p:spPr>
          <a:xfrm>
            <a:off x="629137" y="815145"/>
            <a:ext cx="7393869" cy="4030591"/>
          </a:xfrm>
          <a:prstGeom prst="rect">
            <a:avLst/>
          </a:prstGeom>
        </p:spPr>
        <p:txBody>
          <a:bodyPr vert="horz" wrap="square" lIns="0" tIns="12065" rIns="0" bIns="0" rtlCol="0" anchor="t">
            <a:spAutoFit/>
          </a:bodyPr>
          <a:lstStyle/>
          <a:p>
            <a:pPr marL="285750" indent="-285750" algn="l">
              <a:lnSpc>
                <a:spcPct val="150000"/>
              </a:lnSpc>
              <a:buFont typeface="Arial"/>
              <a:buChar char="•"/>
              <a:tabLst>
                <a:tab pos="298450" algn="l"/>
              </a:tabLst>
            </a:pPr>
            <a:r>
              <a:rPr lang="en-US" sz="1600" dirty="0">
                <a:solidFill>
                  <a:srgbClr val="161616"/>
                </a:solidFill>
                <a:latin typeface="Times New Roman"/>
                <a:cs typeface="Times New Roman"/>
              </a:rPr>
              <a:t>The volatility and unpredictability of financial markets demand systems that can adapt and learn dynamically.</a:t>
            </a:r>
            <a:endParaRPr lang="en-US" sz="1600" dirty="0">
              <a:latin typeface="Times New Roman"/>
              <a:cs typeface="Times New Roman"/>
            </a:endParaRPr>
          </a:p>
          <a:p>
            <a:pPr marL="285750" indent="-285750" algn="l">
              <a:lnSpc>
                <a:spcPct val="150000"/>
              </a:lnSpc>
              <a:buFont typeface="Arial"/>
              <a:buChar char="•"/>
              <a:tabLst>
                <a:tab pos="298450" algn="l"/>
              </a:tabLst>
            </a:pPr>
            <a:r>
              <a:rPr lang="en-US" sz="1600" dirty="0">
                <a:solidFill>
                  <a:srgbClr val="161616"/>
                </a:solidFill>
                <a:latin typeface="Times New Roman"/>
                <a:cs typeface="Times New Roman"/>
              </a:rPr>
              <a:t>Investors often struggle with data saturation, rapid market </a:t>
            </a:r>
            <a:r>
              <a:rPr lang="en-US" sz="1600" dirty="0" smtClean="0">
                <a:solidFill>
                  <a:srgbClr val="161616"/>
                </a:solidFill>
                <a:latin typeface="Times New Roman"/>
                <a:cs typeface="Times New Roman"/>
              </a:rPr>
              <a:t>fluctuations </a:t>
            </a:r>
            <a:r>
              <a:rPr lang="en-US" sz="1600" dirty="0">
                <a:solidFill>
                  <a:srgbClr val="161616"/>
                </a:solidFill>
                <a:latin typeface="Times New Roman"/>
                <a:cs typeface="Times New Roman"/>
              </a:rPr>
              <a:t>and emotion-driven decision-making.</a:t>
            </a:r>
          </a:p>
          <a:p>
            <a:pPr marL="285750" indent="-285750" algn="l">
              <a:lnSpc>
                <a:spcPct val="150000"/>
              </a:lnSpc>
              <a:buFont typeface="Arial"/>
              <a:buChar char="•"/>
              <a:tabLst>
                <a:tab pos="298450" algn="l"/>
              </a:tabLst>
            </a:pPr>
            <a:r>
              <a:rPr lang="en-US" sz="1600" dirty="0">
                <a:solidFill>
                  <a:srgbClr val="161616"/>
                </a:solidFill>
                <a:latin typeface="Times New Roman"/>
                <a:cs typeface="Times New Roman"/>
              </a:rPr>
              <a:t>AI-based forecasting models uncover hidden temporal and non-linear dependencies that traditional methods overlook.</a:t>
            </a:r>
            <a:endParaRPr lang="en-US" sz="1600" dirty="0">
              <a:latin typeface="Times New Roman"/>
              <a:cs typeface="Times New Roman"/>
            </a:endParaRPr>
          </a:p>
          <a:p>
            <a:pPr marL="285750" indent="-285750" algn="l">
              <a:lnSpc>
                <a:spcPct val="150000"/>
              </a:lnSpc>
              <a:buFont typeface="Arial"/>
              <a:buChar char="•"/>
              <a:tabLst>
                <a:tab pos="298450" algn="l"/>
              </a:tabLst>
            </a:pPr>
            <a:r>
              <a:rPr lang="en-US" sz="1600" dirty="0">
                <a:solidFill>
                  <a:srgbClr val="161616"/>
                </a:solidFill>
                <a:latin typeface="Times New Roman"/>
                <a:cs typeface="Times New Roman"/>
              </a:rPr>
              <a:t>Sentiment analysis introduces a behavioral perspective, capturing</a:t>
            </a:r>
            <a:endParaRPr lang="en-US" sz="1600" dirty="0">
              <a:latin typeface="Times New Roman"/>
              <a:cs typeface="Times New Roman"/>
            </a:endParaRPr>
          </a:p>
          <a:p>
            <a:pPr algn="l">
              <a:lnSpc>
                <a:spcPct val="150000"/>
              </a:lnSpc>
              <a:tabLst>
                <a:tab pos="298450" algn="l"/>
              </a:tabLst>
            </a:pPr>
            <a:r>
              <a:rPr lang="en-US" sz="1600" dirty="0">
                <a:solidFill>
                  <a:srgbClr val="161616"/>
                </a:solidFill>
                <a:latin typeface="Times New Roman"/>
                <a:cs typeface="Times New Roman"/>
              </a:rPr>
              <a:t>      the psychological drivers of market movement such as optimism and fear.</a:t>
            </a:r>
            <a:endParaRPr lang="en-US" sz="1600" dirty="0">
              <a:latin typeface="Times New Roman"/>
              <a:cs typeface="Times New Roman"/>
            </a:endParaRPr>
          </a:p>
          <a:p>
            <a:pPr marL="285750" indent="-285750" algn="l">
              <a:lnSpc>
                <a:spcPct val="150000"/>
              </a:lnSpc>
              <a:buFont typeface="Arial"/>
              <a:buChar char="•"/>
              <a:tabLst>
                <a:tab pos="298450" algn="l"/>
              </a:tabLst>
            </a:pPr>
            <a:r>
              <a:rPr lang="en-US" sz="1600" dirty="0">
                <a:solidFill>
                  <a:srgbClr val="161616"/>
                </a:solidFill>
                <a:latin typeface="Times New Roman"/>
                <a:cs typeface="Times New Roman"/>
              </a:rPr>
              <a:t>Combining predictive analytics with sentiment intelligence forms</a:t>
            </a:r>
            <a:endParaRPr lang="en-US" sz="1600" dirty="0">
              <a:solidFill>
                <a:srgbClr val="000000"/>
              </a:solidFill>
              <a:latin typeface="Times New Roman"/>
              <a:cs typeface="Times New Roman"/>
            </a:endParaRPr>
          </a:p>
          <a:p>
            <a:pPr algn="l">
              <a:lnSpc>
                <a:spcPct val="150000"/>
              </a:lnSpc>
              <a:tabLst>
                <a:tab pos="298450" algn="l"/>
              </a:tabLst>
            </a:pPr>
            <a:r>
              <a:rPr lang="en-US" sz="1600" dirty="0">
                <a:solidFill>
                  <a:srgbClr val="161616"/>
                </a:solidFill>
                <a:latin typeface="Times New Roman"/>
                <a:cs typeface="Times New Roman"/>
              </a:rPr>
              <a:t>      a comprehensive decision-support framework, enhancing accuracy, </a:t>
            </a:r>
            <a:r>
              <a:rPr lang="en-US" sz="1600" dirty="0" smtClean="0">
                <a:solidFill>
                  <a:srgbClr val="161616"/>
                </a:solidFill>
                <a:latin typeface="Times New Roman"/>
                <a:cs typeface="Times New Roman"/>
              </a:rPr>
              <a:t>confidence </a:t>
            </a:r>
            <a:endParaRPr lang="en-US" sz="1600" dirty="0">
              <a:solidFill>
                <a:srgbClr val="000000"/>
              </a:solidFill>
              <a:latin typeface="Times New Roman"/>
              <a:cs typeface="Times New Roman"/>
            </a:endParaRPr>
          </a:p>
          <a:p>
            <a:pPr algn="l">
              <a:lnSpc>
                <a:spcPct val="150000"/>
              </a:lnSpc>
              <a:tabLst>
                <a:tab pos="298450" algn="l"/>
              </a:tabLst>
            </a:pPr>
            <a:r>
              <a:rPr lang="en-US" sz="1600" dirty="0">
                <a:solidFill>
                  <a:srgbClr val="161616"/>
                </a:solidFill>
                <a:latin typeface="Times New Roman"/>
                <a:cs typeface="Times New Roman"/>
              </a:rPr>
              <a:t>      and risk assessment</a:t>
            </a:r>
            <a:endParaRPr lang="en-US" sz="1600" dirty="0">
              <a:solidFill>
                <a:srgbClr val="000000"/>
              </a:solidFill>
              <a:latin typeface="Times New Roman"/>
              <a:cs typeface="Times New Roman"/>
            </a:endParaRPr>
          </a:p>
        </p:txBody>
      </p:sp>
      <p:sp>
        <p:nvSpPr>
          <p:cNvPr id="8" name="Footer Placeholder 7">
            <a:extLst>
              <a:ext uri="{FF2B5EF4-FFF2-40B4-BE49-F238E27FC236}">
                <a16:creationId xmlns="" xmlns:a16="http://schemas.microsoft.com/office/drawing/2014/main" id="{4DDE1B13-2752-7E8D-2409-AFF6398D2BD4}"/>
              </a:ext>
            </a:extLst>
          </p:cNvPr>
          <p:cNvSpPr>
            <a:spLocks noGrp="1"/>
          </p:cNvSpPr>
          <p:nvPr>
            <p:ph type="ftr" sz="quarter" idx="5"/>
          </p:nvPr>
        </p:nvSpPr>
        <p:spPr>
          <a:xfrm>
            <a:off x="304295" y="4934057"/>
            <a:ext cx="655507"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317252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748030"/>
            <a:chOff x="0" y="0"/>
            <a:chExt cx="9144000" cy="748030"/>
          </a:xfrm>
        </p:grpSpPr>
        <p:pic>
          <p:nvPicPr>
            <p:cNvPr id="3" name="object 3"/>
            <p:cNvPicPr/>
            <p:nvPr/>
          </p:nvPicPr>
          <p:blipFill>
            <a:blip r:embed="rId2" cstate="print"/>
            <a:stretch>
              <a:fillRect/>
            </a:stretch>
          </p:blipFill>
          <p:spPr>
            <a:xfrm>
              <a:off x="0" y="0"/>
              <a:ext cx="9144000" cy="681356"/>
            </a:xfrm>
            <a:prstGeom prst="rect">
              <a:avLst/>
            </a:prstGeom>
          </p:spPr>
        </p:pic>
        <p:pic>
          <p:nvPicPr>
            <p:cNvPr id="4" name="object 4"/>
            <p:cNvPicPr/>
            <p:nvPr/>
          </p:nvPicPr>
          <p:blipFill>
            <a:blip r:embed="rId3" cstate="print"/>
            <a:stretch>
              <a:fillRect/>
            </a:stretch>
          </p:blipFill>
          <p:spPr>
            <a:xfrm>
              <a:off x="3514725" y="9461"/>
              <a:ext cx="2109851" cy="738187"/>
            </a:xfrm>
            <a:prstGeom prst="rect">
              <a:avLst/>
            </a:prstGeom>
          </p:spPr>
        </p:pic>
        <p:pic>
          <p:nvPicPr>
            <p:cNvPr id="5" name="object 5"/>
            <p:cNvPicPr/>
            <p:nvPr/>
          </p:nvPicPr>
          <p:blipFill>
            <a:blip r:embed="rId4" cstate="print"/>
            <a:stretch>
              <a:fillRect/>
            </a:stretch>
          </p:blipFill>
          <p:spPr>
            <a:xfrm>
              <a:off x="0" y="0"/>
              <a:ext cx="9144000" cy="628650"/>
            </a:xfrm>
            <a:prstGeom prst="rect">
              <a:avLst/>
            </a:prstGeom>
          </p:spPr>
        </p:pic>
      </p:grpSp>
      <p:sp>
        <p:nvSpPr>
          <p:cNvPr id="6" name="object 6"/>
          <p:cNvSpPr txBox="1">
            <a:spLocks noGrp="1"/>
          </p:cNvSpPr>
          <p:nvPr>
            <p:ph type="title"/>
          </p:nvPr>
        </p:nvSpPr>
        <p:spPr>
          <a:xfrm>
            <a:off x="928129" y="-78024"/>
            <a:ext cx="6099516" cy="669286"/>
          </a:xfrm>
          <a:prstGeom prst="rect">
            <a:avLst/>
          </a:prstGeom>
        </p:spPr>
        <p:txBody>
          <a:bodyPr vert="horz" wrap="square" lIns="0" tIns="114173" rIns="0" bIns="0" rtlCol="0" anchor="t">
            <a:spAutoFit/>
          </a:bodyPr>
          <a:lstStyle/>
          <a:p>
            <a:pPr marL="1830070">
              <a:spcBef>
                <a:spcPts val="100"/>
              </a:spcBef>
            </a:pPr>
            <a:r>
              <a:rPr lang="en-US" sz="3600" spc="-10" dirty="0"/>
              <a:t>Research Objectives</a:t>
            </a:r>
            <a:endParaRPr lang="en-US" sz="3600" dirty="0"/>
          </a:p>
        </p:txBody>
      </p:sp>
      <p:sp>
        <p:nvSpPr>
          <p:cNvPr id="9" name="object 9"/>
          <p:cNvSpPr txBox="1">
            <a:spLocks noGrp="1"/>
          </p:cNvSpPr>
          <p:nvPr>
            <p:ph type="dt" sz="half" idx="6"/>
          </p:nvPr>
        </p:nvSpPr>
        <p:spPr>
          <a:xfrm>
            <a:off x="3918839" y="4942011"/>
            <a:ext cx="1609894"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AI&amp;DS-</a:t>
            </a:r>
            <a:r>
              <a:rPr spc="-105" dirty="0" smtClean="0"/>
              <a:t>Department</a:t>
            </a:r>
            <a:endParaRPr spc="-105" dirty="0"/>
          </a:p>
        </p:txBody>
      </p:sp>
      <p:sp>
        <p:nvSpPr>
          <p:cNvPr id="10" name="object 10"/>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p:cNvSpPr txBox="1"/>
          <p:nvPr/>
        </p:nvSpPr>
        <p:spPr>
          <a:xfrm>
            <a:off x="607796" y="1022478"/>
            <a:ext cx="5349240" cy="3021981"/>
          </a:xfrm>
          <a:prstGeom prst="rect">
            <a:avLst/>
          </a:prstGeom>
        </p:spPr>
        <p:txBody>
          <a:bodyPr vert="horz" wrap="square" lIns="0" tIns="15875" rIns="0" bIns="0" rtlCol="0" anchor="t">
            <a:spAutoFit/>
          </a:bodyPr>
          <a:lstStyle/>
          <a:p>
            <a:pPr marL="298450" indent="-285750">
              <a:spcBef>
                <a:spcPts val="125"/>
              </a:spcBef>
              <a:buClr>
                <a:srgbClr val="000000"/>
              </a:buClr>
              <a:buFont typeface="Arial MT"/>
              <a:buChar char="•"/>
              <a:tabLst>
                <a:tab pos="298450" algn="l"/>
              </a:tabLst>
            </a:pPr>
            <a:r>
              <a:rPr sz="1600" spc="-30" dirty="0">
                <a:solidFill>
                  <a:srgbClr val="1D1D1D"/>
                </a:solidFill>
                <a:latin typeface="Times New Roman"/>
                <a:cs typeface="Times New Roman"/>
              </a:rPr>
              <a:t>Collect</a:t>
            </a:r>
            <a:r>
              <a:rPr sz="1600" spc="-60" dirty="0">
                <a:solidFill>
                  <a:srgbClr val="1D1D1D"/>
                </a:solidFill>
                <a:latin typeface="Times New Roman"/>
                <a:cs typeface="Times New Roman"/>
              </a:rPr>
              <a:t> </a:t>
            </a:r>
            <a:r>
              <a:rPr sz="1600" dirty="0">
                <a:solidFill>
                  <a:srgbClr val="1D1D1D"/>
                </a:solidFill>
                <a:latin typeface="Times New Roman"/>
                <a:cs typeface="Times New Roman"/>
              </a:rPr>
              <a:t>and</a:t>
            </a:r>
            <a:r>
              <a:rPr sz="1600" spc="-80" dirty="0">
                <a:solidFill>
                  <a:srgbClr val="1D1D1D"/>
                </a:solidFill>
                <a:latin typeface="Times New Roman"/>
                <a:cs typeface="Times New Roman"/>
              </a:rPr>
              <a:t> </a:t>
            </a:r>
            <a:r>
              <a:rPr sz="1600" spc="-10" dirty="0">
                <a:solidFill>
                  <a:srgbClr val="1D1D1D"/>
                </a:solidFill>
                <a:latin typeface="Times New Roman"/>
                <a:cs typeface="Times New Roman"/>
              </a:rPr>
              <a:t>preprocess stock</a:t>
            </a:r>
            <a:r>
              <a:rPr sz="1600" spc="-15" dirty="0">
                <a:solidFill>
                  <a:srgbClr val="1D1D1D"/>
                </a:solidFill>
                <a:latin typeface="Times New Roman"/>
                <a:cs typeface="Times New Roman"/>
              </a:rPr>
              <a:t> </a:t>
            </a:r>
            <a:r>
              <a:rPr sz="1600" dirty="0">
                <a:solidFill>
                  <a:srgbClr val="1D1D1D"/>
                </a:solidFill>
                <a:latin typeface="Times New Roman"/>
                <a:cs typeface="Times New Roman"/>
              </a:rPr>
              <a:t>and</a:t>
            </a:r>
            <a:r>
              <a:rPr sz="1600" spc="-50" dirty="0">
                <a:solidFill>
                  <a:srgbClr val="1D1D1D"/>
                </a:solidFill>
                <a:latin typeface="Times New Roman"/>
                <a:cs typeface="Times New Roman"/>
              </a:rPr>
              <a:t> </a:t>
            </a:r>
            <a:r>
              <a:rPr sz="1600" spc="-40" dirty="0">
                <a:solidFill>
                  <a:srgbClr val="1D1D1D"/>
                </a:solidFill>
                <a:latin typeface="Times New Roman"/>
                <a:cs typeface="Times New Roman"/>
              </a:rPr>
              <a:t>news</a:t>
            </a:r>
            <a:r>
              <a:rPr sz="1600" spc="-50" dirty="0">
                <a:solidFill>
                  <a:srgbClr val="1D1D1D"/>
                </a:solidFill>
                <a:latin typeface="Times New Roman"/>
                <a:cs typeface="Times New Roman"/>
              </a:rPr>
              <a:t> </a:t>
            </a:r>
            <a:r>
              <a:rPr sz="1600" spc="-10" dirty="0">
                <a:solidFill>
                  <a:srgbClr val="1D1D1D"/>
                </a:solidFill>
                <a:latin typeface="Times New Roman"/>
                <a:cs typeface="Times New Roman"/>
              </a:rPr>
              <a:t>data</a:t>
            </a:r>
            <a:r>
              <a:rPr sz="1600" spc="-70" dirty="0">
                <a:solidFill>
                  <a:srgbClr val="1D1D1D"/>
                </a:solidFill>
                <a:latin typeface="Times New Roman"/>
                <a:cs typeface="Times New Roman"/>
              </a:rPr>
              <a:t> </a:t>
            </a:r>
            <a:r>
              <a:rPr sz="1600" dirty="0">
                <a:solidFill>
                  <a:srgbClr val="1D1D1D"/>
                </a:solidFill>
                <a:latin typeface="Times New Roman"/>
                <a:cs typeface="Times New Roman"/>
              </a:rPr>
              <a:t>from</a:t>
            </a:r>
            <a:r>
              <a:rPr sz="1600" spc="-60" dirty="0">
                <a:solidFill>
                  <a:srgbClr val="1D1D1D"/>
                </a:solidFill>
                <a:latin typeface="Times New Roman"/>
                <a:cs typeface="Times New Roman"/>
              </a:rPr>
              <a:t> </a:t>
            </a:r>
            <a:r>
              <a:rPr sz="1600" spc="-10" dirty="0">
                <a:solidFill>
                  <a:srgbClr val="1D1D1D"/>
                </a:solidFill>
                <a:latin typeface="Times New Roman"/>
                <a:cs typeface="Times New Roman"/>
              </a:rPr>
              <a:t>APIs.</a:t>
            </a:r>
            <a:endParaRPr sz="1600" dirty="0">
              <a:latin typeface="Times New Roman"/>
              <a:cs typeface="Times New Roman"/>
            </a:endParaRPr>
          </a:p>
          <a:p>
            <a:pPr>
              <a:spcBef>
                <a:spcPts val="15"/>
              </a:spcBef>
              <a:buFont typeface="Arial MT"/>
              <a:buChar char="•"/>
            </a:pPr>
            <a:endParaRPr sz="1600" dirty="0">
              <a:latin typeface="Times New Roman"/>
              <a:cs typeface="Times New Roman"/>
            </a:endParaRPr>
          </a:p>
          <a:p>
            <a:pPr marL="298450" indent="-285750">
              <a:buClr>
                <a:srgbClr val="000000"/>
              </a:buClr>
              <a:buFont typeface="Arial MT"/>
              <a:buChar char="•"/>
              <a:tabLst>
                <a:tab pos="298450" algn="l"/>
              </a:tabLst>
            </a:pPr>
            <a:r>
              <a:rPr sz="1600" spc="-55" dirty="0">
                <a:solidFill>
                  <a:srgbClr val="1D1D1D"/>
                </a:solidFill>
                <a:latin typeface="Times New Roman"/>
                <a:cs typeface="Times New Roman"/>
              </a:rPr>
              <a:t>Build</a:t>
            </a:r>
            <a:r>
              <a:rPr sz="1600" spc="-25" dirty="0">
                <a:solidFill>
                  <a:srgbClr val="1D1D1D"/>
                </a:solidFill>
                <a:latin typeface="Times New Roman"/>
                <a:cs typeface="Times New Roman"/>
              </a:rPr>
              <a:t> </a:t>
            </a:r>
            <a:r>
              <a:rPr sz="1600" dirty="0">
                <a:solidFill>
                  <a:srgbClr val="1D1D1D"/>
                </a:solidFill>
                <a:latin typeface="Times New Roman"/>
                <a:cs typeface="Times New Roman"/>
              </a:rPr>
              <a:t>an</a:t>
            </a:r>
            <a:r>
              <a:rPr sz="1600" spc="-20" dirty="0">
                <a:solidFill>
                  <a:srgbClr val="1D1D1D"/>
                </a:solidFill>
                <a:latin typeface="Times New Roman"/>
                <a:cs typeface="Times New Roman"/>
              </a:rPr>
              <a:t> </a:t>
            </a:r>
            <a:r>
              <a:rPr sz="1600" spc="-25" dirty="0">
                <a:solidFill>
                  <a:srgbClr val="1D1D1D"/>
                </a:solidFill>
                <a:latin typeface="Times New Roman"/>
                <a:cs typeface="Times New Roman"/>
              </a:rPr>
              <a:t>LSTM</a:t>
            </a:r>
            <a:r>
              <a:rPr sz="1600" spc="-15" dirty="0">
                <a:solidFill>
                  <a:srgbClr val="1D1D1D"/>
                </a:solidFill>
                <a:latin typeface="Times New Roman"/>
                <a:cs typeface="Times New Roman"/>
              </a:rPr>
              <a:t> </a:t>
            </a:r>
            <a:r>
              <a:rPr sz="1600" dirty="0">
                <a:solidFill>
                  <a:srgbClr val="1D1D1D"/>
                </a:solidFill>
                <a:latin typeface="Times New Roman"/>
                <a:cs typeface="Times New Roman"/>
              </a:rPr>
              <a:t>model</a:t>
            </a:r>
            <a:r>
              <a:rPr sz="1600" spc="-45" dirty="0">
                <a:solidFill>
                  <a:srgbClr val="1D1D1D"/>
                </a:solidFill>
                <a:latin typeface="Times New Roman"/>
                <a:cs typeface="Times New Roman"/>
              </a:rPr>
              <a:t> </a:t>
            </a:r>
            <a:r>
              <a:rPr sz="1600" dirty="0">
                <a:solidFill>
                  <a:srgbClr val="1D1D1D"/>
                </a:solidFill>
                <a:latin typeface="Times New Roman"/>
                <a:cs typeface="Times New Roman"/>
              </a:rPr>
              <a:t>for</a:t>
            </a:r>
            <a:r>
              <a:rPr sz="1600" spc="-85" dirty="0">
                <a:solidFill>
                  <a:srgbClr val="1D1D1D"/>
                </a:solidFill>
                <a:latin typeface="Times New Roman"/>
                <a:cs typeface="Times New Roman"/>
              </a:rPr>
              <a:t> </a:t>
            </a:r>
            <a:r>
              <a:rPr sz="1600" spc="-30" dirty="0">
                <a:solidFill>
                  <a:srgbClr val="1D1D1D"/>
                </a:solidFill>
                <a:latin typeface="Times New Roman"/>
                <a:cs typeface="Times New Roman"/>
              </a:rPr>
              <a:t>time-series</a:t>
            </a:r>
            <a:r>
              <a:rPr sz="1600" spc="20" dirty="0">
                <a:solidFill>
                  <a:srgbClr val="1D1D1D"/>
                </a:solidFill>
                <a:latin typeface="Times New Roman"/>
                <a:cs typeface="Times New Roman"/>
              </a:rPr>
              <a:t> </a:t>
            </a:r>
            <a:r>
              <a:rPr sz="1600" spc="-10" dirty="0">
                <a:solidFill>
                  <a:srgbClr val="1D1D1D"/>
                </a:solidFill>
                <a:latin typeface="Times New Roman"/>
                <a:cs typeface="Times New Roman"/>
              </a:rPr>
              <a:t>stock</a:t>
            </a:r>
            <a:r>
              <a:rPr sz="1600" spc="20" dirty="0">
                <a:solidFill>
                  <a:srgbClr val="1D1D1D"/>
                </a:solidFill>
                <a:latin typeface="Times New Roman"/>
                <a:cs typeface="Times New Roman"/>
              </a:rPr>
              <a:t> </a:t>
            </a:r>
            <a:r>
              <a:rPr sz="1600" spc="-10" dirty="0">
                <a:solidFill>
                  <a:srgbClr val="1D1D1D"/>
                </a:solidFill>
                <a:latin typeface="Times New Roman"/>
                <a:cs typeface="Times New Roman"/>
              </a:rPr>
              <a:t>prediction.</a:t>
            </a:r>
            <a:endParaRPr sz="1600" dirty="0">
              <a:latin typeface="Times New Roman"/>
              <a:cs typeface="Times New Roman"/>
            </a:endParaRPr>
          </a:p>
          <a:p>
            <a:pPr>
              <a:spcBef>
                <a:spcPts val="95"/>
              </a:spcBef>
              <a:buFont typeface="Arial MT"/>
              <a:buChar char="•"/>
            </a:pPr>
            <a:endParaRPr sz="1600" dirty="0">
              <a:latin typeface="Times New Roman"/>
              <a:cs typeface="Times New Roman"/>
            </a:endParaRPr>
          </a:p>
          <a:p>
            <a:pPr marL="298450" indent="-285750">
              <a:buClr>
                <a:srgbClr val="000000"/>
              </a:buClr>
              <a:buFont typeface="Arial MT"/>
              <a:buChar char="•"/>
              <a:tabLst>
                <a:tab pos="298450" algn="l"/>
              </a:tabLst>
            </a:pPr>
            <a:r>
              <a:rPr sz="1600" spc="-20" dirty="0">
                <a:solidFill>
                  <a:srgbClr val="1D1D1D"/>
                </a:solidFill>
                <a:latin typeface="Times New Roman"/>
                <a:cs typeface="Times New Roman"/>
              </a:rPr>
              <a:t>Use</a:t>
            </a:r>
            <a:r>
              <a:rPr sz="1600" dirty="0">
                <a:solidFill>
                  <a:srgbClr val="1D1D1D"/>
                </a:solidFill>
                <a:latin typeface="Times New Roman"/>
                <a:cs typeface="Times New Roman"/>
              </a:rPr>
              <a:t> </a:t>
            </a:r>
            <a:r>
              <a:rPr sz="1600" dirty="0" err="1">
                <a:solidFill>
                  <a:srgbClr val="1D1D1D"/>
                </a:solidFill>
                <a:latin typeface="Times New Roman"/>
                <a:cs typeface="Times New Roman"/>
              </a:rPr>
              <a:t>FinBERT</a:t>
            </a:r>
            <a:r>
              <a:rPr sz="1600" spc="-15" dirty="0">
                <a:solidFill>
                  <a:srgbClr val="1D1D1D"/>
                </a:solidFill>
                <a:latin typeface="Times New Roman"/>
                <a:cs typeface="Times New Roman"/>
              </a:rPr>
              <a:t> </a:t>
            </a:r>
            <a:r>
              <a:rPr sz="1600" dirty="0">
                <a:solidFill>
                  <a:srgbClr val="1D1D1D"/>
                </a:solidFill>
                <a:latin typeface="Times New Roman"/>
                <a:cs typeface="Times New Roman"/>
              </a:rPr>
              <a:t>for</a:t>
            </a:r>
            <a:r>
              <a:rPr sz="1600" spc="-75" dirty="0">
                <a:solidFill>
                  <a:srgbClr val="1D1D1D"/>
                </a:solidFill>
                <a:latin typeface="Times New Roman"/>
                <a:cs typeface="Times New Roman"/>
              </a:rPr>
              <a:t> </a:t>
            </a:r>
            <a:r>
              <a:rPr sz="1600" spc="-10" dirty="0">
                <a:solidFill>
                  <a:srgbClr val="1D1D1D"/>
                </a:solidFill>
                <a:latin typeface="Times New Roman"/>
                <a:cs typeface="Times New Roman"/>
              </a:rPr>
              <a:t>sentiment </a:t>
            </a:r>
            <a:r>
              <a:rPr sz="1600" spc="-40" dirty="0">
                <a:solidFill>
                  <a:srgbClr val="1D1D1D"/>
                </a:solidFill>
                <a:latin typeface="Times New Roman"/>
                <a:cs typeface="Times New Roman"/>
              </a:rPr>
              <a:t>classification</a:t>
            </a:r>
            <a:r>
              <a:rPr sz="1600" spc="-30" dirty="0">
                <a:solidFill>
                  <a:srgbClr val="1D1D1D"/>
                </a:solidFill>
                <a:latin typeface="Times New Roman"/>
                <a:cs typeface="Times New Roman"/>
              </a:rPr>
              <a:t> </a:t>
            </a:r>
            <a:r>
              <a:rPr sz="1600" dirty="0">
                <a:solidFill>
                  <a:srgbClr val="1D1D1D"/>
                </a:solidFill>
                <a:latin typeface="Times New Roman"/>
                <a:cs typeface="Times New Roman"/>
              </a:rPr>
              <a:t>of</a:t>
            </a:r>
            <a:r>
              <a:rPr sz="1600" spc="20" dirty="0">
                <a:solidFill>
                  <a:srgbClr val="1D1D1D"/>
                </a:solidFill>
                <a:latin typeface="Times New Roman"/>
                <a:cs typeface="Times New Roman"/>
              </a:rPr>
              <a:t> </a:t>
            </a:r>
            <a:r>
              <a:rPr sz="1600" spc="-45" dirty="0">
                <a:solidFill>
                  <a:srgbClr val="1D1D1D"/>
                </a:solidFill>
                <a:latin typeface="Times New Roman"/>
                <a:cs typeface="Times New Roman"/>
              </a:rPr>
              <a:t>financial</a:t>
            </a:r>
            <a:r>
              <a:rPr sz="1600" dirty="0">
                <a:solidFill>
                  <a:srgbClr val="1D1D1D"/>
                </a:solidFill>
                <a:latin typeface="Times New Roman"/>
                <a:cs typeface="Times New Roman"/>
              </a:rPr>
              <a:t> </a:t>
            </a:r>
            <a:r>
              <a:rPr sz="1600" spc="-10" dirty="0">
                <a:solidFill>
                  <a:srgbClr val="1D1D1D"/>
                </a:solidFill>
                <a:latin typeface="Times New Roman"/>
                <a:cs typeface="Times New Roman"/>
              </a:rPr>
              <a:t>news.</a:t>
            </a:r>
            <a:endParaRPr sz="1600" dirty="0">
              <a:latin typeface="Times New Roman"/>
              <a:cs typeface="Times New Roman"/>
            </a:endParaRPr>
          </a:p>
          <a:p>
            <a:pPr>
              <a:spcBef>
                <a:spcPts val="85"/>
              </a:spcBef>
              <a:buFont typeface="Arial MT"/>
              <a:buChar char="•"/>
            </a:pPr>
            <a:endParaRPr sz="1600" dirty="0">
              <a:latin typeface="Times New Roman"/>
              <a:cs typeface="Times New Roman"/>
            </a:endParaRPr>
          </a:p>
          <a:p>
            <a:pPr marL="347345" indent="-334645">
              <a:spcBef>
                <a:spcPts val="5"/>
              </a:spcBef>
              <a:buClr>
                <a:srgbClr val="000000"/>
              </a:buClr>
              <a:buFont typeface="Arial MT"/>
              <a:buChar char="•"/>
              <a:tabLst>
                <a:tab pos="347345" algn="l"/>
              </a:tabLst>
            </a:pPr>
            <a:r>
              <a:rPr sz="1600" spc="-10" dirty="0">
                <a:solidFill>
                  <a:srgbClr val="1D1D1D"/>
                </a:solidFill>
                <a:latin typeface="Times New Roman"/>
                <a:cs typeface="Times New Roman"/>
              </a:rPr>
              <a:t>Integrate </a:t>
            </a:r>
            <a:r>
              <a:rPr sz="1600" dirty="0">
                <a:solidFill>
                  <a:srgbClr val="1D1D1D"/>
                </a:solidFill>
                <a:latin typeface="Times New Roman"/>
                <a:cs typeface="Times New Roman"/>
              </a:rPr>
              <a:t>both</a:t>
            </a:r>
            <a:r>
              <a:rPr sz="1600" spc="-45" dirty="0">
                <a:solidFill>
                  <a:srgbClr val="1D1D1D"/>
                </a:solidFill>
                <a:latin typeface="Times New Roman"/>
                <a:cs typeface="Times New Roman"/>
              </a:rPr>
              <a:t> </a:t>
            </a:r>
            <a:r>
              <a:rPr sz="1600" spc="-20" dirty="0">
                <a:solidFill>
                  <a:srgbClr val="1D1D1D"/>
                </a:solidFill>
                <a:latin typeface="Times New Roman"/>
                <a:cs typeface="Times New Roman"/>
              </a:rPr>
              <a:t>modules</a:t>
            </a:r>
            <a:r>
              <a:rPr sz="1600" spc="-60" dirty="0">
                <a:solidFill>
                  <a:srgbClr val="1D1D1D"/>
                </a:solidFill>
                <a:latin typeface="Times New Roman"/>
                <a:cs typeface="Times New Roman"/>
              </a:rPr>
              <a:t> </a:t>
            </a:r>
            <a:r>
              <a:rPr sz="1600" dirty="0">
                <a:solidFill>
                  <a:srgbClr val="1D1D1D"/>
                </a:solidFill>
                <a:latin typeface="Times New Roman"/>
                <a:cs typeface="Times New Roman"/>
              </a:rPr>
              <a:t>in</a:t>
            </a:r>
            <a:r>
              <a:rPr sz="1600" spc="-45" dirty="0">
                <a:solidFill>
                  <a:srgbClr val="1D1D1D"/>
                </a:solidFill>
                <a:latin typeface="Times New Roman"/>
                <a:cs typeface="Times New Roman"/>
              </a:rPr>
              <a:t> </a:t>
            </a:r>
            <a:r>
              <a:rPr sz="1600" spc="-50" dirty="0">
                <a:solidFill>
                  <a:srgbClr val="1D1D1D"/>
                </a:solidFill>
                <a:latin typeface="Times New Roman"/>
                <a:cs typeface="Times New Roman"/>
              </a:rPr>
              <a:t>a </a:t>
            </a:r>
            <a:r>
              <a:rPr lang="en-US" sz="1600" dirty="0" err="1" smtClean="0">
                <a:solidFill>
                  <a:srgbClr val="1D1D1D"/>
                </a:solidFill>
                <a:latin typeface="Times New Roman"/>
                <a:cs typeface="Times New Roman"/>
              </a:rPr>
              <a:t>streamlit</a:t>
            </a:r>
            <a:r>
              <a:rPr sz="1600" spc="-5" dirty="0" smtClean="0">
                <a:solidFill>
                  <a:srgbClr val="1D1D1D"/>
                </a:solidFill>
                <a:latin typeface="Times New Roman"/>
                <a:cs typeface="Times New Roman"/>
              </a:rPr>
              <a:t> </a:t>
            </a:r>
            <a:r>
              <a:rPr sz="1600" dirty="0">
                <a:solidFill>
                  <a:srgbClr val="1D1D1D"/>
                </a:solidFill>
                <a:latin typeface="Times New Roman"/>
                <a:cs typeface="Times New Roman"/>
              </a:rPr>
              <a:t>web</a:t>
            </a:r>
            <a:r>
              <a:rPr sz="1600" spc="-30" dirty="0">
                <a:solidFill>
                  <a:srgbClr val="1D1D1D"/>
                </a:solidFill>
                <a:latin typeface="Times New Roman"/>
                <a:cs typeface="Times New Roman"/>
              </a:rPr>
              <a:t> </a:t>
            </a:r>
            <a:r>
              <a:rPr sz="1600" spc="-25" dirty="0">
                <a:solidFill>
                  <a:srgbClr val="1D1D1D"/>
                </a:solidFill>
                <a:latin typeface="Times New Roman"/>
                <a:cs typeface="Times New Roman"/>
              </a:rPr>
              <a:t>platform</a:t>
            </a:r>
            <a:r>
              <a:rPr sz="1600" spc="-40" dirty="0">
                <a:solidFill>
                  <a:srgbClr val="1D1D1D"/>
                </a:solidFill>
                <a:latin typeface="Times New Roman"/>
                <a:cs typeface="Times New Roman"/>
              </a:rPr>
              <a:t> </a:t>
            </a:r>
            <a:r>
              <a:rPr sz="1600" spc="-10" dirty="0">
                <a:solidFill>
                  <a:srgbClr val="1D1D1D"/>
                </a:solidFill>
                <a:latin typeface="Times New Roman"/>
                <a:cs typeface="Times New Roman"/>
              </a:rPr>
              <a:t>with</a:t>
            </a:r>
            <a:r>
              <a:rPr sz="1600" spc="20" dirty="0">
                <a:solidFill>
                  <a:srgbClr val="1D1D1D"/>
                </a:solidFill>
                <a:latin typeface="Times New Roman"/>
                <a:cs typeface="Times New Roman"/>
              </a:rPr>
              <a:t> </a:t>
            </a:r>
            <a:r>
              <a:rPr sz="1600" spc="-50" dirty="0">
                <a:solidFill>
                  <a:srgbClr val="1D1D1D"/>
                </a:solidFill>
                <a:latin typeface="Times New Roman"/>
                <a:cs typeface="Times New Roman"/>
              </a:rPr>
              <a:t>live</a:t>
            </a:r>
            <a:r>
              <a:rPr sz="1600" spc="5" dirty="0">
                <a:solidFill>
                  <a:srgbClr val="1D1D1D"/>
                </a:solidFill>
                <a:latin typeface="Times New Roman"/>
                <a:cs typeface="Times New Roman"/>
              </a:rPr>
              <a:t> </a:t>
            </a:r>
            <a:r>
              <a:rPr sz="1600" spc="-20" dirty="0">
                <a:solidFill>
                  <a:srgbClr val="1D1D1D"/>
                </a:solidFill>
                <a:latin typeface="Times New Roman"/>
                <a:cs typeface="Times New Roman"/>
              </a:rPr>
              <a:t>visualization.</a:t>
            </a:r>
            <a:endParaRPr sz="1600" dirty="0">
              <a:latin typeface="Times New Roman"/>
              <a:cs typeface="Times New Roman"/>
            </a:endParaRPr>
          </a:p>
          <a:p>
            <a:pPr>
              <a:spcBef>
                <a:spcPts val="90"/>
              </a:spcBef>
              <a:buFont typeface="Arial MT"/>
              <a:buChar char="•"/>
            </a:pPr>
            <a:endParaRPr sz="1600" dirty="0">
              <a:latin typeface="Times New Roman"/>
              <a:cs typeface="Times New Roman"/>
            </a:endParaRPr>
          </a:p>
          <a:p>
            <a:pPr marL="298450" indent="-285750">
              <a:buClr>
                <a:srgbClr val="000000"/>
              </a:buClr>
              <a:buFont typeface="Arial MT"/>
              <a:buChar char="•"/>
              <a:tabLst>
                <a:tab pos="298450" algn="l"/>
              </a:tabLst>
            </a:pPr>
            <a:r>
              <a:rPr sz="1600" spc="-20" dirty="0">
                <a:solidFill>
                  <a:srgbClr val="1D1D1D"/>
                </a:solidFill>
                <a:latin typeface="Times New Roman"/>
                <a:cs typeface="Times New Roman"/>
              </a:rPr>
              <a:t>Evaluate</a:t>
            </a:r>
            <a:r>
              <a:rPr sz="1600" spc="-70" dirty="0">
                <a:solidFill>
                  <a:srgbClr val="1D1D1D"/>
                </a:solidFill>
                <a:latin typeface="Times New Roman"/>
                <a:cs typeface="Times New Roman"/>
              </a:rPr>
              <a:t> </a:t>
            </a:r>
            <a:r>
              <a:rPr sz="1600" spc="-45" dirty="0">
                <a:solidFill>
                  <a:srgbClr val="1D1D1D"/>
                </a:solidFill>
                <a:latin typeface="Times New Roman"/>
                <a:cs typeface="Times New Roman"/>
              </a:rPr>
              <a:t>accuracy</a:t>
            </a:r>
            <a:r>
              <a:rPr sz="1600" spc="-10" dirty="0">
                <a:solidFill>
                  <a:srgbClr val="1D1D1D"/>
                </a:solidFill>
                <a:latin typeface="Times New Roman"/>
                <a:cs typeface="Times New Roman"/>
              </a:rPr>
              <a:t> </a:t>
            </a:r>
            <a:r>
              <a:rPr sz="1600" spc="-30" dirty="0">
                <a:solidFill>
                  <a:srgbClr val="1D1D1D"/>
                </a:solidFill>
                <a:latin typeface="Times New Roman"/>
                <a:cs typeface="Times New Roman"/>
              </a:rPr>
              <a:t>using</a:t>
            </a:r>
            <a:r>
              <a:rPr sz="1600" spc="-55" dirty="0">
                <a:solidFill>
                  <a:srgbClr val="1D1D1D"/>
                </a:solidFill>
                <a:latin typeface="Times New Roman"/>
                <a:cs typeface="Times New Roman"/>
              </a:rPr>
              <a:t> </a:t>
            </a:r>
            <a:r>
              <a:rPr sz="1600" spc="-10" dirty="0">
                <a:solidFill>
                  <a:srgbClr val="1D1D1D"/>
                </a:solidFill>
                <a:latin typeface="Times New Roman"/>
                <a:cs typeface="Times New Roman"/>
              </a:rPr>
              <a:t>MSE,</a:t>
            </a:r>
            <a:r>
              <a:rPr sz="1600" spc="-75" dirty="0">
                <a:solidFill>
                  <a:srgbClr val="1D1D1D"/>
                </a:solidFill>
                <a:latin typeface="Times New Roman"/>
                <a:cs typeface="Times New Roman"/>
              </a:rPr>
              <a:t> </a:t>
            </a:r>
            <a:r>
              <a:rPr sz="1600" dirty="0" smtClean="0">
                <a:solidFill>
                  <a:srgbClr val="1D1D1D"/>
                </a:solidFill>
                <a:latin typeface="Times New Roman"/>
                <a:cs typeface="Times New Roman"/>
              </a:rPr>
              <a:t>RMSE</a:t>
            </a:r>
            <a:r>
              <a:rPr sz="1600" spc="-5" dirty="0" smtClean="0">
                <a:solidFill>
                  <a:srgbClr val="1D1D1D"/>
                </a:solidFill>
                <a:latin typeface="Times New Roman"/>
                <a:cs typeface="Times New Roman"/>
              </a:rPr>
              <a:t> </a:t>
            </a:r>
            <a:r>
              <a:rPr sz="1600" dirty="0">
                <a:solidFill>
                  <a:srgbClr val="1D1D1D"/>
                </a:solidFill>
                <a:latin typeface="Times New Roman"/>
                <a:cs typeface="Times New Roman"/>
              </a:rPr>
              <a:t>and</a:t>
            </a:r>
            <a:r>
              <a:rPr sz="1600" spc="-45" dirty="0">
                <a:solidFill>
                  <a:srgbClr val="1D1D1D"/>
                </a:solidFill>
                <a:latin typeface="Times New Roman"/>
                <a:cs typeface="Times New Roman"/>
              </a:rPr>
              <a:t> </a:t>
            </a:r>
            <a:r>
              <a:rPr sz="1600" spc="-25" dirty="0">
                <a:solidFill>
                  <a:srgbClr val="1D1D1D"/>
                </a:solidFill>
                <a:latin typeface="Times New Roman"/>
                <a:cs typeface="Times New Roman"/>
              </a:rPr>
              <a:t>correlation</a:t>
            </a:r>
            <a:r>
              <a:rPr sz="1600" spc="-40" dirty="0">
                <a:solidFill>
                  <a:srgbClr val="1D1D1D"/>
                </a:solidFill>
                <a:latin typeface="Times New Roman"/>
                <a:cs typeface="Times New Roman"/>
              </a:rPr>
              <a:t> </a:t>
            </a:r>
            <a:r>
              <a:rPr sz="1600" spc="-10" dirty="0">
                <a:solidFill>
                  <a:srgbClr val="1D1D1D"/>
                </a:solidFill>
                <a:latin typeface="Times New Roman"/>
                <a:cs typeface="Times New Roman"/>
              </a:rPr>
              <a:t>metrics.</a:t>
            </a:r>
            <a:endParaRPr sz="1600" dirty="0">
              <a:latin typeface="Times New Roman"/>
              <a:cs typeface="Times New Roman"/>
            </a:endParaRPr>
          </a:p>
          <a:p>
            <a:pPr>
              <a:spcBef>
                <a:spcPts val="90"/>
              </a:spcBef>
              <a:buFont typeface="Arial MT"/>
              <a:buChar char="•"/>
            </a:pPr>
            <a:endParaRPr sz="1600" dirty="0">
              <a:latin typeface="Times New Roman"/>
              <a:cs typeface="Times New Roman"/>
            </a:endParaRPr>
          </a:p>
          <a:p>
            <a:pPr marL="298450" indent="-285750">
              <a:buClr>
                <a:srgbClr val="000000"/>
              </a:buClr>
              <a:buFont typeface="Arial MT"/>
              <a:buChar char="•"/>
              <a:tabLst>
                <a:tab pos="298450" algn="l"/>
              </a:tabLst>
            </a:pPr>
            <a:r>
              <a:rPr sz="1600" spc="-20" dirty="0">
                <a:solidFill>
                  <a:srgbClr val="1D1D1D"/>
                </a:solidFill>
                <a:latin typeface="Times New Roman"/>
                <a:cs typeface="Times New Roman"/>
              </a:rPr>
              <a:t>Provide</a:t>
            </a:r>
            <a:r>
              <a:rPr sz="1600" spc="-45" dirty="0">
                <a:solidFill>
                  <a:srgbClr val="1D1D1D"/>
                </a:solidFill>
                <a:latin typeface="Times New Roman"/>
                <a:cs typeface="Times New Roman"/>
              </a:rPr>
              <a:t> </a:t>
            </a:r>
            <a:r>
              <a:rPr sz="1600" dirty="0">
                <a:solidFill>
                  <a:srgbClr val="1D1D1D"/>
                </a:solidFill>
                <a:latin typeface="Times New Roman"/>
                <a:cs typeface="Times New Roman"/>
              </a:rPr>
              <a:t>a</a:t>
            </a:r>
            <a:r>
              <a:rPr sz="1600" spc="20" dirty="0">
                <a:solidFill>
                  <a:srgbClr val="1D1D1D"/>
                </a:solidFill>
                <a:latin typeface="Times New Roman"/>
                <a:cs typeface="Times New Roman"/>
              </a:rPr>
              <a:t> </a:t>
            </a:r>
            <a:r>
              <a:rPr sz="1600" dirty="0">
                <a:solidFill>
                  <a:srgbClr val="1D1D1D"/>
                </a:solidFill>
                <a:latin typeface="Times New Roman"/>
                <a:cs typeface="Times New Roman"/>
              </a:rPr>
              <a:t>decision-</a:t>
            </a:r>
            <a:r>
              <a:rPr sz="1600" spc="-10" dirty="0">
                <a:solidFill>
                  <a:srgbClr val="1D1D1D"/>
                </a:solidFill>
                <a:latin typeface="Times New Roman"/>
                <a:cs typeface="Times New Roman"/>
              </a:rPr>
              <a:t>support</a:t>
            </a:r>
            <a:r>
              <a:rPr sz="1600" spc="35" dirty="0">
                <a:solidFill>
                  <a:srgbClr val="1D1D1D"/>
                </a:solidFill>
                <a:latin typeface="Times New Roman"/>
                <a:cs typeface="Times New Roman"/>
              </a:rPr>
              <a:t> </a:t>
            </a:r>
            <a:r>
              <a:rPr sz="1600" dirty="0">
                <a:solidFill>
                  <a:srgbClr val="1D1D1D"/>
                </a:solidFill>
                <a:latin typeface="Times New Roman"/>
                <a:cs typeface="Times New Roman"/>
              </a:rPr>
              <a:t>tool</a:t>
            </a:r>
            <a:r>
              <a:rPr sz="1600" spc="-10" dirty="0">
                <a:solidFill>
                  <a:srgbClr val="1D1D1D"/>
                </a:solidFill>
                <a:latin typeface="Times New Roman"/>
                <a:cs typeface="Times New Roman"/>
              </a:rPr>
              <a:t> </a:t>
            </a:r>
            <a:r>
              <a:rPr sz="1600" dirty="0">
                <a:solidFill>
                  <a:srgbClr val="1D1D1D"/>
                </a:solidFill>
                <a:latin typeface="Times New Roman"/>
                <a:cs typeface="Times New Roman"/>
              </a:rPr>
              <a:t>for</a:t>
            </a:r>
            <a:r>
              <a:rPr sz="1600" spc="-70" dirty="0">
                <a:solidFill>
                  <a:srgbClr val="1D1D1D"/>
                </a:solidFill>
                <a:latin typeface="Times New Roman"/>
                <a:cs typeface="Times New Roman"/>
              </a:rPr>
              <a:t> </a:t>
            </a:r>
            <a:r>
              <a:rPr sz="1600" spc="-20" dirty="0">
                <a:solidFill>
                  <a:srgbClr val="1D1D1D"/>
                </a:solidFill>
                <a:latin typeface="Times New Roman"/>
                <a:cs typeface="Times New Roman"/>
              </a:rPr>
              <a:t>investors</a:t>
            </a:r>
            <a:r>
              <a:rPr sz="1600" spc="-40" dirty="0">
                <a:solidFill>
                  <a:srgbClr val="1D1D1D"/>
                </a:solidFill>
                <a:latin typeface="Times New Roman"/>
                <a:cs typeface="Times New Roman"/>
              </a:rPr>
              <a:t> </a:t>
            </a:r>
            <a:r>
              <a:rPr sz="1600" dirty="0">
                <a:solidFill>
                  <a:srgbClr val="1D1D1D"/>
                </a:solidFill>
                <a:latin typeface="Times New Roman"/>
                <a:cs typeface="Times New Roman"/>
              </a:rPr>
              <a:t>and</a:t>
            </a:r>
            <a:r>
              <a:rPr sz="1600" spc="-15" dirty="0">
                <a:solidFill>
                  <a:srgbClr val="1D1D1D"/>
                </a:solidFill>
                <a:latin typeface="Times New Roman"/>
                <a:cs typeface="Times New Roman"/>
              </a:rPr>
              <a:t> </a:t>
            </a:r>
            <a:r>
              <a:rPr sz="1600" spc="-10" dirty="0">
                <a:solidFill>
                  <a:srgbClr val="1D1D1D"/>
                </a:solidFill>
                <a:latin typeface="Times New Roman"/>
                <a:cs typeface="Times New Roman"/>
              </a:rPr>
              <a:t>analysts.</a:t>
            </a:r>
            <a:endParaRPr sz="1600" dirty="0">
              <a:latin typeface="Times New Roman"/>
              <a:cs typeface="Times New Roman"/>
            </a:endParaRPr>
          </a:p>
        </p:txBody>
      </p:sp>
      <p:sp>
        <p:nvSpPr>
          <p:cNvPr id="8" name="Footer Placeholder 7">
            <a:extLst>
              <a:ext uri="{FF2B5EF4-FFF2-40B4-BE49-F238E27FC236}">
                <a16:creationId xmlns="" xmlns:a16="http://schemas.microsoft.com/office/drawing/2014/main" id="{27A40BA5-4C00-D0E4-C26B-518B2DDB9C77}"/>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4BE58B8-534A-537B-29E3-DE049F5302E3}"/>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20489248-ED69-A148-9F67-A4C2BBECAAB0}"/>
              </a:ext>
            </a:extLst>
          </p:cNvPr>
          <p:cNvGrpSpPr/>
          <p:nvPr/>
        </p:nvGrpSpPr>
        <p:grpSpPr>
          <a:xfrm>
            <a:off x="0" y="4112"/>
            <a:ext cx="9144000" cy="805591"/>
            <a:chOff x="0" y="0"/>
            <a:chExt cx="9144000" cy="748030"/>
          </a:xfrm>
        </p:grpSpPr>
        <p:pic>
          <p:nvPicPr>
            <p:cNvPr id="3" name="object 3">
              <a:extLst>
                <a:ext uri="{FF2B5EF4-FFF2-40B4-BE49-F238E27FC236}">
                  <a16:creationId xmlns="" xmlns:a16="http://schemas.microsoft.com/office/drawing/2014/main" id="{CDB4E3C8-00EB-D1FB-5232-3E1F81D5425A}"/>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7428A9B5-611F-FFBE-A18F-A487A053DA85}"/>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A355C398-B421-4E77-685A-3E32C7C01A95}"/>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8DAF99EF-1416-1928-0914-79C42CDB0E96}"/>
              </a:ext>
            </a:extLst>
          </p:cNvPr>
          <p:cNvSpPr txBox="1">
            <a:spLocks noGrp="1"/>
          </p:cNvSpPr>
          <p:nvPr>
            <p:ph type="title"/>
          </p:nvPr>
        </p:nvSpPr>
        <p:spPr>
          <a:xfrm>
            <a:off x="878791" y="4207"/>
            <a:ext cx="7534431" cy="1236108"/>
          </a:xfrm>
          <a:prstGeom prst="rect">
            <a:avLst/>
          </a:prstGeom>
        </p:spPr>
        <p:txBody>
          <a:bodyPr vert="horz" wrap="square" lIns="0" tIns="114173" rIns="0" bIns="0" rtlCol="0" anchor="t">
            <a:spAutoFit/>
          </a:bodyPr>
          <a:lstStyle/>
          <a:p>
            <a:pPr algn="ctr"/>
            <a:r>
              <a:rPr lang="en-US" sz="3600" spc="-10"/>
              <a:t>Research Objectives achieved in Sem-I</a:t>
            </a:r>
            <a:endParaRPr lang="en-US" sz="3600"/>
          </a:p>
          <a:p>
            <a:pPr marL="1830070">
              <a:lnSpc>
                <a:spcPct val="100000"/>
              </a:lnSpc>
              <a:spcBef>
                <a:spcPts val="100"/>
              </a:spcBef>
            </a:pPr>
            <a:endParaRPr lang="en-US" sz="3600" spc="-10"/>
          </a:p>
        </p:txBody>
      </p:sp>
      <p:sp>
        <p:nvSpPr>
          <p:cNvPr id="9" name="object 9">
            <a:extLst>
              <a:ext uri="{FF2B5EF4-FFF2-40B4-BE49-F238E27FC236}">
                <a16:creationId xmlns="" xmlns:a16="http://schemas.microsoft.com/office/drawing/2014/main" id="{75DF0F89-3FD9-436E-1BCB-D3ADE004A671}"/>
              </a:ext>
            </a:extLst>
          </p:cNvPr>
          <p:cNvSpPr txBox="1">
            <a:spLocks noGrp="1"/>
          </p:cNvSpPr>
          <p:nvPr>
            <p:ph type="dt" sz="half" idx="6"/>
          </p:nvPr>
        </p:nvSpPr>
        <p:spPr>
          <a:xfrm>
            <a:off x="3918839" y="4942011"/>
            <a:ext cx="1567561"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AI&amp;DS-</a:t>
            </a:r>
            <a:r>
              <a:rPr spc="-105" dirty="0" smtClean="0"/>
              <a:t>Department</a:t>
            </a:r>
            <a:endParaRPr spc="-105" dirty="0"/>
          </a:p>
        </p:txBody>
      </p:sp>
      <p:sp>
        <p:nvSpPr>
          <p:cNvPr id="10" name="object 10">
            <a:extLst>
              <a:ext uri="{FF2B5EF4-FFF2-40B4-BE49-F238E27FC236}">
                <a16:creationId xmlns="" xmlns:a16="http://schemas.microsoft.com/office/drawing/2014/main" id="{14BEEB58-B9D9-6D13-E7C7-CC6CC357CF1E}"/>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B1D13A7E-AB72-7A16-CE01-176531B1E223}"/>
              </a:ext>
            </a:extLst>
          </p:cNvPr>
          <p:cNvSpPr txBox="1"/>
          <p:nvPr/>
        </p:nvSpPr>
        <p:spPr>
          <a:xfrm>
            <a:off x="660938" y="1241349"/>
            <a:ext cx="8264301" cy="2526974"/>
          </a:xfrm>
          <a:prstGeom prst="rect">
            <a:avLst/>
          </a:prstGeom>
        </p:spPr>
        <p:txBody>
          <a:bodyPr vert="horz" wrap="square" lIns="0" tIns="15875" rIns="0" bIns="0" rtlCol="0" anchor="t">
            <a:spAutoFit/>
          </a:bodyPr>
          <a:lstStyle/>
          <a:p>
            <a:pPr marL="285750" indent="-285750" algn="l">
              <a:lnSpc>
                <a:spcPct val="150000"/>
              </a:lnSpc>
              <a:buClr>
                <a:srgbClr val="000000"/>
              </a:buClr>
              <a:buFont typeface="Arial"/>
              <a:buChar char="•"/>
              <a:tabLst>
                <a:tab pos="298450" algn="l"/>
              </a:tabLst>
            </a:pPr>
            <a:r>
              <a:rPr lang="en-US" spc="-10" dirty="0">
                <a:solidFill>
                  <a:srgbClr val="1D1D1D"/>
                </a:solidFill>
                <a:latin typeface="Times New Roman"/>
                <a:cs typeface="Times New Roman"/>
              </a:rPr>
              <a:t>Studied existing stock price prediction methods and performed literature review. </a:t>
            </a:r>
            <a:endParaRPr lang="en-US" dirty="0"/>
          </a:p>
          <a:p>
            <a:pPr marL="285750" indent="-285750" algn="l">
              <a:lnSpc>
                <a:spcPct val="150000"/>
              </a:lnSpc>
              <a:spcBef>
                <a:spcPts val="125"/>
              </a:spcBef>
              <a:buFont typeface="Arial"/>
              <a:buChar char="•"/>
              <a:tabLst>
                <a:tab pos="298450" algn="l"/>
              </a:tabLst>
            </a:pPr>
            <a:r>
              <a:rPr lang="en-US" spc="-10" dirty="0">
                <a:solidFill>
                  <a:srgbClr val="1D1D1D"/>
                </a:solidFill>
                <a:latin typeface="Times New Roman"/>
                <a:cs typeface="Times New Roman"/>
              </a:rPr>
              <a:t>Collected historical stock market data using financial APIs (like Yahoo Finance). </a:t>
            </a:r>
            <a:endParaRPr lang="en-US" dirty="0">
              <a:latin typeface="Times New Roman"/>
              <a:cs typeface="Times New Roman"/>
            </a:endParaRPr>
          </a:p>
          <a:p>
            <a:pPr marL="285750" indent="-285750" algn="l">
              <a:lnSpc>
                <a:spcPct val="150000"/>
              </a:lnSpc>
              <a:spcBef>
                <a:spcPts val="125"/>
              </a:spcBef>
              <a:buFont typeface="Arial"/>
              <a:buChar char="•"/>
              <a:tabLst>
                <a:tab pos="298450" algn="l"/>
              </a:tabLst>
            </a:pPr>
            <a:r>
              <a:rPr lang="en-US" spc="-10" dirty="0">
                <a:solidFill>
                  <a:srgbClr val="1D1D1D"/>
                </a:solidFill>
                <a:latin typeface="Times New Roman"/>
                <a:cs typeface="Times New Roman"/>
              </a:rPr>
              <a:t>Performed data preprocessing and exploratory data analysis on stock datasets. </a:t>
            </a:r>
            <a:endParaRPr lang="en-US" dirty="0">
              <a:latin typeface="Times New Roman"/>
              <a:cs typeface="Times New Roman"/>
            </a:endParaRPr>
          </a:p>
          <a:p>
            <a:pPr marL="285750" indent="-285750" algn="l">
              <a:lnSpc>
                <a:spcPct val="150000"/>
              </a:lnSpc>
              <a:spcBef>
                <a:spcPts val="125"/>
              </a:spcBef>
              <a:buFont typeface="Arial"/>
              <a:buChar char="•"/>
              <a:tabLst>
                <a:tab pos="298450" algn="l"/>
              </a:tabLst>
            </a:pPr>
            <a:r>
              <a:rPr lang="en-US" spc="-10" dirty="0">
                <a:solidFill>
                  <a:srgbClr val="1D1D1D"/>
                </a:solidFill>
                <a:latin typeface="Times New Roman"/>
                <a:cs typeface="Times New Roman"/>
              </a:rPr>
              <a:t>Selected suitable machine learning algorithms for stock trend prediction. </a:t>
            </a:r>
            <a:endParaRPr lang="en-US" dirty="0">
              <a:latin typeface="Times New Roman"/>
              <a:cs typeface="Times New Roman"/>
            </a:endParaRPr>
          </a:p>
          <a:p>
            <a:pPr marL="285750" indent="-285750" algn="l">
              <a:lnSpc>
                <a:spcPct val="150000"/>
              </a:lnSpc>
              <a:spcBef>
                <a:spcPts val="125"/>
              </a:spcBef>
              <a:buFont typeface="Arial"/>
              <a:buChar char="•"/>
              <a:tabLst>
                <a:tab pos="298450" algn="l"/>
              </a:tabLst>
            </a:pPr>
            <a:r>
              <a:rPr lang="en-US" spc="-10" dirty="0">
                <a:solidFill>
                  <a:srgbClr val="1D1D1D"/>
                </a:solidFill>
                <a:latin typeface="Times New Roman"/>
                <a:cs typeface="Times New Roman"/>
              </a:rPr>
              <a:t>Designed the system architecture for prediction and sentiment analysis modules. </a:t>
            </a:r>
            <a:endParaRPr lang="en-US" dirty="0">
              <a:latin typeface="Times New Roman"/>
              <a:cs typeface="Times New Roman"/>
            </a:endParaRPr>
          </a:p>
          <a:p>
            <a:pPr marL="298450" indent="-285750">
              <a:lnSpc>
                <a:spcPct val="150000"/>
              </a:lnSpc>
              <a:spcBef>
                <a:spcPts val="125"/>
              </a:spcBef>
              <a:buClr>
                <a:srgbClr val="000000"/>
              </a:buClr>
              <a:buFont typeface="Arial"/>
              <a:buChar char="•"/>
              <a:tabLst>
                <a:tab pos="298450" algn="l"/>
              </a:tabLst>
            </a:pPr>
            <a:endParaRPr lang="en-US" sz="1600" spc="-10" dirty="0">
              <a:solidFill>
                <a:srgbClr val="1D1D1D"/>
              </a:solidFill>
              <a:latin typeface="Times New Roman"/>
              <a:cs typeface="Times New Roman"/>
            </a:endParaRPr>
          </a:p>
        </p:txBody>
      </p:sp>
      <p:sp>
        <p:nvSpPr>
          <p:cNvPr id="8" name="Footer Placeholder 7">
            <a:extLst>
              <a:ext uri="{FF2B5EF4-FFF2-40B4-BE49-F238E27FC236}">
                <a16:creationId xmlns="" xmlns:a16="http://schemas.microsoft.com/office/drawing/2014/main" id="{F0D5DD91-F4E6-A31B-A09A-0C7D2C8FE16E}"/>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3780605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ACCF0B3-3BF8-4E30-15E1-0EAB27B22814}"/>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2280A157-4082-4618-C6FC-54A68B422896}"/>
              </a:ext>
            </a:extLst>
          </p:cNvPr>
          <p:cNvGrpSpPr/>
          <p:nvPr/>
        </p:nvGrpSpPr>
        <p:grpSpPr>
          <a:xfrm>
            <a:off x="0" y="4112"/>
            <a:ext cx="9144000" cy="813814"/>
            <a:chOff x="0" y="0"/>
            <a:chExt cx="9144000" cy="748030"/>
          </a:xfrm>
        </p:grpSpPr>
        <p:pic>
          <p:nvPicPr>
            <p:cNvPr id="3" name="object 3">
              <a:extLst>
                <a:ext uri="{FF2B5EF4-FFF2-40B4-BE49-F238E27FC236}">
                  <a16:creationId xmlns="" xmlns:a16="http://schemas.microsoft.com/office/drawing/2014/main" id="{A24C46DE-574C-9A92-C293-A794378D2A9A}"/>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7059E00A-A4E9-F33C-7C6B-9A9444015F9E}"/>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2A26610F-C53F-C49F-24BE-05179289824B}"/>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8FA7768F-C3C1-14D3-8616-734638493697}"/>
              </a:ext>
            </a:extLst>
          </p:cNvPr>
          <p:cNvSpPr txBox="1">
            <a:spLocks noGrp="1"/>
          </p:cNvSpPr>
          <p:nvPr>
            <p:ph type="title"/>
          </p:nvPr>
        </p:nvSpPr>
        <p:spPr>
          <a:xfrm>
            <a:off x="642233" y="-3599"/>
            <a:ext cx="8233387" cy="1256665"/>
          </a:xfrm>
          <a:prstGeom prst="rect">
            <a:avLst/>
          </a:prstGeom>
        </p:spPr>
        <p:txBody>
          <a:bodyPr vert="horz" wrap="square" lIns="0" tIns="114173" rIns="0" bIns="0" rtlCol="0" anchor="t">
            <a:spAutoFit/>
          </a:bodyPr>
          <a:lstStyle/>
          <a:p>
            <a:pPr algn="ctr"/>
            <a:r>
              <a:rPr lang="en-US" sz="3600" spc="-10" dirty="0"/>
              <a:t>Research Objectives achieved in </a:t>
            </a:r>
            <a:r>
              <a:rPr lang="en-US" sz="3600" spc="-10" dirty="0" err="1"/>
              <a:t>Sem</a:t>
            </a:r>
            <a:r>
              <a:rPr lang="en-US" sz="3600" spc="-10" dirty="0"/>
              <a:t>-II</a:t>
            </a:r>
            <a:endParaRPr lang="en-US" sz="3600" dirty="0"/>
          </a:p>
          <a:p>
            <a:pPr marL="1830070">
              <a:lnSpc>
                <a:spcPct val="100000"/>
              </a:lnSpc>
              <a:spcBef>
                <a:spcPts val="100"/>
              </a:spcBef>
            </a:pPr>
            <a:endParaRPr lang="en-US" sz="3600" spc="-10" dirty="0"/>
          </a:p>
        </p:txBody>
      </p:sp>
      <p:sp>
        <p:nvSpPr>
          <p:cNvPr id="9" name="object 9">
            <a:extLst>
              <a:ext uri="{FF2B5EF4-FFF2-40B4-BE49-F238E27FC236}">
                <a16:creationId xmlns="" xmlns:a16="http://schemas.microsoft.com/office/drawing/2014/main" id="{C8CCCDE6-6F54-5CE8-AAB9-42624396BF96}"/>
              </a:ext>
            </a:extLst>
          </p:cNvPr>
          <p:cNvSpPr txBox="1">
            <a:spLocks noGrp="1"/>
          </p:cNvSpPr>
          <p:nvPr>
            <p:ph type="dt" sz="half" idx="6"/>
          </p:nvPr>
        </p:nvSpPr>
        <p:spPr>
          <a:xfrm>
            <a:off x="3918839" y="4942011"/>
            <a:ext cx="1664928"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a:t>
            </a:r>
            <a:r>
              <a:rPr lang="en-US" spc="-130" dirty="0" smtClean="0"/>
              <a:t>S</a:t>
            </a:r>
            <a:r>
              <a:rPr spc="-130" dirty="0" smtClean="0"/>
              <a:t>-</a:t>
            </a:r>
            <a:r>
              <a:rPr spc="-105" dirty="0" smtClean="0"/>
              <a:t>Department</a:t>
            </a:r>
            <a:endParaRPr spc="-105" dirty="0"/>
          </a:p>
        </p:txBody>
      </p:sp>
      <p:sp>
        <p:nvSpPr>
          <p:cNvPr id="10" name="object 10">
            <a:extLst>
              <a:ext uri="{FF2B5EF4-FFF2-40B4-BE49-F238E27FC236}">
                <a16:creationId xmlns="" xmlns:a16="http://schemas.microsoft.com/office/drawing/2014/main" id="{06F8B54C-E63B-AAFE-AC4C-669856C645F0}"/>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35B67B73-1E5D-7BA5-3E08-882531853C38}"/>
              </a:ext>
            </a:extLst>
          </p:cNvPr>
          <p:cNvSpPr txBox="1"/>
          <p:nvPr/>
        </p:nvSpPr>
        <p:spPr>
          <a:xfrm>
            <a:off x="637329" y="1261908"/>
            <a:ext cx="7972382" cy="2509020"/>
          </a:xfrm>
          <a:prstGeom prst="rect">
            <a:avLst/>
          </a:prstGeom>
        </p:spPr>
        <p:txBody>
          <a:bodyPr vert="horz" wrap="square" lIns="0" tIns="15875" rIns="0" bIns="0" rtlCol="0" anchor="t">
            <a:spAutoFit/>
          </a:bodyPr>
          <a:lstStyle/>
          <a:p>
            <a:pPr marL="285750" indent="-285750" algn="l">
              <a:lnSpc>
                <a:spcPct val="150000"/>
              </a:lnSpc>
              <a:buClr>
                <a:srgbClr val="000000"/>
              </a:buClr>
              <a:buFont typeface="Arial" pitchFamily="34" charset="0"/>
              <a:buChar char="•"/>
              <a:tabLst>
                <a:tab pos="298450" algn="l"/>
              </a:tabLst>
            </a:pPr>
            <a:r>
              <a:rPr lang="en-US" dirty="0" smtClean="0">
                <a:latin typeface="Times New Roman" pitchFamily="18" charset="0"/>
                <a:cs typeface="Times New Roman" pitchFamily="18" charset="0"/>
              </a:rPr>
              <a:t>Developed the stock price prediction model using Machine Learning. </a:t>
            </a:r>
          </a:p>
          <a:p>
            <a:pPr marL="285750" indent="-285750" algn="l">
              <a:lnSpc>
                <a:spcPct val="150000"/>
              </a:lnSpc>
              <a:buClr>
                <a:srgbClr val="000000"/>
              </a:buClr>
              <a:buFont typeface="Arial" pitchFamily="34" charset="0"/>
              <a:buChar char="•"/>
              <a:tabLst>
                <a:tab pos="298450" algn="l"/>
              </a:tabLst>
            </a:pPr>
            <a:r>
              <a:rPr lang="en-US" dirty="0" smtClean="0">
                <a:latin typeface="Times New Roman" pitchFamily="18" charset="0"/>
                <a:cs typeface="Times New Roman" pitchFamily="18" charset="0"/>
              </a:rPr>
              <a:t>Implemented sentiment analysis for financial news classification.</a:t>
            </a:r>
          </a:p>
          <a:p>
            <a:pPr marL="285750" indent="-285750" algn="l">
              <a:lnSpc>
                <a:spcPct val="150000"/>
              </a:lnSpc>
              <a:buClr>
                <a:srgbClr val="000000"/>
              </a:buClr>
              <a:buFont typeface="Arial" pitchFamily="34" charset="0"/>
              <a:buChar char="•"/>
              <a:tabLst>
                <a:tab pos="298450" algn="l"/>
              </a:tabLst>
            </a:pPr>
            <a:r>
              <a:rPr lang="en-US" dirty="0" smtClean="0">
                <a:latin typeface="Times New Roman" pitchFamily="18" charset="0"/>
                <a:cs typeface="Times New Roman" pitchFamily="18" charset="0"/>
              </a:rPr>
              <a:t> Classified news into Positive, Negative and Neutral categories. </a:t>
            </a:r>
          </a:p>
          <a:p>
            <a:pPr marL="285750" indent="-285750" algn="l">
              <a:lnSpc>
                <a:spcPct val="150000"/>
              </a:lnSpc>
              <a:buClr>
                <a:srgbClr val="000000"/>
              </a:buClr>
              <a:buFont typeface="Arial" pitchFamily="34" charset="0"/>
              <a:buChar char="•"/>
              <a:tabLst>
                <a:tab pos="298450" algn="l"/>
              </a:tabLst>
            </a:pPr>
            <a:r>
              <a:rPr lang="en-US" dirty="0" smtClean="0">
                <a:latin typeface="Times New Roman" pitchFamily="18" charset="0"/>
                <a:cs typeface="Times New Roman" pitchFamily="18" charset="0"/>
              </a:rPr>
              <a:t>Integrated prediction and sentiment modules into a </a:t>
            </a:r>
            <a:r>
              <a:rPr lang="en-US" dirty="0" err="1" smtClean="0">
                <a:latin typeface="Times New Roman" pitchFamily="18" charset="0"/>
                <a:cs typeface="Times New Roman" pitchFamily="18" charset="0"/>
              </a:rPr>
              <a:t>Streamlit</a:t>
            </a:r>
            <a:r>
              <a:rPr lang="en-US" dirty="0" smtClean="0">
                <a:latin typeface="Times New Roman" pitchFamily="18" charset="0"/>
                <a:cs typeface="Times New Roman" pitchFamily="18" charset="0"/>
              </a:rPr>
              <a:t>.</a:t>
            </a:r>
          </a:p>
          <a:p>
            <a:pPr marL="285750" indent="-285750" algn="l">
              <a:lnSpc>
                <a:spcPct val="150000"/>
              </a:lnSpc>
              <a:buClr>
                <a:srgbClr val="000000"/>
              </a:buClr>
              <a:buFont typeface="Arial" pitchFamily="34" charset="0"/>
              <a:buChar char="•"/>
              <a:tabLst>
                <a:tab pos="298450" algn="l"/>
              </a:tabLst>
            </a:pPr>
            <a:r>
              <a:rPr lang="en-US" dirty="0" smtClean="0">
                <a:latin typeface="Times New Roman" pitchFamily="18" charset="0"/>
                <a:cs typeface="Times New Roman" pitchFamily="18" charset="0"/>
              </a:rPr>
              <a:t> Performed system testing and accuracy evaluation. Completed model integration and deployment.</a:t>
            </a:r>
            <a:endParaRPr lang="en-US" dirty="0">
              <a:latin typeface="Times New Roman" pitchFamily="18" charset="0"/>
              <a:cs typeface="Times New Roman" pitchFamily="18" charset="0"/>
            </a:endParaRPr>
          </a:p>
        </p:txBody>
      </p:sp>
      <p:sp>
        <p:nvSpPr>
          <p:cNvPr id="8" name="Footer Placeholder 7">
            <a:extLst>
              <a:ext uri="{FF2B5EF4-FFF2-40B4-BE49-F238E27FC236}">
                <a16:creationId xmlns="" xmlns:a16="http://schemas.microsoft.com/office/drawing/2014/main" id="{E545CBF8-37CD-12E5-7698-457ED52928C1}"/>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316373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6446"/>
            <a:ext cx="9144000" cy="748030"/>
            <a:chOff x="0" y="0"/>
            <a:chExt cx="9144000" cy="748030"/>
          </a:xfrm>
        </p:grpSpPr>
        <p:pic>
          <p:nvPicPr>
            <p:cNvPr id="3" name="object 3"/>
            <p:cNvPicPr/>
            <p:nvPr/>
          </p:nvPicPr>
          <p:blipFill>
            <a:blip r:embed="rId2" cstate="print"/>
            <a:stretch>
              <a:fillRect/>
            </a:stretch>
          </p:blipFill>
          <p:spPr>
            <a:xfrm>
              <a:off x="0" y="0"/>
              <a:ext cx="9144000" cy="681356"/>
            </a:xfrm>
            <a:prstGeom prst="rect">
              <a:avLst/>
            </a:prstGeom>
          </p:spPr>
        </p:pic>
        <p:pic>
          <p:nvPicPr>
            <p:cNvPr id="4" name="object 4"/>
            <p:cNvPicPr/>
            <p:nvPr/>
          </p:nvPicPr>
          <p:blipFill>
            <a:blip r:embed="rId3" cstate="print"/>
            <a:stretch>
              <a:fillRect/>
            </a:stretch>
          </p:blipFill>
          <p:spPr>
            <a:xfrm>
              <a:off x="3505200" y="9461"/>
              <a:ext cx="2119376" cy="738187"/>
            </a:xfrm>
            <a:prstGeom prst="rect">
              <a:avLst/>
            </a:prstGeom>
          </p:spPr>
        </p:pic>
        <p:pic>
          <p:nvPicPr>
            <p:cNvPr id="5" name="object 5"/>
            <p:cNvPicPr/>
            <p:nvPr/>
          </p:nvPicPr>
          <p:blipFill>
            <a:blip r:embed="rId4" cstate="print"/>
            <a:stretch>
              <a:fillRect/>
            </a:stretch>
          </p:blipFill>
          <p:spPr>
            <a:xfrm>
              <a:off x="0" y="0"/>
              <a:ext cx="9144000" cy="628650"/>
            </a:xfrm>
            <a:prstGeom prst="rect">
              <a:avLst/>
            </a:prstGeom>
          </p:spPr>
        </p:pic>
      </p:grpSp>
      <p:sp>
        <p:nvSpPr>
          <p:cNvPr id="6" name="object 6"/>
          <p:cNvSpPr txBox="1">
            <a:spLocks noGrp="1"/>
          </p:cNvSpPr>
          <p:nvPr>
            <p:ph type="title"/>
          </p:nvPr>
        </p:nvSpPr>
        <p:spPr>
          <a:xfrm>
            <a:off x="2728105" y="-108499"/>
            <a:ext cx="5881606" cy="1051442"/>
          </a:xfrm>
          <a:prstGeom prst="rect">
            <a:avLst/>
          </a:prstGeom>
        </p:spPr>
        <p:txBody>
          <a:bodyPr vert="horz" wrap="square" lIns="0" tIns="114173" rIns="0" bIns="0" rtlCol="0" anchor="t">
            <a:spAutoFit/>
          </a:bodyPr>
          <a:lstStyle/>
          <a:p>
            <a:pPr marL="342900" indent="-342900" algn="l"/>
            <a:r>
              <a:rPr lang="en-US" sz="3600" spc="-35" dirty="0">
                <a:ea typeface="Calibri"/>
              </a:rPr>
              <a:t> Existing Systems</a:t>
            </a:r>
          </a:p>
          <a:p>
            <a:pPr marL="1824355">
              <a:lnSpc>
                <a:spcPct val="100000"/>
              </a:lnSpc>
              <a:spcBef>
                <a:spcPts val="100"/>
              </a:spcBef>
            </a:pPr>
            <a:endParaRPr spc="-35" dirty="0"/>
          </a:p>
        </p:txBody>
      </p:sp>
      <p:sp>
        <p:nvSpPr>
          <p:cNvPr id="9" name="object 9"/>
          <p:cNvSpPr txBox="1">
            <a:spLocks noGrp="1"/>
          </p:cNvSpPr>
          <p:nvPr>
            <p:ph type="dt" sz="half" idx="6"/>
          </p:nvPr>
        </p:nvSpPr>
        <p:spPr>
          <a:xfrm>
            <a:off x="3918839" y="4942011"/>
            <a:ext cx="2084028"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AI&amp;DS-</a:t>
            </a:r>
            <a:r>
              <a:rPr spc="-105" dirty="0" smtClean="0"/>
              <a:t>Department</a:t>
            </a:r>
            <a:endParaRPr spc="-105" dirty="0"/>
          </a:p>
        </p:txBody>
      </p:sp>
      <p:sp>
        <p:nvSpPr>
          <p:cNvPr id="10" name="object 10"/>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p:cNvSpPr txBox="1"/>
          <p:nvPr/>
        </p:nvSpPr>
        <p:spPr>
          <a:xfrm>
            <a:off x="267057" y="909754"/>
            <a:ext cx="8876943" cy="3205365"/>
          </a:xfrm>
          <a:prstGeom prst="rect">
            <a:avLst/>
          </a:prstGeom>
        </p:spPr>
        <p:txBody>
          <a:bodyPr vert="horz" wrap="square" lIns="0" tIns="12065" rIns="0" bIns="0" rtlCol="0" anchor="ctr">
            <a:spAutoFit/>
          </a:bodyPr>
          <a:lstStyle/>
          <a:p>
            <a:pPr algn="l">
              <a:lnSpc>
                <a:spcPct val="150000"/>
              </a:lnSpc>
              <a:buClr>
                <a:srgbClr val="000000"/>
              </a:buClr>
              <a:tabLst>
                <a:tab pos="298450" algn="l"/>
              </a:tabLst>
            </a:pPr>
            <a:r>
              <a:rPr lang="en-US" sz="1500" spc="-10" dirty="0" smtClean="0">
                <a:solidFill>
                  <a:srgbClr val="1D1D1D"/>
                </a:solidFill>
                <a:latin typeface="Times New Roman"/>
                <a:cs typeface="Times New Roman"/>
              </a:rPr>
              <a:t>      Most </a:t>
            </a:r>
            <a:r>
              <a:rPr lang="en-US" sz="1500" spc="-10" dirty="0">
                <a:solidFill>
                  <a:srgbClr val="1D1D1D"/>
                </a:solidFill>
                <a:latin typeface="Times New Roman"/>
                <a:cs typeface="Times New Roman"/>
              </a:rPr>
              <a:t>existing approaches</a:t>
            </a:r>
            <a:r>
              <a:rPr lang="en-US" sz="1500" spc="-10" dirty="0" smtClean="0">
                <a:solidFill>
                  <a:srgbClr val="1D1D1D"/>
                </a:solidFill>
                <a:latin typeface="Times New Roman"/>
                <a:cs typeface="Times New Roman"/>
              </a:rPr>
              <a:t>:</a:t>
            </a:r>
            <a:endParaRPr lang="en-US" dirty="0">
              <a:latin typeface="Times New Roman"/>
              <a:cs typeface="Times New Roman"/>
            </a:endParaRPr>
          </a:p>
          <a:p>
            <a:pPr marL="298450" marR="20320" indent="-285750">
              <a:lnSpc>
                <a:spcPct val="200000"/>
              </a:lnSpc>
              <a:spcBef>
                <a:spcPts val="95"/>
              </a:spcBef>
              <a:buClr>
                <a:srgbClr val="000000"/>
              </a:buClr>
              <a:buFont typeface="Arial"/>
              <a:buChar char="•"/>
              <a:tabLst>
                <a:tab pos="298450" algn="l"/>
              </a:tabLst>
            </a:pPr>
            <a:r>
              <a:rPr lang="en-US" sz="1500" spc="-10" dirty="0" smtClean="0">
                <a:solidFill>
                  <a:srgbClr val="1D1D1D"/>
                </a:solidFill>
                <a:latin typeface="Times New Roman"/>
                <a:cs typeface="Times New Roman"/>
              </a:rPr>
              <a:t>Use only historical stock price data for prediction.</a:t>
            </a:r>
          </a:p>
          <a:p>
            <a:pPr marL="298450" marR="20320" indent="-285750">
              <a:lnSpc>
                <a:spcPct val="200000"/>
              </a:lnSpc>
              <a:spcBef>
                <a:spcPts val="95"/>
              </a:spcBef>
              <a:buClr>
                <a:srgbClr val="000000"/>
              </a:buClr>
              <a:buFont typeface="Arial"/>
              <a:buChar char="•"/>
              <a:tabLst>
                <a:tab pos="298450" algn="l"/>
              </a:tabLst>
            </a:pPr>
            <a:r>
              <a:rPr lang="en-US" sz="1500" spc="-10" dirty="0" smtClean="0">
                <a:solidFill>
                  <a:srgbClr val="1D1D1D"/>
                </a:solidFill>
                <a:latin typeface="Times New Roman"/>
                <a:cs typeface="Times New Roman"/>
              </a:rPr>
              <a:t>Rely on models like Linear Regression and basic Machine Learning.</a:t>
            </a:r>
          </a:p>
          <a:p>
            <a:pPr marL="298450" marR="20320" indent="-285750">
              <a:lnSpc>
                <a:spcPct val="200000"/>
              </a:lnSpc>
              <a:spcBef>
                <a:spcPts val="95"/>
              </a:spcBef>
              <a:buClr>
                <a:srgbClr val="000000"/>
              </a:buClr>
              <a:buFont typeface="Arial"/>
              <a:buChar char="•"/>
              <a:tabLst>
                <a:tab pos="298450" algn="l"/>
              </a:tabLst>
            </a:pPr>
            <a:r>
              <a:rPr lang="en-US" sz="1500" spc="-10" dirty="0" smtClean="0">
                <a:solidFill>
                  <a:srgbClr val="1D1D1D"/>
                </a:solidFill>
                <a:latin typeface="Times New Roman"/>
                <a:cs typeface="Times New Roman"/>
              </a:rPr>
              <a:t>Do not consider real-time news or market sentiment.</a:t>
            </a:r>
          </a:p>
          <a:p>
            <a:pPr marL="298450" marR="20320" indent="-285750">
              <a:lnSpc>
                <a:spcPct val="200000"/>
              </a:lnSpc>
              <a:spcBef>
                <a:spcPts val="95"/>
              </a:spcBef>
              <a:buClr>
                <a:srgbClr val="000000"/>
              </a:buClr>
              <a:buFont typeface="Arial"/>
              <a:buChar char="•"/>
              <a:tabLst>
                <a:tab pos="298450" algn="l"/>
              </a:tabLst>
            </a:pPr>
            <a:r>
              <a:rPr lang="en-US" sz="1500" spc="-10" dirty="0" smtClean="0">
                <a:solidFill>
                  <a:srgbClr val="1D1D1D"/>
                </a:solidFill>
                <a:latin typeface="Times New Roman"/>
                <a:cs typeface="Times New Roman"/>
              </a:rPr>
              <a:t>Cannot predict sudden changes caused by news, political events or global crises.</a:t>
            </a:r>
          </a:p>
          <a:p>
            <a:pPr marL="298450" marR="20320" indent="-285750">
              <a:lnSpc>
                <a:spcPct val="200000"/>
              </a:lnSpc>
              <a:spcBef>
                <a:spcPts val="95"/>
              </a:spcBef>
              <a:buClr>
                <a:srgbClr val="000000"/>
              </a:buClr>
              <a:buFont typeface="Arial"/>
              <a:buChar char="•"/>
              <a:tabLst>
                <a:tab pos="298450" algn="l"/>
              </a:tabLst>
            </a:pPr>
            <a:r>
              <a:rPr lang="en-US" sz="1500" spc="-10" dirty="0" smtClean="0">
                <a:solidFill>
                  <a:srgbClr val="1D1D1D"/>
                </a:solidFill>
                <a:latin typeface="Times New Roman"/>
                <a:cs typeface="Times New Roman"/>
              </a:rPr>
              <a:t>Mostly provide static dashboards instead of live analysis.</a:t>
            </a:r>
          </a:p>
          <a:p>
            <a:pPr marL="298450" marR="20320" indent="-285750">
              <a:lnSpc>
                <a:spcPct val="200000"/>
              </a:lnSpc>
              <a:spcBef>
                <a:spcPts val="95"/>
              </a:spcBef>
              <a:buClr>
                <a:srgbClr val="000000"/>
              </a:buClr>
              <a:buFont typeface="Arial"/>
              <a:buChar char="•"/>
              <a:tabLst>
                <a:tab pos="298450" algn="l"/>
              </a:tabLst>
            </a:pPr>
            <a:r>
              <a:rPr lang="en-US" sz="1500" spc="-10" dirty="0" smtClean="0">
                <a:solidFill>
                  <a:srgbClr val="1D1D1D"/>
                </a:solidFill>
                <a:latin typeface="Times New Roman"/>
                <a:cs typeface="Times New Roman"/>
              </a:rPr>
              <a:t>As a result, their prediction accuracy is limited.</a:t>
            </a:r>
            <a:endParaRPr lang="en-US" sz="1500" spc="-10" dirty="0">
              <a:solidFill>
                <a:srgbClr val="1D1D1D"/>
              </a:solidFill>
              <a:latin typeface="Times New Roman"/>
              <a:cs typeface="Times New Roman"/>
            </a:endParaRPr>
          </a:p>
        </p:txBody>
      </p:sp>
      <p:sp>
        <p:nvSpPr>
          <p:cNvPr id="8" name="Footer Placeholder 7">
            <a:extLst>
              <a:ext uri="{FF2B5EF4-FFF2-40B4-BE49-F238E27FC236}">
                <a16:creationId xmlns="" xmlns:a16="http://schemas.microsoft.com/office/drawing/2014/main" id="{D5261E68-B458-6F9C-D54B-59B33BAF03E0}"/>
              </a:ext>
            </a:extLst>
          </p:cNvPr>
          <p:cNvSpPr>
            <a:spLocks noGrp="1"/>
          </p:cNvSpPr>
          <p:nvPr>
            <p:ph type="ftr" sz="quarter" idx="5"/>
          </p:nvPr>
        </p:nvSpPr>
        <p:spPr>
          <a:xfrm>
            <a:off x="328964" y="4934057"/>
            <a:ext cx="630838" cy="338554"/>
          </a:xfrm>
        </p:spPr>
        <p:txBody>
          <a:bodyPr wrap="square" lIns="0" tIns="0" rIns="0" bIns="0" anchor="t">
            <a:spAutoFit/>
          </a:bodyPr>
          <a:lstStyle/>
          <a:p>
            <a:r>
              <a:rPr lang="en-US" spc="-95" dirty="0"/>
              <a:t>30  / 06 /  26</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748030"/>
            <a:chOff x="0" y="0"/>
            <a:chExt cx="9144000" cy="748030"/>
          </a:xfrm>
        </p:grpSpPr>
        <p:pic>
          <p:nvPicPr>
            <p:cNvPr id="3" name="object 3"/>
            <p:cNvPicPr/>
            <p:nvPr/>
          </p:nvPicPr>
          <p:blipFill>
            <a:blip r:embed="rId2" cstate="print"/>
            <a:stretch>
              <a:fillRect/>
            </a:stretch>
          </p:blipFill>
          <p:spPr>
            <a:xfrm>
              <a:off x="0" y="0"/>
              <a:ext cx="9144000" cy="681356"/>
            </a:xfrm>
            <a:prstGeom prst="rect">
              <a:avLst/>
            </a:prstGeom>
          </p:spPr>
        </p:pic>
        <p:pic>
          <p:nvPicPr>
            <p:cNvPr id="4" name="object 4"/>
            <p:cNvPicPr/>
            <p:nvPr/>
          </p:nvPicPr>
          <p:blipFill>
            <a:blip r:embed="rId3" cstate="print"/>
            <a:stretch>
              <a:fillRect/>
            </a:stretch>
          </p:blipFill>
          <p:spPr>
            <a:xfrm>
              <a:off x="3171825" y="9461"/>
              <a:ext cx="2795651" cy="738187"/>
            </a:xfrm>
            <a:prstGeom prst="rect">
              <a:avLst/>
            </a:prstGeom>
          </p:spPr>
        </p:pic>
        <p:pic>
          <p:nvPicPr>
            <p:cNvPr id="5" name="object 5"/>
            <p:cNvPicPr/>
            <p:nvPr/>
          </p:nvPicPr>
          <p:blipFill>
            <a:blip r:embed="rId4" cstate="print"/>
            <a:stretch>
              <a:fillRect/>
            </a:stretch>
          </p:blipFill>
          <p:spPr>
            <a:xfrm>
              <a:off x="0" y="0"/>
              <a:ext cx="9144000" cy="628650"/>
            </a:xfrm>
            <a:prstGeom prst="rect">
              <a:avLst/>
            </a:prstGeom>
          </p:spPr>
        </p:pic>
      </p:grpSp>
      <p:sp>
        <p:nvSpPr>
          <p:cNvPr id="6" name="object 6"/>
          <p:cNvSpPr txBox="1">
            <a:spLocks noGrp="1"/>
          </p:cNvSpPr>
          <p:nvPr>
            <p:ph type="title"/>
          </p:nvPr>
        </p:nvSpPr>
        <p:spPr>
          <a:xfrm>
            <a:off x="1315544" y="-133625"/>
            <a:ext cx="5289549" cy="669286"/>
          </a:xfrm>
          <a:prstGeom prst="rect">
            <a:avLst/>
          </a:prstGeom>
        </p:spPr>
        <p:txBody>
          <a:bodyPr vert="horz" wrap="square" lIns="0" tIns="114173" rIns="0" bIns="0" rtlCol="0" anchor="t">
            <a:spAutoFit/>
          </a:bodyPr>
          <a:lstStyle/>
          <a:p>
            <a:pPr marL="1485900">
              <a:lnSpc>
                <a:spcPct val="100000"/>
              </a:lnSpc>
              <a:spcBef>
                <a:spcPts val="100"/>
              </a:spcBef>
            </a:pPr>
            <a:r>
              <a:rPr sz="3600" spc="-10" dirty="0"/>
              <a:t> </a:t>
            </a:r>
            <a:r>
              <a:rPr sz="3600" spc="-215" dirty="0"/>
              <a:t>Literature</a:t>
            </a:r>
            <a:r>
              <a:rPr sz="3600" spc="-100" dirty="0"/>
              <a:t> </a:t>
            </a:r>
            <a:r>
              <a:rPr sz="3600" spc="-220" dirty="0"/>
              <a:t>Survey</a:t>
            </a:r>
            <a:endParaRPr lang="en-US" sz="3600" b="0" dirty="0"/>
          </a:p>
        </p:txBody>
      </p:sp>
      <p:sp>
        <p:nvSpPr>
          <p:cNvPr id="9" name="object 9"/>
          <p:cNvSpPr txBox="1">
            <a:spLocks noGrp="1"/>
          </p:cNvSpPr>
          <p:nvPr>
            <p:ph type="dt" sz="half" idx="6"/>
          </p:nvPr>
        </p:nvSpPr>
        <p:spPr>
          <a:xfrm>
            <a:off x="3918839" y="4942011"/>
            <a:ext cx="1647994" cy="175689"/>
          </a:xfrm>
          <a:prstGeom prst="rect">
            <a:avLst/>
          </a:prstGeom>
        </p:spPr>
        <p:txBody>
          <a:bodyPr vert="horz" wrap="square" lIns="0" tIns="6350" rIns="0" bIns="0" rtlCol="0">
            <a:spAutoFit/>
          </a:bodyPr>
          <a:lstStyle/>
          <a:p>
            <a:pPr marL="12700">
              <a:lnSpc>
                <a:spcPct val="100000"/>
              </a:lnSpc>
              <a:spcBef>
                <a:spcPts val="50"/>
              </a:spcBef>
            </a:pPr>
            <a:r>
              <a:rPr spc="-130" dirty="0" smtClean="0"/>
              <a:t>AI&amp;DS-</a:t>
            </a:r>
            <a:r>
              <a:rPr spc="-105" dirty="0" smtClean="0"/>
              <a:t>Department</a:t>
            </a:r>
            <a:endParaRPr spc="-105" dirty="0"/>
          </a:p>
        </p:txBody>
      </p:sp>
      <p:sp>
        <p:nvSpPr>
          <p:cNvPr id="10" name="object 10"/>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F87BCFC2-9C5F-6F85-8E76-0C63725409A2}"/>
              </a:ext>
            </a:extLst>
          </p:cNvPr>
          <p:cNvSpPr>
            <a:spLocks noGrp="1"/>
          </p:cNvSpPr>
          <p:nvPr>
            <p:ph type="ftr" sz="quarter" idx="5"/>
          </p:nvPr>
        </p:nvSpPr>
        <p:spPr>
          <a:xfrm>
            <a:off x="222065" y="4934057"/>
            <a:ext cx="737737" cy="338554"/>
          </a:xfrm>
        </p:spPr>
        <p:txBody>
          <a:bodyPr wrap="square" lIns="0" tIns="0" rIns="0" bIns="0" anchor="t">
            <a:spAutoFit/>
          </a:bodyPr>
          <a:lstStyle/>
          <a:p>
            <a:r>
              <a:rPr lang="en-US" spc="-95" dirty="0"/>
              <a:t>30  / 06 /  26</a:t>
            </a:r>
          </a:p>
          <a:p>
            <a:endParaRPr lang="en-US" dirty="0"/>
          </a:p>
        </p:txBody>
      </p:sp>
      <p:graphicFrame>
        <p:nvGraphicFramePr>
          <p:cNvPr id="14" name="Table 13">
            <a:extLst>
              <a:ext uri="{FF2B5EF4-FFF2-40B4-BE49-F238E27FC236}">
                <a16:creationId xmlns="" xmlns:a16="http://schemas.microsoft.com/office/drawing/2014/main" id="{D87B2316-46B1-7FEC-31E6-254EF5661207}"/>
              </a:ext>
            </a:extLst>
          </p:cNvPr>
          <p:cNvGraphicFramePr>
            <a:graphicFrameLocks noGrp="1"/>
          </p:cNvGraphicFramePr>
          <p:nvPr>
            <p:extLst>
              <p:ext uri="{D42A27DB-BD31-4B8C-83A1-F6EECF244321}">
                <p14:modId xmlns:p14="http://schemas.microsoft.com/office/powerpoint/2010/main" val="1140494652"/>
              </p:ext>
            </p:extLst>
          </p:nvPr>
        </p:nvGraphicFramePr>
        <p:xfrm>
          <a:off x="53449" y="748295"/>
          <a:ext cx="9037163" cy="4056005"/>
        </p:xfrm>
        <a:graphic>
          <a:graphicData uri="http://schemas.openxmlformats.org/drawingml/2006/table">
            <a:tbl>
              <a:tblPr bandRow="1">
                <a:tableStyleId>{7E9639D4-E3E2-4D34-9284-5A2195B3D0D7}</a:tableStyleId>
              </a:tblPr>
              <a:tblGrid>
                <a:gridCol w="2259291">
                  <a:extLst>
                    <a:ext uri="{9D8B030D-6E8A-4147-A177-3AD203B41FA5}">
                      <a16:colId xmlns="" xmlns:a16="http://schemas.microsoft.com/office/drawing/2014/main" val="276740648"/>
                    </a:ext>
                  </a:extLst>
                </a:gridCol>
                <a:gridCol w="2264772">
                  <a:extLst>
                    <a:ext uri="{9D8B030D-6E8A-4147-A177-3AD203B41FA5}">
                      <a16:colId xmlns="" xmlns:a16="http://schemas.microsoft.com/office/drawing/2014/main" val="1293832090"/>
                    </a:ext>
                  </a:extLst>
                </a:gridCol>
                <a:gridCol w="2253809">
                  <a:extLst>
                    <a:ext uri="{9D8B030D-6E8A-4147-A177-3AD203B41FA5}">
                      <a16:colId xmlns="" xmlns:a16="http://schemas.microsoft.com/office/drawing/2014/main" val="2188873826"/>
                    </a:ext>
                  </a:extLst>
                </a:gridCol>
                <a:gridCol w="2259291">
                  <a:extLst>
                    <a:ext uri="{9D8B030D-6E8A-4147-A177-3AD203B41FA5}">
                      <a16:colId xmlns="" xmlns:a16="http://schemas.microsoft.com/office/drawing/2014/main" val="1161204525"/>
                    </a:ext>
                  </a:extLst>
                </a:gridCol>
              </a:tblGrid>
              <a:tr h="303289">
                <a:tc>
                  <a:txBody>
                    <a:bodyPr/>
                    <a:lstStyle/>
                    <a:p>
                      <a:pPr marL="0" indent="0">
                        <a:buNone/>
                      </a:pPr>
                      <a:r>
                        <a:rPr lang="en-US" sz="1400" b="1" dirty="0">
                          <a:latin typeface="Times New Roman" pitchFamily="18" charset="0"/>
                          <a:cs typeface="Times New Roman" pitchFamily="18" charset="0"/>
                        </a:rPr>
                        <a:t>Author(s)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b="1">
                          <a:latin typeface="Times New Roman" pitchFamily="18" charset="0"/>
                          <a:cs typeface="Times New Roman" pitchFamily="18" charset="0"/>
                        </a:rPr>
                        <a:t>Method / Model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b="1">
                          <a:latin typeface="Times New Roman" pitchFamily="18" charset="0"/>
                          <a:cs typeface="Times New Roman" pitchFamily="18" charset="0"/>
                        </a:rPr>
                        <a:t>Key Findings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b="1" dirty="0">
                          <a:latin typeface="Times New Roman" pitchFamily="18" charset="0"/>
                          <a:cs typeface="Times New Roman" pitchFamily="18" charset="0"/>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77225969"/>
                  </a:ext>
                </a:extLst>
              </a:tr>
              <a:tr h="750241">
                <a:tc>
                  <a:txBody>
                    <a:bodyPr/>
                    <a:lstStyle/>
                    <a:p>
                      <a:pPr marL="0" indent="0">
                        <a:buNone/>
                      </a:pPr>
                      <a:r>
                        <a:rPr lang="en-US" sz="1400">
                          <a:latin typeface="Times New Roman" pitchFamily="18" charset="0"/>
                          <a:cs typeface="Times New Roman" pitchFamily="18" charset="0"/>
                        </a:rPr>
                        <a:t>Liu et al. (2020)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err="1">
                          <a:latin typeface="Times New Roman" pitchFamily="18" charset="0"/>
                          <a:cs typeface="Times New Roman" pitchFamily="18" charset="0"/>
                        </a:rPr>
                        <a:t>FinBERT</a:t>
                      </a:r>
                      <a:r>
                        <a:rPr lang="en-US" sz="1400">
                          <a:latin typeface="Times New Roman" pitchFamily="18" charset="0"/>
                          <a:cs typeface="Times New Roman" pitchFamily="18" charset="0"/>
                        </a:rPr>
                        <a:t> (Transformer-based NLP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Improves financial sentiment classification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dirty="0">
                          <a:latin typeface="Times New Roman" pitchFamily="18" charset="0"/>
                          <a:cs typeface="Times New Roman" pitchFamily="18" charset="0"/>
                        </a:rPr>
                        <a:t>Not combined with real-time prediction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72566593"/>
                  </a:ext>
                </a:extLst>
              </a:tr>
              <a:tr h="750241">
                <a:tc>
                  <a:txBody>
                    <a:bodyPr/>
                    <a:lstStyle/>
                    <a:p>
                      <a:pPr marL="0" indent="0">
                        <a:buNone/>
                      </a:pPr>
                      <a:r>
                        <a:rPr lang="en-US" sz="1400">
                          <a:latin typeface="Times New Roman" pitchFamily="18" charset="0"/>
                          <a:cs typeface="Times New Roman" pitchFamily="18" charset="0"/>
                        </a:rPr>
                        <a:t>Bollen et al.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Sentiment Analysis using Twitter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Public sentiment strongly affects stock trends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Uses only historical / social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6006549"/>
                  </a:ext>
                </a:extLst>
              </a:tr>
              <a:tr h="750241">
                <a:tc>
                  <a:txBody>
                    <a:bodyPr/>
                    <a:lstStyle/>
                    <a:p>
                      <a:pPr marL="0" indent="0">
                        <a:buNone/>
                      </a:pPr>
                      <a:r>
                        <a:rPr lang="en-US" sz="1400">
                          <a:latin typeface="Times New Roman" pitchFamily="18" charset="0"/>
                          <a:cs typeface="Times New Roman" pitchFamily="18" charset="0"/>
                        </a:rPr>
                        <a:t>Patel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SVM, Random Forest, ANN (Hybrid ML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Improves prediction accuracy using ML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No sentiment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40332453"/>
                  </a:ext>
                </a:extLst>
              </a:tr>
              <a:tr h="750241">
                <a:tc>
                  <a:txBody>
                    <a:bodyPr/>
                    <a:lstStyle/>
                    <a:p>
                      <a:pPr marL="0" indent="0">
                        <a:buNone/>
                      </a:pPr>
                      <a:r>
                        <a:rPr lang="en-US" sz="1400">
                          <a:latin typeface="Times New Roman" pitchFamily="18" charset="0"/>
                          <a:cs typeface="Times New Roman" pitchFamily="18" charset="0"/>
                        </a:rPr>
                        <a:t>Kumar &amp; Roy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NLP-based Sentiment-aware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Shows sentiment impacts short-term market movements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Limited integration with prediction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0985746"/>
                  </a:ext>
                </a:extLst>
              </a:tr>
              <a:tr h="750241">
                <a:tc>
                  <a:txBody>
                    <a:bodyPr/>
                    <a:lstStyle/>
                    <a:p>
                      <a:pPr marL="0" indent="0">
                        <a:buNone/>
                      </a:pPr>
                      <a:r>
                        <a:rPr lang="en-US" sz="1400">
                          <a:latin typeface="Times New Roman" pitchFamily="18" charset="0"/>
                          <a:cs typeface="Times New Roman" pitchFamily="18" charset="0"/>
                        </a:rPr>
                        <a:t>Zhang et al.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dirty="0">
                          <a:latin typeface="Times New Roman" pitchFamily="18" charset="0"/>
                          <a:cs typeface="Times New Roman" pitchFamily="18" charset="0"/>
                        </a:rPr>
                        <a:t>LSTM (Long Short-Term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a:latin typeface="Times New Roman" pitchFamily="18" charset="0"/>
                          <a:cs typeface="Times New Roman" pitchFamily="18" charset="0"/>
                        </a:rPr>
                        <a:t>Captures time-series dependencies effectively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400" dirty="0">
                          <a:latin typeface="Times New Roman" pitchFamily="18" charset="0"/>
                          <a:cs typeface="Times New Roman" pitchFamily="18" charset="0"/>
                        </a:rPr>
                        <a:t>Sentiment not integrated with ML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00964369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F495A8-2F0A-BA4C-DF9A-2F16475BD5F5}"/>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9A6C9690-4C32-1B88-0F3C-F79BC373EE8A}"/>
              </a:ext>
            </a:extLst>
          </p:cNvPr>
          <p:cNvGrpSpPr/>
          <p:nvPr/>
        </p:nvGrpSpPr>
        <p:grpSpPr>
          <a:xfrm>
            <a:off x="0" y="-25114"/>
            <a:ext cx="9144000" cy="748030"/>
            <a:chOff x="0" y="0"/>
            <a:chExt cx="9144000" cy="748030"/>
          </a:xfrm>
        </p:grpSpPr>
        <p:pic>
          <p:nvPicPr>
            <p:cNvPr id="3" name="object 3">
              <a:extLst>
                <a:ext uri="{FF2B5EF4-FFF2-40B4-BE49-F238E27FC236}">
                  <a16:creationId xmlns="" xmlns:a16="http://schemas.microsoft.com/office/drawing/2014/main" id="{E86EFCC7-6AA7-919D-D7A9-929B21D16DCE}"/>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B8C9B01A-6D5E-8407-DBD4-48B43300CEBC}"/>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B1FA280F-8C90-5188-A93E-1DDBD6AF694E}"/>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0CE18C25-30F2-A300-B671-2FBF1C82F9C3}"/>
              </a:ext>
            </a:extLst>
          </p:cNvPr>
          <p:cNvSpPr txBox="1">
            <a:spLocks noGrp="1"/>
          </p:cNvSpPr>
          <p:nvPr>
            <p:ph type="title"/>
          </p:nvPr>
        </p:nvSpPr>
        <p:spPr>
          <a:xfrm>
            <a:off x="2889319" y="-115027"/>
            <a:ext cx="5289549" cy="989886"/>
          </a:xfrm>
          <a:prstGeom prst="rect">
            <a:avLst/>
          </a:prstGeom>
        </p:spPr>
        <p:txBody>
          <a:bodyPr vert="horz" wrap="square" lIns="0" tIns="114173" rIns="0" bIns="0" rtlCol="0" anchor="t">
            <a:spAutoFit/>
          </a:bodyPr>
          <a:lstStyle/>
          <a:p>
            <a:pPr marL="342900" indent="-342900" algn="l"/>
            <a:r>
              <a:rPr lang="en-US" sz="3600" spc="-15">
                <a:ea typeface="Calibri"/>
              </a:rPr>
              <a:t>Proposed System</a:t>
            </a:r>
          </a:p>
          <a:p>
            <a:pPr marL="1830070">
              <a:lnSpc>
                <a:spcPct val="100000"/>
              </a:lnSpc>
              <a:spcBef>
                <a:spcPts val="100"/>
              </a:spcBef>
            </a:pPr>
            <a:endParaRPr lang="en-US" sz="2000" spc="-15">
              <a:latin typeface="Arial"/>
              <a:cs typeface="Arial"/>
            </a:endParaRPr>
          </a:p>
        </p:txBody>
      </p:sp>
      <p:sp>
        <p:nvSpPr>
          <p:cNvPr id="9" name="object 9">
            <a:extLst>
              <a:ext uri="{FF2B5EF4-FFF2-40B4-BE49-F238E27FC236}">
                <a16:creationId xmlns="" xmlns:a16="http://schemas.microsoft.com/office/drawing/2014/main" id="{6A291FFD-9859-D84C-1423-7DCB2C8713C2}"/>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491E8F93-3E5F-C435-510B-69736D49D304}"/>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7C05C392-308F-E70A-5609-8CBE571CDB06}"/>
              </a:ext>
            </a:extLst>
          </p:cNvPr>
          <p:cNvSpPr txBox="1"/>
          <p:nvPr/>
        </p:nvSpPr>
        <p:spPr>
          <a:xfrm>
            <a:off x="614611" y="694519"/>
            <a:ext cx="9000261" cy="4544834"/>
          </a:xfrm>
          <a:prstGeom prst="rect">
            <a:avLst/>
          </a:prstGeom>
        </p:spPr>
        <p:txBody>
          <a:bodyPr vert="horz" wrap="square" lIns="0" tIns="15875" rIns="0" bIns="0" rtlCol="0" anchor="t">
            <a:spAutoFit/>
          </a:bodyPr>
          <a:lstStyle/>
          <a:p>
            <a:pPr marL="285750" indent="-285750" algn="l">
              <a:lnSpc>
                <a:spcPct val="150000"/>
              </a:lnSpc>
              <a:buClr>
                <a:srgbClr val="000000"/>
              </a:buClr>
              <a:buFont typeface="Arial"/>
              <a:buChar char="•"/>
              <a:tabLst>
                <a:tab pos="298450" algn="l"/>
              </a:tabLst>
            </a:pPr>
            <a:r>
              <a:rPr lang="en-US" sz="1600" spc="-10" dirty="0">
                <a:solidFill>
                  <a:srgbClr val="1D1D1D"/>
                </a:solidFill>
                <a:latin typeface="Times New Roman"/>
                <a:cs typeface="Times New Roman"/>
              </a:rPr>
              <a:t>The system combines historical stock data with real-time news sentiment analysis </a:t>
            </a: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Uses two main modules:</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 Stock Prediction Module (predicts price trend using ML models like LSTM / Random Forest).  </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 Sentiment Analysis Module (analyzes financial news using NLP models like BERT / </a:t>
            </a:r>
            <a:r>
              <a:rPr lang="en-US" sz="1600" spc="-10" dirty="0" err="1">
                <a:solidFill>
                  <a:srgbClr val="1D1D1D"/>
                </a:solidFill>
                <a:latin typeface="Times New Roman"/>
                <a:cs typeface="Times New Roman"/>
              </a:rPr>
              <a:t>FinBERT</a:t>
            </a:r>
            <a:r>
              <a:rPr lang="en-US" sz="1600" spc="-10" dirty="0">
                <a:solidFill>
                  <a:srgbClr val="1D1D1D"/>
                </a:solidFill>
                <a:latin typeface="Times New Roman"/>
                <a:cs typeface="Times New Roman"/>
              </a:rPr>
              <a:t>).</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Collects data from financial APIs and news sources.</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Processes numerical data and classifies sentiment as positive, </a:t>
            </a:r>
            <a:r>
              <a:rPr lang="en-US" sz="1600" spc="-10" dirty="0" smtClean="0">
                <a:solidFill>
                  <a:srgbClr val="1D1D1D"/>
                </a:solidFill>
                <a:latin typeface="Times New Roman"/>
                <a:cs typeface="Times New Roman"/>
              </a:rPr>
              <a:t>negative </a:t>
            </a:r>
            <a:r>
              <a:rPr lang="en-US" sz="1600" spc="-10" dirty="0">
                <a:solidFill>
                  <a:srgbClr val="1D1D1D"/>
                </a:solidFill>
                <a:latin typeface="Times New Roman"/>
                <a:cs typeface="Times New Roman"/>
              </a:rPr>
              <a:t>or neutral. </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Integrates both prediction results to improve overall accuracy. </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Developed as a web-based application using Python and </a:t>
            </a:r>
            <a:r>
              <a:rPr lang="en-US" sz="1600" spc="-10" dirty="0" err="1" smtClean="0">
                <a:solidFill>
                  <a:srgbClr val="1D1D1D"/>
                </a:solidFill>
                <a:latin typeface="Times New Roman"/>
                <a:cs typeface="Times New Roman"/>
              </a:rPr>
              <a:t>Streamlit</a:t>
            </a:r>
            <a:r>
              <a:rPr lang="en-US" sz="1600" spc="-10" dirty="0" smtClean="0">
                <a:solidFill>
                  <a:srgbClr val="1D1D1D"/>
                </a:solidFill>
                <a:latin typeface="Times New Roman"/>
                <a:cs typeface="Times New Roman"/>
              </a:rPr>
              <a:t>.</a:t>
            </a:r>
            <a:r>
              <a:rPr lang="en-US" sz="1600" spc="-10" dirty="0">
                <a:solidFill>
                  <a:srgbClr val="1D1D1D"/>
                </a:solidFill>
                <a:latin typeface="Times New Roman"/>
                <a:cs typeface="Times New Roman"/>
              </a:rPr>
              <a:t> </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Displays outputs through interactive dashboards and visualizations. </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Helps investors make better and faster investment decisions.</a:t>
            </a:r>
            <a:endParaRPr lang="en-US" sz="1600" dirty="0">
              <a:latin typeface="Times New Roman"/>
              <a:cs typeface="Times New Roman"/>
            </a:endParaRPr>
          </a:p>
          <a:p>
            <a:pPr marL="285750" indent="-285750" algn="l">
              <a:lnSpc>
                <a:spcPct val="150000"/>
              </a:lnSpc>
              <a:spcBef>
                <a:spcPts val="125"/>
              </a:spcBef>
              <a:buFont typeface="Arial"/>
              <a:buChar char="•"/>
              <a:tabLst>
                <a:tab pos="298450" algn="l"/>
              </a:tabLst>
            </a:pPr>
            <a:r>
              <a:rPr lang="en-US" sz="1600" spc="-10" dirty="0">
                <a:solidFill>
                  <a:srgbClr val="1D1D1D"/>
                </a:solidFill>
                <a:latin typeface="Times New Roman"/>
                <a:cs typeface="Times New Roman"/>
              </a:rPr>
              <a:t>Result: More accurate, intelligent, and real-time stock market prediction system.</a:t>
            </a:r>
            <a:endParaRPr lang="en-US" sz="1600" dirty="0">
              <a:latin typeface="Times New Roman"/>
              <a:cs typeface="Times New Roman"/>
            </a:endParaRPr>
          </a:p>
          <a:p>
            <a:pPr marL="298450" indent="-285750">
              <a:lnSpc>
                <a:spcPct val="150000"/>
              </a:lnSpc>
              <a:spcBef>
                <a:spcPts val="125"/>
              </a:spcBef>
              <a:buClr>
                <a:srgbClr val="000000"/>
              </a:buClr>
              <a:buFont typeface="Arial"/>
              <a:buChar char="•"/>
              <a:tabLst>
                <a:tab pos="298450" algn="l"/>
              </a:tabLst>
            </a:pPr>
            <a:endParaRPr lang="en-US" sz="1600" spc="-10" dirty="0">
              <a:solidFill>
                <a:srgbClr val="1D1D1D"/>
              </a:solidFill>
              <a:latin typeface="Times New Roman"/>
              <a:cs typeface="Times New Roman"/>
            </a:endParaRPr>
          </a:p>
        </p:txBody>
      </p:sp>
      <p:sp>
        <p:nvSpPr>
          <p:cNvPr id="8" name="Footer Placeholder 7">
            <a:extLst>
              <a:ext uri="{FF2B5EF4-FFF2-40B4-BE49-F238E27FC236}">
                <a16:creationId xmlns="" xmlns:a16="http://schemas.microsoft.com/office/drawing/2014/main" id="{A117B63C-D452-3529-53B4-81659473A406}"/>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1053857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A1719EA-26F4-BEBD-6860-E8BC5E579A5A}"/>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BCACC139-5740-D5BD-3A08-F9960E555558}"/>
              </a:ext>
            </a:extLst>
          </p:cNvPr>
          <p:cNvGrpSpPr/>
          <p:nvPr/>
        </p:nvGrpSpPr>
        <p:grpSpPr>
          <a:xfrm>
            <a:off x="0" y="0"/>
            <a:ext cx="9144000" cy="748030"/>
            <a:chOff x="0" y="0"/>
            <a:chExt cx="9144000" cy="748030"/>
          </a:xfrm>
        </p:grpSpPr>
        <p:pic>
          <p:nvPicPr>
            <p:cNvPr id="3" name="object 3">
              <a:extLst>
                <a:ext uri="{FF2B5EF4-FFF2-40B4-BE49-F238E27FC236}">
                  <a16:creationId xmlns="" xmlns:a16="http://schemas.microsoft.com/office/drawing/2014/main" id="{1D51CC8C-54F7-2168-72C3-22C0120FEA92}"/>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8BB840F5-51A3-5E8C-1660-78D26F51E903}"/>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B24AB0CD-B4D2-006A-FF72-D03741320A58}"/>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820FFC84-014C-882A-BECE-EE2085437C9D}"/>
              </a:ext>
            </a:extLst>
          </p:cNvPr>
          <p:cNvSpPr txBox="1">
            <a:spLocks noGrp="1"/>
          </p:cNvSpPr>
          <p:nvPr>
            <p:ph type="title"/>
          </p:nvPr>
        </p:nvSpPr>
        <p:spPr>
          <a:xfrm>
            <a:off x="2569132" y="-114101"/>
            <a:ext cx="6296868" cy="1543884"/>
          </a:xfrm>
          <a:prstGeom prst="rect">
            <a:avLst/>
          </a:prstGeom>
        </p:spPr>
        <p:txBody>
          <a:bodyPr vert="horz" wrap="square" lIns="0" tIns="114173" rIns="0" bIns="0" rtlCol="0" anchor="t">
            <a:spAutoFit/>
          </a:bodyPr>
          <a:lstStyle/>
          <a:p>
            <a:pPr marL="342900" indent="-342900" algn="l"/>
            <a:r>
              <a:rPr lang="en-US" sz="3600" spc="-15" dirty="0">
                <a:ea typeface="Calibri"/>
              </a:rPr>
              <a:t> System Architecture </a:t>
            </a:r>
          </a:p>
          <a:p>
            <a:pPr marL="342900" indent="-342900" algn="l"/>
            <a:endParaRPr lang="en-US" sz="3600" spc="-15" dirty="0">
              <a:ea typeface="Calibri"/>
            </a:endParaRPr>
          </a:p>
          <a:p>
            <a:pPr marL="1830070">
              <a:lnSpc>
                <a:spcPct val="100000"/>
              </a:lnSpc>
              <a:spcBef>
                <a:spcPts val="100"/>
              </a:spcBef>
            </a:pPr>
            <a:endParaRPr lang="en-US" sz="2000" spc="-15" dirty="0"/>
          </a:p>
        </p:txBody>
      </p:sp>
      <p:sp>
        <p:nvSpPr>
          <p:cNvPr id="9" name="object 9">
            <a:extLst>
              <a:ext uri="{FF2B5EF4-FFF2-40B4-BE49-F238E27FC236}">
                <a16:creationId xmlns="" xmlns:a16="http://schemas.microsoft.com/office/drawing/2014/main" id="{5F46AAFE-088C-76B7-02FF-37FA2760A434}"/>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962B0C6D-0C60-4A2B-1C37-A8AEBFCB82DD}"/>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65B0A5B5-478A-9D8A-A0A4-CE99BE1C3CE7}"/>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pic>
        <p:nvPicPr>
          <p:cNvPr id="11" name="Picture 10" descr="A diagram of a process&#10;&#10;AI-generated content may be incorrect.">
            <a:extLst>
              <a:ext uri="{FF2B5EF4-FFF2-40B4-BE49-F238E27FC236}">
                <a16:creationId xmlns="" xmlns:a16="http://schemas.microsoft.com/office/drawing/2014/main" id="{2A11B4EF-F113-8180-3963-720F61B09456}"/>
              </a:ext>
            </a:extLst>
          </p:cNvPr>
          <p:cNvPicPr>
            <a:picLocks noChangeAspect="1"/>
          </p:cNvPicPr>
          <p:nvPr/>
        </p:nvPicPr>
        <p:blipFill>
          <a:blip r:embed="rId5"/>
          <a:stretch>
            <a:fillRect/>
          </a:stretch>
        </p:blipFill>
        <p:spPr>
          <a:xfrm>
            <a:off x="1275170" y="657841"/>
            <a:ext cx="6005713" cy="4280082"/>
          </a:xfrm>
          <a:prstGeom prst="rect">
            <a:avLst/>
          </a:prstGeom>
        </p:spPr>
      </p:pic>
    </p:spTree>
    <p:extLst>
      <p:ext uri="{BB962C8B-B14F-4D97-AF65-F5344CB8AC3E}">
        <p14:creationId xmlns:p14="http://schemas.microsoft.com/office/powerpoint/2010/main" val="3011842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D533A43-0999-77FB-D72C-D96E953879CA}"/>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F8F40004-6BAB-D096-35FF-AD26309EE439}"/>
              </a:ext>
            </a:extLst>
          </p:cNvPr>
          <p:cNvGrpSpPr/>
          <p:nvPr/>
        </p:nvGrpSpPr>
        <p:grpSpPr>
          <a:xfrm>
            <a:off x="0" y="8223"/>
            <a:ext cx="9144000" cy="748030"/>
            <a:chOff x="0" y="0"/>
            <a:chExt cx="9144000" cy="748030"/>
          </a:xfrm>
        </p:grpSpPr>
        <p:pic>
          <p:nvPicPr>
            <p:cNvPr id="3" name="object 3">
              <a:extLst>
                <a:ext uri="{FF2B5EF4-FFF2-40B4-BE49-F238E27FC236}">
                  <a16:creationId xmlns="" xmlns:a16="http://schemas.microsoft.com/office/drawing/2014/main" id="{3923B5BF-FCCA-D4B4-6F07-1846C2A8F7D5}"/>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965DDE45-15CE-E7D6-AAC9-388993E2E31F}"/>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62D43513-01E1-E0D2-08E2-9EA1B4E38D39}"/>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281C5C54-3D82-6783-5566-96C7C81E5EAB}"/>
              </a:ext>
            </a:extLst>
          </p:cNvPr>
          <p:cNvSpPr txBox="1">
            <a:spLocks noGrp="1"/>
          </p:cNvSpPr>
          <p:nvPr>
            <p:ph type="title"/>
          </p:nvPr>
        </p:nvSpPr>
        <p:spPr>
          <a:xfrm>
            <a:off x="2387575" y="-54301"/>
            <a:ext cx="5943279" cy="2097882"/>
          </a:xfrm>
          <a:prstGeom prst="rect">
            <a:avLst/>
          </a:prstGeom>
        </p:spPr>
        <p:txBody>
          <a:bodyPr vert="horz" wrap="square" lIns="0" tIns="114173" rIns="0" bIns="0" rtlCol="0" anchor="t">
            <a:spAutoFit/>
          </a:bodyPr>
          <a:lstStyle/>
          <a:p>
            <a:pPr marL="342900" indent="-342900" algn="l"/>
            <a:r>
              <a:rPr lang="en-US" sz="3600" spc="-15" dirty="0">
                <a:ea typeface="Calibri"/>
              </a:rPr>
              <a:t>        Methodology</a:t>
            </a:r>
          </a:p>
          <a:p>
            <a:pPr marL="342900" indent="-342900" algn="l"/>
            <a:endParaRPr lang="en-US" sz="3600" spc="-15" dirty="0">
              <a:solidFill>
                <a:srgbClr val="FFFFFF"/>
              </a:solidFill>
              <a:ea typeface="Calibri"/>
            </a:endParaRPr>
          </a:p>
          <a:p>
            <a:pPr marL="342900" indent="-342900" algn="l"/>
            <a:endParaRPr lang="en-US" sz="3600" spc="-15" dirty="0">
              <a:ea typeface="Calibri"/>
            </a:endParaRPr>
          </a:p>
          <a:p>
            <a:pPr marL="1830070">
              <a:lnSpc>
                <a:spcPct val="100000"/>
              </a:lnSpc>
              <a:spcBef>
                <a:spcPts val="100"/>
              </a:spcBef>
            </a:pPr>
            <a:endParaRPr lang="en-US" sz="2000" spc="-15" dirty="0">
              <a:latin typeface="Arial"/>
              <a:cs typeface="Arial"/>
            </a:endParaRPr>
          </a:p>
        </p:txBody>
      </p:sp>
      <p:sp>
        <p:nvSpPr>
          <p:cNvPr id="9" name="object 9">
            <a:extLst>
              <a:ext uri="{FF2B5EF4-FFF2-40B4-BE49-F238E27FC236}">
                <a16:creationId xmlns="" xmlns:a16="http://schemas.microsoft.com/office/drawing/2014/main" id="{E1F7DC4D-0CB7-1A02-26C2-9AF55125A77A}"/>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92BDE474-8FF6-9BA4-25EC-4DD6E52B6E4D}"/>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A2C46674-9D9A-246A-F4A8-DD4681189529}"/>
              </a:ext>
            </a:extLst>
          </p:cNvPr>
          <p:cNvSpPr txBox="1"/>
          <p:nvPr/>
        </p:nvSpPr>
        <p:spPr>
          <a:xfrm>
            <a:off x="616244" y="1121076"/>
            <a:ext cx="8465763" cy="2555700"/>
          </a:xfrm>
          <a:prstGeom prst="rect">
            <a:avLst/>
          </a:prstGeom>
        </p:spPr>
        <p:txBody>
          <a:bodyPr vert="horz" wrap="square" lIns="0" tIns="15875" rIns="0" bIns="0" rtlCol="0" anchor="t">
            <a:spAutoFit/>
          </a:bodyPr>
          <a:lstStyle/>
          <a:p>
            <a:pPr marL="285750" indent="-285750" algn="l">
              <a:lnSpc>
                <a:spcPct val="150000"/>
              </a:lnSpc>
              <a:buFont typeface="Arial"/>
              <a:buChar char="•"/>
              <a:tabLst>
                <a:tab pos="298450" algn="l"/>
              </a:tabLst>
            </a:pPr>
            <a:r>
              <a:rPr lang="en-US" sz="1600" spc="-10" dirty="0">
                <a:solidFill>
                  <a:srgbClr val="1D1D1D"/>
                </a:solidFill>
                <a:latin typeface="Times New Roman"/>
                <a:cs typeface="Times New Roman"/>
              </a:rPr>
              <a:t>To develop an AI-based model for predicting stock price trends using historical market data.</a:t>
            </a:r>
            <a:endParaRPr lang="en-US" sz="1600" dirty="0">
              <a:latin typeface="Times New Roman"/>
              <a:cs typeface="Times New Roman"/>
            </a:endParaRPr>
          </a:p>
          <a:p>
            <a:pPr marL="285750" indent="-285750" algn="l">
              <a:lnSpc>
                <a:spcPct val="150000"/>
              </a:lnSpc>
              <a:buFont typeface="Arial"/>
              <a:buChar char="•"/>
              <a:tabLst>
                <a:tab pos="298450" algn="l"/>
              </a:tabLst>
            </a:pPr>
            <a:r>
              <a:rPr lang="en-US" sz="1600" spc="-10" dirty="0">
                <a:solidFill>
                  <a:srgbClr val="1D1D1D"/>
                </a:solidFill>
                <a:latin typeface="Times New Roman"/>
                <a:cs typeface="Times New Roman"/>
              </a:rPr>
              <a:t>To perform real-time sentiment analysis of financial news using Natural Language Processing (NLP). </a:t>
            </a:r>
            <a:endParaRPr lang="en-US" sz="1600" dirty="0">
              <a:latin typeface="Times New Roman"/>
              <a:cs typeface="Times New Roman"/>
            </a:endParaRPr>
          </a:p>
          <a:p>
            <a:pPr marL="285750" indent="-285750" algn="l">
              <a:lnSpc>
                <a:spcPct val="150000"/>
              </a:lnSpc>
              <a:buFont typeface="Arial"/>
              <a:buChar char="•"/>
              <a:tabLst>
                <a:tab pos="298450" algn="l"/>
              </a:tabLst>
            </a:pPr>
            <a:r>
              <a:rPr lang="en-US" sz="1600" spc="-10" dirty="0">
                <a:solidFill>
                  <a:srgbClr val="1D1D1D"/>
                </a:solidFill>
                <a:latin typeface="Times New Roman"/>
                <a:cs typeface="Times New Roman"/>
              </a:rPr>
              <a:t>To integrate numerical stock data with news sentiment for improved prediction accuracy. </a:t>
            </a:r>
            <a:endParaRPr lang="en-US" sz="1600" dirty="0">
              <a:latin typeface="Times New Roman"/>
              <a:cs typeface="Times New Roman"/>
            </a:endParaRPr>
          </a:p>
          <a:p>
            <a:pPr marL="285750" indent="-285750" algn="l">
              <a:lnSpc>
                <a:spcPct val="150000"/>
              </a:lnSpc>
              <a:buFont typeface="Arial"/>
              <a:buChar char="•"/>
              <a:tabLst>
                <a:tab pos="298450" algn="l"/>
              </a:tabLst>
            </a:pPr>
            <a:r>
              <a:rPr lang="en-US" sz="1600" spc="-10" dirty="0">
                <a:solidFill>
                  <a:srgbClr val="1D1D1D"/>
                </a:solidFill>
                <a:latin typeface="Times New Roman"/>
                <a:cs typeface="Times New Roman"/>
              </a:rPr>
              <a:t>To design an interactive web-based system for visualization of stock trends and sentiment results. </a:t>
            </a:r>
            <a:endParaRPr lang="en-US" sz="1600" dirty="0">
              <a:latin typeface="Times New Roman"/>
              <a:cs typeface="Times New Roman"/>
            </a:endParaRPr>
          </a:p>
          <a:p>
            <a:pPr marL="285750" indent="-285750" algn="l">
              <a:lnSpc>
                <a:spcPct val="150000"/>
              </a:lnSpc>
              <a:buFont typeface="Arial"/>
              <a:buChar char="•"/>
              <a:tabLst>
                <a:tab pos="298450" algn="l"/>
              </a:tabLst>
            </a:pPr>
            <a:r>
              <a:rPr lang="en-US" sz="1600" spc="-10" dirty="0">
                <a:solidFill>
                  <a:srgbClr val="1D1D1D"/>
                </a:solidFill>
                <a:latin typeface="Times New Roman"/>
                <a:cs typeface="Times New Roman"/>
              </a:rPr>
              <a:t>To provide a decision-support tool that helps investors understand market behavior more effectively. </a:t>
            </a:r>
            <a:endParaRPr lang="en-US" sz="1600" dirty="0">
              <a:latin typeface="Times New Roman"/>
              <a:cs typeface="Times New Roman"/>
            </a:endParaRPr>
          </a:p>
          <a:p>
            <a:pPr marL="285750" indent="-285750" algn="l">
              <a:lnSpc>
                <a:spcPct val="150000"/>
              </a:lnSpc>
              <a:buFont typeface="Arial"/>
              <a:buChar char="•"/>
              <a:tabLst>
                <a:tab pos="298450" algn="l"/>
              </a:tabLst>
            </a:pPr>
            <a:endParaRPr lang="en-US" sz="1600" dirty="0">
              <a:latin typeface="Times New Roman"/>
              <a:cs typeface="Times New Roman"/>
            </a:endParaRPr>
          </a:p>
        </p:txBody>
      </p:sp>
      <p:sp>
        <p:nvSpPr>
          <p:cNvPr id="8" name="Footer Placeholder 7">
            <a:extLst>
              <a:ext uri="{FF2B5EF4-FFF2-40B4-BE49-F238E27FC236}">
                <a16:creationId xmlns="" xmlns:a16="http://schemas.microsoft.com/office/drawing/2014/main" id="{A2034895-3677-9FBE-1C59-7226D3349EF1}"/>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3023253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ACA6F31-F5D2-1F86-687B-0ED1EE6D5D31}"/>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DBC5E8B3-DDB5-9916-EB06-26ACF01E0328}"/>
              </a:ext>
            </a:extLst>
          </p:cNvPr>
          <p:cNvGrpSpPr/>
          <p:nvPr/>
        </p:nvGrpSpPr>
        <p:grpSpPr>
          <a:xfrm>
            <a:off x="0" y="0"/>
            <a:ext cx="9144000" cy="748030"/>
            <a:chOff x="0" y="0"/>
            <a:chExt cx="9144000" cy="748030"/>
          </a:xfrm>
        </p:grpSpPr>
        <p:pic>
          <p:nvPicPr>
            <p:cNvPr id="3" name="object 3">
              <a:extLst>
                <a:ext uri="{FF2B5EF4-FFF2-40B4-BE49-F238E27FC236}">
                  <a16:creationId xmlns="" xmlns:a16="http://schemas.microsoft.com/office/drawing/2014/main" id="{DED23D31-6695-7520-FC22-91AB1EEDBE44}"/>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50F49F9E-6A7E-62AC-B92D-D25FD219C102}"/>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05309180-9479-8114-4400-EC1BB0F310E7}"/>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EED97730-814C-E07B-AB77-0C4855E4449F}"/>
              </a:ext>
            </a:extLst>
          </p:cNvPr>
          <p:cNvSpPr txBox="1">
            <a:spLocks noGrp="1"/>
          </p:cNvSpPr>
          <p:nvPr>
            <p:ph type="title"/>
          </p:nvPr>
        </p:nvSpPr>
        <p:spPr>
          <a:xfrm>
            <a:off x="3514725" y="-116389"/>
            <a:ext cx="5289549" cy="989886"/>
          </a:xfrm>
          <a:prstGeom prst="rect">
            <a:avLst/>
          </a:prstGeom>
        </p:spPr>
        <p:txBody>
          <a:bodyPr vert="horz" wrap="square" lIns="0" tIns="114173" rIns="0" bIns="0" rtlCol="0" anchor="t">
            <a:spAutoFit/>
          </a:bodyPr>
          <a:lstStyle/>
          <a:p>
            <a:pPr marL="342900" indent="-342900" algn="l"/>
            <a:r>
              <a:rPr lang="en-US" sz="3600" spc="-15" dirty="0">
                <a:ea typeface="Calibri"/>
              </a:rPr>
              <a:t>Algorithm</a:t>
            </a:r>
            <a:endParaRPr lang="en-US" sz="3600" dirty="0"/>
          </a:p>
          <a:p>
            <a:pPr marL="1830070">
              <a:lnSpc>
                <a:spcPct val="100000"/>
              </a:lnSpc>
              <a:spcBef>
                <a:spcPts val="100"/>
              </a:spcBef>
            </a:pPr>
            <a:endParaRPr lang="en-US" sz="2000" spc="-15" dirty="0">
              <a:latin typeface="Arial"/>
              <a:cs typeface="Arial"/>
            </a:endParaRPr>
          </a:p>
        </p:txBody>
      </p:sp>
      <p:sp>
        <p:nvSpPr>
          <p:cNvPr id="9" name="object 9">
            <a:extLst>
              <a:ext uri="{FF2B5EF4-FFF2-40B4-BE49-F238E27FC236}">
                <a16:creationId xmlns="" xmlns:a16="http://schemas.microsoft.com/office/drawing/2014/main" id="{C25B4631-98EB-078D-887B-E3A91048168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F467C5F0-F01C-98C1-2905-1D85E85E80DE}"/>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D163C49A-EA98-AAD7-9EAA-947B6CCB04F8}"/>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graphicFrame>
        <p:nvGraphicFramePr>
          <p:cNvPr id="12" name="Table 11">
            <a:extLst>
              <a:ext uri="{FF2B5EF4-FFF2-40B4-BE49-F238E27FC236}">
                <a16:creationId xmlns="" xmlns:a16="http://schemas.microsoft.com/office/drawing/2014/main" id="{E5B74256-F420-3039-0927-B7C6B9ABA190}"/>
              </a:ext>
            </a:extLst>
          </p:cNvPr>
          <p:cNvGraphicFramePr>
            <a:graphicFrameLocks noGrp="1"/>
          </p:cNvGraphicFramePr>
          <p:nvPr>
            <p:extLst>
              <p:ext uri="{D42A27DB-BD31-4B8C-83A1-F6EECF244321}">
                <p14:modId xmlns:p14="http://schemas.microsoft.com/office/powerpoint/2010/main" val="2206514047"/>
              </p:ext>
            </p:extLst>
          </p:nvPr>
        </p:nvGraphicFramePr>
        <p:xfrm>
          <a:off x="407039" y="990873"/>
          <a:ext cx="8321460" cy="3681867"/>
        </p:xfrm>
        <a:graphic>
          <a:graphicData uri="http://schemas.openxmlformats.org/drawingml/2006/table">
            <a:tbl>
              <a:tblPr bandRow="1">
                <a:tableStyleId>{7E9639D4-E3E2-4D34-9284-5A2195B3D0D7}</a:tableStyleId>
              </a:tblPr>
              <a:tblGrid>
                <a:gridCol w="2080365">
                  <a:extLst>
                    <a:ext uri="{9D8B030D-6E8A-4147-A177-3AD203B41FA5}">
                      <a16:colId xmlns="" xmlns:a16="http://schemas.microsoft.com/office/drawing/2014/main" val="538138046"/>
                    </a:ext>
                  </a:extLst>
                </a:gridCol>
                <a:gridCol w="2080365">
                  <a:extLst>
                    <a:ext uri="{9D8B030D-6E8A-4147-A177-3AD203B41FA5}">
                      <a16:colId xmlns="" xmlns:a16="http://schemas.microsoft.com/office/drawing/2014/main" val="422315189"/>
                    </a:ext>
                  </a:extLst>
                </a:gridCol>
                <a:gridCol w="2080365">
                  <a:extLst>
                    <a:ext uri="{9D8B030D-6E8A-4147-A177-3AD203B41FA5}">
                      <a16:colId xmlns="" xmlns:a16="http://schemas.microsoft.com/office/drawing/2014/main" val="3312592155"/>
                    </a:ext>
                  </a:extLst>
                </a:gridCol>
                <a:gridCol w="2080365">
                  <a:extLst>
                    <a:ext uri="{9D8B030D-6E8A-4147-A177-3AD203B41FA5}">
                      <a16:colId xmlns="" xmlns:a16="http://schemas.microsoft.com/office/drawing/2014/main" val="1774617480"/>
                    </a:ext>
                  </a:extLst>
                </a:gridCol>
              </a:tblGrid>
              <a:tr h="643432">
                <a:tc>
                  <a:txBody>
                    <a:bodyPr/>
                    <a:lstStyle/>
                    <a:p>
                      <a:pPr>
                        <a:buNone/>
                      </a:pPr>
                      <a:r>
                        <a:rPr lang="en-US" sz="1600" b="1" dirty="0">
                          <a:latin typeface="Times New Roman" pitchFamily="18" charset="0"/>
                          <a:cs typeface="Times New Roman"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latin typeface="Times New Roman" pitchFamily="18" charset="0"/>
                          <a:cs typeface="Times New Roman" pitchFamily="18" charset="0"/>
                        </a:rPr>
                        <a:t>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latin typeface="Times New Roman" pitchFamily="18" charset="0"/>
                          <a:cs typeface="Times New Roman" pitchFamily="18" charset="0"/>
                        </a:rPr>
                        <a:t>Limitation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latin typeface="Times New Roman" pitchFamily="18" charset="0"/>
                          <a:cs typeface="Times New Roman" pitchFamily="18" charset="0"/>
                        </a:rPr>
                        <a:t>Purpose (Why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58574520"/>
                  </a:ext>
                </a:extLst>
              </a:tr>
              <a:tr h="920467">
                <a:tc>
                  <a:txBody>
                    <a:bodyPr/>
                    <a:lstStyle/>
                    <a:p>
                      <a:pPr>
                        <a:buNone/>
                      </a:pPr>
                      <a:r>
                        <a:rPr lang="en-US" sz="1600" dirty="0">
                          <a:latin typeface="Times New Roman" pitchFamily="18" charset="0"/>
                          <a:cs typeface="Times New Roman" pitchFamily="18" charset="0"/>
                        </a:rPr>
                        <a:t>Linear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Simple, fast, easy to interpret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Cannot handle complex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Used as baseline model for basic trend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45743306"/>
                  </a:ext>
                </a:extLst>
              </a:tr>
              <a:tr h="920467">
                <a:tc>
                  <a:txBody>
                    <a:bodyPr/>
                    <a:lstStyle/>
                    <a:p>
                      <a:pPr>
                        <a:buNone/>
                      </a:pPr>
                      <a:r>
                        <a:rPr lang="en-US" sz="1600" dirty="0">
                          <a:latin typeface="Times New Roman" pitchFamily="18" charset="0"/>
                          <a:cs typeface="Times New Roman" pitchFamily="18"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Handles non-linear data, reduces </a:t>
                      </a:r>
                      <a:r>
                        <a:rPr lang="en-US" sz="1600" dirty="0" err="1">
                          <a:latin typeface="Times New Roman" pitchFamily="18" charset="0"/>
                          <a:cs typeface="Times New Roman" pitchFamily="18" charset="0"/>
                        </a:rPr>
                        <a:t>overfitting</a:t>
                      </a:r>
                      <a:endParaRPr lang="en-US" sz="1600" dirty="0">
                        <a:latin typeface="Times New Roman" pitchFamily="18" charset="0"/>
                        <a:cs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Less interpretable, more computation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Used for improving accuracy on complex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10322582"/>
                  </a:ext>
                </a:extLst>
              </a:tr>
              <a:tr h="1197501">
                <a:tc>
                  <a:txBody>
                    <a:bodyPr/>
                    <a:lstStyle/>
                    <a:p>
                      <a:pPr>
                        <a:buNone/>
                      </a:pPr>
                      <a:r>
                        <a:rPr lang="en-US" sz="1600" dirty="0">
                          <a:latin typeface="Times New Roman" pitchFamily="18" charset="0"/>
                          <a:cs typeface="Times New Roman" pitchFamily="18" charset="0"/>
                        </a:rPr>
                        <a:t>LSTM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Captures time-series patterns, remembers past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High complexity, needs more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Times New Roman" pitchFamily="18" charset="0"/>
                          <a:cs typeface="Times New Roman" pitchFamily="18" charset="0"/>
                        </a:rPr>
                        <a:t>Used for stock </a:t>
                      </a:r>
                      <a:r>
                        <a:rPr lang="en-US" sz="1600" dirty="0" smtClean="0">
                          <a:latin typeface="Times New Roman" pitchFamily="18" charset="0"/>
                          <a:cs typeface="Times New Roman" pitchFamily="18" charset="0"/>
                        </a:rPr>
                        <a:t>prediction (</a:t>
                      </a:r>
                      <a:r>
                        <a:rPr lang="en-US" sz="1600" dirty="0">
                          <a:latin typeface="Times New Roman" pitchFamily="18" charset="0"/>
                          <a:cs typeface="Times New Roman" pitchFamily="18" charset="0"/>
                        </a:rPr>
                        <a:t>sequential/time-based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34996433"/>
                  </a:ext>
                </a:extLst>
              </a:tr>
            </a:tbl>
          </a:graphicData>
        </a:graphic>
      </p:graphicFrame>
    </p:spTree>
    <p:extLst>
      <p:ext uri="{BB962C8B-B14F-4D97-AF65-F5344CB8AC3E}">
        <p14:creationId xmlns:p14="http://schemas.microsoft.com/office/powerpoint/2010/main" val="1339516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398EF01-4EE9-D7CB-78DA-DF1A1B959830}"/>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AA218DDF-ABDD-63C5-8BCC-AF2793CCCD85}"/>
              </a:ext>
            </a:extLst>
          </p:cNvPr>
          <p:cNvGrpSpPr/>
          <p:nvPr/>
        </p:nvGrpSpPr>
        <p:grpSpPr>
          <a:xfrm>
            <a:off x="0" y="8223"/>
            <a:ext cx="9144000" cy="748030"/>
            <a:chOff x="0" y="0"/>
            <a:chExt cx="9144000" cy="748030"/>
          </a:xfrm>
        </p:grpSpPr>
        <p:pic>
          <p:nvPicPr>
            <p:cNvPr id="3" name="object 3">
              <a:extLst>
                <a:ext uri="{FF2B5EF4-FFF2-40B4-BE49-F238E27FC236}">
                  <a16:creationId xmlns="" xmlns:a16="http://schemas.microsoft.com/office/drawing/2014/main" id="{8BEFD6AB-061A-AA68-348B-FF891264317C}"/>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98109D01-3A2B-9084-4EC5-0E59ACE2AE9E}"/>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84BA8271-11EB-CDCD-5A51-B914CAA51A09}"/>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C64D82BC-560D-5C09-0EE7-5C990BE74C72}"/>
              </a:ext>
            </a:extLst>
          </p:cNvPr>
          <p:cNvSpPr txBox="1">
            <a:spLocks noGrp="1"/>
          </p:cNvSpPr>
          <p:nvPr>
            <p:ph type="title"/>
          </p:nvPr>
        </p:nvSpPr>
        <p:spPr>
          <a:xfrm>
            <a:off x="2401760" y="-82363"/>
            <a:ext cx="6040579" cy="1543884"/>
          </a:xfrm>
          <a:prstGeom prst="rect">
            <a:avLst/>
          </a:prstGeom>
        </p:spPr>
        <p:txBody>
          <a:bodyPr vert="horz" wrap="square" lIns="0" tIns="114173" rIns="0" bIns="0" rtlCol="0" anchor="t">
            <a:spAutoFit/>
          </a:bodyPr>
          <a:lstStyle/>
          <a:p>
            <a:pPr marL="342900" indent="-342900" algn="l"/>
            <a:r>
              <a:rPr lang="en-US" sz="3600" spc="-15" dirty="0" smtClean="0">
                <a:ea typeface="Calibri"/>
              </a:rPr>
              <a:t>Mathematical  Model</a:t>
            </a:r>
            <a:endParaRPr lang="en-US" sz="3600" spc="-15" dirty="0">
              <a:ea typeface="Calibri"/>
            </a:endParaRPr>
          </a:p>
          <a:p>
            <a:pPr marL="342900" indent="-342900" algn="l"/>
            <a:endParaRPr lang="en-US" sz="3600" spc="-15" dirty="0">
              <a:ea typeface="Calibri"/>
            </a:endParaRPr>
          </a:p>
          <a:p>
            <a:pPr marL="1830070">
              <a:lnSpc>
                <a:spcPct val="100000"/>
              </a:lnSpc>
              <a:spcBef>
                <a:spcPts val="100"/>
              </a:spcBef>
            </a:pPr>
            <a:endParaRPr lang="en-US" sz="2000" spc="-15" dirty="0">
              <a:latin typeface="Arial"/>
              <a:cs typeface="Arial"/>
            </a:endParaRPr>
          </a:p>
        </p:txBody>
      </p:sp>
      <p:sp>
        <p:nvSpPr>
          <p:cNvPr id="9" name="object 9">
            <a:extLst>
              <a:ext uri="{FF2B5EF4-FFF2-40B4-BE49-F238E27FC236}">
                <a16:creationId xmlns="" xmlns:a16="http://schemas.microsoft.com/office/drawing/2014/main" id="{83EF66DA-6C45-3A0C-036F-7FB06A96789D}"/>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F35794A2-E174-61F8-5DB9-19BD0D88A82F}"/>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4BF9DBBA-42A2-5CAD-290E-222BFFC17C73}"/>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mc:AlternateContent xmlns:mc="http://schemas.openxmlformats.org/markup-compatibility/2006">
        <mc:Choice xmlns:a14="http://schemas.microsoft.com/office/drawing/2010/main" Requires="a14">
          <p:sp>
            <p:nvSpPr>
              <p:cNvPr id="7" name="TextBox 6"/>
              <p:cNvSpPr txBox="1"/>
              <p:nvPr/>
            </p:nvSpPr>
            <p:spPr>
              <a:xfrm>
                <a:off x="161778" y="658611"/>
                <a:ext cx="8820444" cy="4059060"/>
              </a:xfrm>
              <a:prstGeom prst="rect">
                <a:avLst/>
              </a:prstGeom>
              <a:noFill/>
            </p:spPr>
            <p:txBody>
              <a:bodyPr wrap="square" rtlCol="0">
                <a:spAutoFit/>
              </a:bodyPr>
              <a:lstStyle/>
              <a:p>
                <a:pP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1. Input historical stock data:    </a:t>
                </a:r>
                <a14:m>
                  <m:oMath xmlns:m="http://schemas.openxmlformats.org/officeDocument/2006/math">
                    <m:sSup>
                      <m:sSupPr>
                        <m:ctrlPr>
                          <a:rPr lang="en-US" sz="1400" i="1" dirty="0" smtClean="0">
                            <a:latin typeface="Cambria Math"/>
                          </a:rPr>
                        </m:ctrlPr>
                      </m:sSupPr>
                      <m:e>
                        <m:r>
                          <a:rPr lang="en-US" sz="1400" b="0" i="1" dirty="0" smtClean="0">
                            <a:latin typeface="Cambria Math"/>
                          </a:rPr>
                          <m:t>𝑥</m:t>
                        </m:r>
                      </m:e>
                      <m:sup>
                        <m:r>
                          <a:rPr lang="en-US" sz="1400" b="0" i="1" dirty="0" smtClean="0">
                            <a:latin typeface="Cambria Math"/>
                          </a:rPr>
                          <m:t>𝑡</m:t>
                        </m:r>
                      </m:sup>
                    </m:sSup>
                  </m:oMath>
                </a14:m>
                <a:r>
                  <a:rPr lang="en-US" sz="1400" dirty="0" smtClean="0">
                    <a:latin typeface="Times New Roman" pitchFamily="18" charset="0"/>
                    <a:cs typeface="Times New Roman" pitchFamily="18" charset="0"/>
                  </a:rPr>
                  <a:t> = [Open, Close, High, Low, Volume]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2. Create time-series sequence:   </a:t>
                </a:r>
                <a14:m>
                  <m:oMath xmlns:m="http://schemas.openxmlformats.org/officeDocument/2006/math">
                    <m:r>
                      <m:rPr>
                        <m:nor/>
                      </m:rPr>
                      <a:rPr lang="en-US" sz="1400" smtClean="0">
                        <a:latin typeface="Times New Roman" pitchFamily="18" charset="0"/>
                        <a:cs typeface="Times New Roman" pitchFamily="18" charset="0"/>
                      </a:rPr>
                      <m:t>Xt</m:t>
                    </m:r>
                    <m:r>
                      <m:rPr>
                        <m:nor/>
                      </m:rPr>
                      <a:rPr lang="en-US" sz="1400" smtClean="0">
                        <a:latin typeface="Times New Roman" pitchFamily="18" charset="0"/>
                        <a:cs typeface="Times New Roman" pitchFamily="18" charset="0"/>
                      </a:rPr>
                      <m:t>​=[</m:t>
                    </m:r>
                    <m:r>
                      <m:rPr>
                        <m:nor/>
                      </m:rPr>
                      <a:rPr lang="en-US" sz="1400" smtClean="0">
                        <a:latin typeface="Times New Roman" pitchFamily="18" charset="0"/>
                        <a:cs typeface="Times New Roman" pitchFamily="18" charset="0"/>
                      </a:rPr>
                      <m:t>xt</m:t>
                    </m:r>
                    <m:r>
                      <m:rPr>
                        <m:nor/>
                      </m:rPr>
                      <a:rPr lang="en-US" sz="1400" smtClean="0">
                        <a:latin typeface="Times New Roman" pitchFamily="18" charset="0"/>
                        <a:cs typeface="Times New Roman" pitchFamily="18" charset="0"/>
                      </a:rPr>
                      <m:t>−</m:t>
                    </m:r>
                    <m:r>
                      <m:rPr>
                        <m:nor/>
                      </m:rPr>
                      <a:rPr lang="en-US" sz="1400" smtClean="0">
                        <a:latin typeface="Times New Roman" pitchFamily="18" charset="0"/>
                        <a:cs typeface="Times New Roman" pitchFamily="18" charset="0"/>
                      </a:rPr>
                      <m:t>T</m:t>
                    </m:r>
                    <m:r>
                      <m:rPr>
                        <m:nor/>
                      </m:rPr>
                      <a:rPr lang="en-US" sz="1400" smtClean="0">
                        <a:latin typeface="Times New Roman" pitchFamily="18" charset="0"/>
                        <a:cs typeface="Times New Roman" pitchFamily="18" charset="0"/>
                      </a:rPr>
                      <m:t>+1​,...,</m:t>
                    </m:r>
                    <m:r>
                      <m:rPr>
                        <m:nor/>
                      </m:rPr>
                      <a:rPr lang="en-US" sz="1400" smtClean="0">
                        <a:latin typeface="Times New Roman" pitchFamily="18" charset="0"/>
                        <a:cs typeface="Times New Roman" pitchFamily="18" charset="0"/>
                      </a:rPr>
                      <m:t>xt</m:t>
                    </m:r>
                    <m:r>
                      <m:rPr>
                        <m:nor/>
                      </m:rPr>
                      <a:rPr lang="en-US" sz="1400" smtClean="0">
                        <a:latin typeface="Times New Roman" pitchFamily="18" charset="0"/>
                        <a:cs typeface="Times New Roman" pitchFamily="18" charset="0"/>
                      </a:rPr>
                      <m:t>​]</m:t>
                    </m:r>
                  </m:oMath>
                </a14:m>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3. Apply LSTM model to learn patterns and predict:   </a:t>
                </a:r>
                <a14:m>
                  <m:oMath xmlns:m="http://schemas.openxmlformats.org/officeDocument/2006/math">
                    <m:sSup>
                      <m:sSupPr>
                        <m:ctrlPr>
                          <a:rPr lang="en-US" sz="1400" i="1" dirty="0" smtClean="0">
                            <a:latin typeface="Cambria Math"/>
                          </a:rPr>
                        </m:ctrlPr>
                      </m:sSupPr>
                      <m:e>
                        <m:r>
                          <a:rPr lang="en-US" sz="1400" b="0" i="1" dirty="0" smtClean="0">
                            <a:latin typeface="Cambria Math"/>
                          </a:rPr>
                          <m:t>𝑦</m:t>
                        </m:r>
                      </m:e>
                      <m:sup>
                        <m:r>
                          <a:rPr lang="en-US" sz="1400" b="0" i="1" dirty="0" smtClean="0">
                            <a:latin typeface="Cambria Math"/>
                          </a:rPr>
                          <m:t>𝑡</m:t>
                        </m:r>
                      </m:sup>
                    </m:sSup>
                    <m:r>
                      <a:rPr lang="en-US" sz="1400" i="1" dirty="0" smtClean="0">
                        <a:latin typeface="Cambria Math"/>
                      </a:rPr>
                      <m:t> </m:t>
                    </m:r>
                  </m:oMath>
                </a14:m>
                <a:r>
                  <a:rPr lang="en-US" sz="1400" dirty="0" smtClean="0">
                    <a:latin typeface="Times New Roman" pitchFamily="18" charset="0"/>
                    <a:cs typeface="Times New Roman" pitchFamily="18" charset="0"/>
                  </a:rPr>
                  <a:t>+ H​ = {Predicted Stock Price}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4. Minimize prediction error using:  </a:t>
                </a:r>
                <a14:m>
                  <m:oMath xmlns:m="http://schemas.openxmlformats.org/officeDocument/2006/math">
                    <m:r>
                      <m:rPr>
                        <m:nor/>
                      </m:rPr>
                      <a:rPr lang="en-US" sz="1400" smtClean="0">
                        <a:latin typeface="Times New Roman" pitchFamily="18" charset="0"/>
                        <a:cs typeface="Times New Roman" pitchFamily="18" charset="0"/>
                      </a:rPr>
                      <m:t>MSE</m:t>
                    </m:r>
                    <m:r>
                      <m:rPr>
                        <m:nor/>
                      </m:rPr>
                      <a:rPr lang="en-US" sz="1400" smtClean="0">
                        <a:latin typeface="Times New Roman" pitchFamily="18" charset="0"/>
                        <a:cs typeface="Times New Roman" pitchFamily="18" charset="0"/>
                      </a:rPr>
                      <m:t>=</m:t>
                    </m:r>
                    <m:f>
                      <m:fPr>
                        <m:ctrlPr>
                          <a:rPr lang="en-US" sz="1400" i="1" smtClean="0">
                            <a:latin typeface="Cambria Math"/>
                          </a:rPr>
                        </m:ctrlPr>
                      </m:fPr>
                      <m:num>
                        <m:r>
                          <a:rPr lang="en-US" sz="1400" b="0" i="1" smtClean="0">
                            <a:latin typeface="Cambria Math"/>
                          </a:rPr>
                          <m:t>1</m:t>
                        </m:r>
                      </m:num>
                      <m:den>
                        <m:r>
                          <a:rPr lang="en-US" sz="1400" b="0" i="1" smtClean="0">
                            <a:latin typeface="Cambria Math"/>
                          </a:rPr>
                          <m:t>𝑁</m:t>
                        </m:r>
                      </m:den>
                    </m:f>
                    <m:r>
                      <m:rPr>
                        <m:nor/>
                      </m:rPr>
                      <a:rPr lang="en-US" sz="1400" smtClean="0">
                        <a:latin typeface="Times New Roman" pitchFamily="18" charset="0"/>
                        <a:cs typeface="Times New Roman" pitchFamily="18" charset="0"/>
                      </a:rPr>
                      <m:t>​∑</m:t>
                    </m:r>
                    <m:sSup>
                      <m:sSupPr>
                        <m:ctrlPr>
                          <a:rPr lang="en-US" sz="1400" i="1" smtClean="0">
                            <a:latin typeface="Cambria Math"/>
                          </a:rPr>
                        </m:ctrlPr>
                      </m:sSupPr>
                      <m:e>
                        <m:r>
                          <m:rPr>
                            <m:nor/>
                          </m:rPr>
                          <a:rPr lang="en-US" sz="1400" smtClean="0">
                            <a:latin typeface="Times New Roman" pitchFamily="18" charset="0"/>
                            <a:cs typeface="Times New Roman" pitchFamily="18" charset="0"/>
                          </a:rPr>
                          <m:t>(</m:t>
                        </m:r>
                        <m:r>
                          <m:rPr>
                            <m:nor/>
                          </m:rPr>
                          <a:rPr lang="en-US" sz="1400" b="0" i="0" smtClean="0">
                            <a:latin typeface="Times New Roman" pitchFamily="18" charset="0"/>
                            <a:cs typeface="Times New Roman" pitchFamily="18" charset="0"/>
                          </a:rPr>
                          <m:t>y</m:t>
                        </m:r>
                        <m:r>
                          <m:rPr>
                            <m:nor/>
                          </m:rPr>
                          <a:rPr lang="en-US" sz="1400" smtClean="0">
                            <a:latin typeface="Times New Roman" pitchFamily="18" charset="0"/>
                            <a:cs typeface="Times New Roman" pitchFamily="18" charset="0"/>
                          </a:rPr>
                          <m:t>−</m:t>
                        </m:r>
                        <m:acc>
                          <m:accPr>
                            <m:chr m:val="̂"/>
                            <m:ctrlPr>
                              <a:rPr lang="en-US" sz="1400" i="1" smtClean="0">
                                <a:latin typeface="Cambria Math"/>
                              </a:rPr>
                            </m:ctrlPr>
                          </m:accPr>
                          <m:e>
                            <m:r>
                              <a:rPr lang="en-US" sz="1400" b="0" i="1" smtClean="0">
                                <a:latin typeface="Cambria Math"/>
                              </a:rPr>
                              <m:t>𝑦</m:t>
                            </m:r>
                          </m:e>
                        </m:acc>
                        <m:r>
                          <m:rPr>
                            <m:nor/>
                          </m:rPr>
                          <a:rPr lang="en-US" sz="1400" smtClean="0">
                            <a:latin typeface="Times New Roman" pitchFamily="18" charset="0"/>
                            <a:cs typeface="Times New Roman" pitchFamily="18" charset="0"/>
                          </a:rPr>
                          <m:t>​</m:t>
                        </m:r>
                        <m:r>
                          <a:rPr lang="en-US" sz="1400" b="0" i="1" smtClean="0">
                            <a:latin typeface="Cambria Math"/>
                          </a:rPr>
                          <m:t>)</m:t>
                        </m:r>
                      </m:e>
                      <m:sup>
                        <m:r>
                          <a:rPr lang="en-US" sz="1400" b="0" i="1" smtClean="0">
                            <a:latin typeface="Cambria Math"/>
                          </a:rPr>
                          <m:t>2</m:t>
                        </m:r>
                      </m:sup>
                    </m:sSup>
                  </m:oMath>
                </a14:m>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a:latin typeface="Times New Roman" pitchFamily="18" charset="0"/>
                    <a:cs typeface="Times New Roman" pitchFamily="18" charset="0"/>
                  </a:rPr>
                  <a:t/>
                </a:r>
                <a:br>
                  <a:rPr lang="en-US" sz="1400" dirty="0">
                    <a:latin typeface="Times New Roman" pitchFamily="18" charset="0"/>
                    <a:cs typeface="Times New Roman" pitchFamily="18" charset="0"/>
                  </a:rPr>
                </a:br>
                <a:r>
                  <a:rPr lang="en-US" sz="1400" dirty="0" smtClean="0">
                    <a:latin typeface="Times New Roman" pitchFamily="18" charset="0"/>
                    <a:cs typeface="Times New Roman" pitchFamily="18" charset="0"/>
                  </a:rPr>
                  <a:t>5. Convert news headlines into vectors and classify sentiment:</a:t>
                </a:r>
                <a:r>
                  <a:rPr lang="en-US" sz="1400" dirty="0">
                    <a:latin typeface="Times New Roman" pitchFamily="18" charset="0"/>
                    <a:cs typeface="Times New Roman" pitchFamily="18" charset="0"/>
                  </a:rPr>
                  <a:t> </a:t>
                </a:r>
                <a:r>
                  <a:rPr lang="en-US" sz="1400" dirty="0" smtClean="0">
                    <a:latin typeface="Times New Roman" pitchFamily="18" charset="0"/>
                    <a:cs typeface="Times New Roman" pitchFamily="18" charset="0"/>
                  </a:rPr>
                  <a:t> </a:t>
                </a:r>
                <a14:m>
                  <m:oMath xmlns:m="http://schemas.openxmlformats.org/officeDocument/2006/math">
                    <m:r>
                      <m:rPr>
                        <m:nor/>
                      </m:rPr>
                      <a:rPr lang="en-US" sz="1400" smtClean="0">
                        <a:latin typeface="Times New Roman" pitchFamily="18" charset="0"/>
                        <a:cs typeface="Times New Roman" pitchFamily="18" charset="0"/>
                      </a:rPr>
                      <m:t>St</m:t>
                    </m:r>
                    <m:r>
                      <m:rPr>
                        <m:nor/>
                      </m:rPr>
                      <a:rPr lang="en-US" sz="1400" smtClean="0">
                        <a:latin typeface="Times New Roman" pitchFamily="18" charset="0"/>
                        <a:cs typeface="Times New Roman" pitchFamily="18" charset="0"/>
                      </a:rPr>
                      <m:t>​=</m:t>
                    </m:r>
                    <m:r>
                      <m:rPr>
                        <m:nor/>
                      </m:rPr>
                      <a:rPr lang="en-US" sz="1400" smtClean="0">
                        <a:latin typeface="Times New Roman" pitchFamily="18" charset="0"/>
                        <a:cs typeface="Times New Roman" pitchFamily="18" charset="0"/>
                      </a:rPr>
                      <m:t>Sentiment</m:t>
                    </m:r>
                    <m:r>
                      <m:rPr>
                        <m:nor/>
                      </m:rPr>
                      <a:rPr lang="en-US" sz="1400" smtClean="0">
                        <a:latin typeface="Times New Roman" pitchFamily="18" charset="0"/>
                        <a:cs typeface="Times New Roman" pitchFamily="18" charset="0"/>
                      </a:rPr>
                      <m:t> </m:t>
                    </m:r>
                    <m:r>
                      <m:rPr>
                        <m:nor/>
                      </m:rPr>
                      <a:rPr lang="en-US" sz="1400" smtClean="0">
                        <a:latin typeface="Times New Roman" pitchFamily="18" charset="0"/>
                        <a:cs typeface="Times New Roman" pitchFamily="18" charset="0"/>
                      </a:rPr>
                      <m:t>Score</m:t>
                    </m:r>
                    <m:r>
                      <m:rPr>
                        <m:nor/>
                      </m:rPr>
                      <a:rPr lang="en-US" sz="1400" b="0" i="0" smtClean="0">
                        <a:latin typeface="Times New Roman" pitchFamily="18" charset="0"/>
                        <a:cs typeface="Times New Roman" pitchFamily="18" charset="0"/>
                      </a:rPr>
                      <m:t> </m:t>
                    </m:r>
                    <m:r>
                      <m:rPr>
                        <m:nor/>
                      </m:rPr>
                      <a:rPr lang="en-US" sz="1400" smtClean="0">
                        <a:latin typeface="Times New Roman" pitchFamily="18" charset="0"/>
                        <a:cs typeface="Times New Roman" pitchFamily="18" charset="0"/>
                      </a:rPr>
                      <m:t>(−1 </m:t>
                    </m:r>
                    <m:r>
                      <m:rPr>
                        <m:nor/>
                      </m:rPr>
                      <a:rPr lang="en-US" sz="1400" smtClean="0">
                        <a:latin typeface="Times New Roman" pitchFamily="18" charset="0"/>
                        <a:cs typeface="Times New Roman" pitchFamily="18" charset="0"/>
                      </a:rPr>
                      <m:t>to</m:t>
                    </m:r>
                    <m:r>
                      <m:rPr>
                        <m:nor/>
                      </m:rPr>
                      <a:rPr lang="en-US" sz="1400" smtClean="0">
                        <a:latin typeface="Times New Roman" pitchFamily="18" charset="0"/>
                        <a:cs typeface="Times New Roman" pitchFamily="18" charset="0"/>
                      </a:rPr>
                      <m:t> +1)</m:t>
                    </m:r>
                  </m:oMath>
                </a14:m>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6. Combine prediction and sentiment using weighted formula:  </a:t>
                </a:r>
                <a14:m>
                  <m:oMath xmlns:m="http://schemas.openxmlformats.org/officeDocument/2006/math">
                    <m:r>
                      <m:rPr>
                        <m:nor/>
                      </m:rPr>
                      <a:rPr lang="en-US" sz="1400" smtClean="0">
                        <a:latin typeface="Times New Roman" pitchFamily="18" charset="0"/>
                        <a:cs typeface="Times New Roman" pitchFamily="18" charset="0"/>
                      </a:rPr>
                      <m:t>Ct</m:t>
                    </m:r>
                    <m:r>
                      <m:rPr>
                        <m:nor/>
                      </m:rPr>
                      <a:rPr lang="en-US" sz="1400" smtClean="0">
                        <a:latin typeface="Times New Roman" pitchFamily="18" charset="0"/>
                        <a:cs typeface="Times New Roman" pitchFamily="18" charset="0"/>
                      </a:rPr>
                      <m:t>​ = </m:t>
                    </m:r>
                    <m:r>
                      <m:rPr>
                        <m:nor/>
                      </m:rPr>
                      <a:rPr lang="el-GR" sz="1400" smtClean="0">
                        <a:latin typeface="Times New Roman" pitchFamily="18" charset="0"/>
                        <a:cs typeface="Times New Roman" pitchFamily="18" charset="0"/>
                      </a:rPr>
                      <m:t>α</m:t>
                    </m:r>
                    <m:sSup>
                      <m:sSupPr>
                        <m:ctrlPr>
                          <a:rPr lang="el-GR" sz="1400" i="1" smtClean="0">
                            <a:latin typeface="Cambria Math"/>
                          </a:rPr>
                        </m:ctrlPr>
                      </m:sSupPr>
                      <m:e>
                        <m:r>
                          <a:rPr lang="en-US" sz="1400" b="0" i="1" smtClean="0">
                            <a:latin typeface="Cambria Math"/>
                          </a:rPr>
                          <m:t>𝑟</m:t>
                        </m:r>
                      </m:e>
                      <m:sup>
                        <m:r>
                          <a:rPr lang="en-US" sz="1400" b="0" i="1" smtClean="0">
                            <a:latin typeface="Cambria Math"/>
                          </a:rPr>
                          <m:t>𝑡</m:t>
                        </m:r>
                      </m:sup>
                    </m:sSup>
                    <m:r>
                      <m:rPr>
                        <m:nor/>
                      </m:rPr>
                      <a:rPr lang="en-US" sz="1400" smtClean="0">
                        <a:latin typeface="Times New Roman" pitchFamily="18" charset="0"/>
                        <a:cs typeface="Times New Roman" pitchFamily="18" charset="0"/>
                      </a:rPr>
                      <m:t>+</m:t>
                    </m:r>
                    <m:r>
                      <m:rPr>
                        <m:nor/>
                      </m:rPr>
                      <a:rPr lang="en-US" sz="1400" smtClean="0">
                        <a:latin typeface="Times New Roman" pitchFamily="18" charset="0"/>
                        <a:cs typeface="Times New Roman" pitchFamily="18" charset="0"/>
                      </a:rPr>
                      <m:t>H</m:t>
                    </m:r>
                    <m:r>
                      <m:rPr>
                        <m:nor/>
                      </m:rPr>
                      <a:rPr lang="en-US" sz="1400" smtClean="0">
                        <a:latin typeface="Times New Roman" pitchFamily="18" charset="0"/>
                        <a:cs typeface="Times New Roman" pitchFamily="18" charset="0"/>
                      </a:rPr>
                      <m:t>​+</m:t>
                    </m:r>
                    <m:r>
                      <m:rPr>
                        <m:nor/>
                      </m:rPr>
                      <a:rPr lang="el-GR" sz="1400" smtClean="0">
                        <a:latin typeface="Times New Roman" pitchFamily="18" charset="0"/>
                        <a:cs typeface="Times New Roman" pitchFamily="18" charset="0"/>
                      </a:rPr>
                      <m:t>β</m:t>
                    </m:r>
                    <m:r>
                      <m:rPr>
                        <m:nor/>
                      </m:rPr>
                      <a:rPr lang="en-US" sz="1400" smtClean="0">
                        <a:latin typeface="Times New Roman" pitchFamily="18" charset="0"/>
                        <a:cs typeface="Times New Roman" pitchFamily="18" charset="0"/>
                      </a:rPr>
                      <m:t>St</m:t>
                    </m:r>
                    <m:r>
                      <m:rPr>
                        <m:nor/>
                      </m:rPr>
                      <a:rPr lang="en-US" sz="1400" smtClean="0">
                        <a:latin typeface="Times New Roman" pitchFamily="18" charset="0"/>
                        <a:cs typeface="Times New Roman" pitchFamily="18" charset="0"/>
                      </a:rPr>
                      <m:t>​</m:t>
                    </m:r>
                  </m:oMath>
                </a14:m>
                <a:endParaRPr lang="en-US" sz="1400" dirty="0" smtClean="0">
                  <a:latin typeface="Times New Roman" pitchFamily="18" charset="0"/>
                  <a:cs typeface="Times New Roman" pitchFamily="18" charset="0"/>
                </a:endParaRPr>
              </a:p>
              <a:p>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7. Final decision based on threshold</a:t>
                </a:r>
                <a:r>
                  <a:rPr lang="en-US" sz="1400" dirty="0" smtClean="0">
                    <a:latin typeface="Times New Roman" pitchFamily="18" charset="0"/>
                    <a:cs typeface="Times New Roman" pitchFamily="18" charset="0"/>
                  </a:rPr>
                  <a:t>:</a:t>
                </a:r>
              </a:p>
              <a:p>
                <a:r>
                  <a:rPr lang="en-US" sz="140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a:latin typeface="Times New Roman" pitchFamily="18" charset="0"/>
                    <a:cs typeface="Times New Roman" pitchFamily="18" charset="0"/>
                  </a:rPr>
                  <a:t> </a:t>
                </a:r>
                <a:r>
                  <a:rPr lang="en-US" sz="1400" dirty="0" smtClean="0">
                    <a:latin typeface="Times New Roman" pitchFamily="18" charset="0"/>
                    <a:cs typeface="Times New Roman" pitchFamily="18" charset="0"/>
                  </a:rPr>
                  <a:t>    If </a:t>
                </a:r>
                <a14:m>
                  <m:oMath xmlns:m="http://schemas.openxmlformats.org/officeDocument/2006/math">
                    <m:r>
                      <a:rPr lang="en-US" sz="1400" b="0" i="0" smtClean="0">
                        <a:latin typeface="Cambria Math"/>
                      </a:rPr>
                      <m:t> </m:t>
                    </m:r>
                    <m:r>
                      <m:rPr>
                        <m:nor/>
                      </m:rPr>
                      <a:rPr lang="en-US" sz="1400" smtClean="0">
                        <a:latin typeface="Times New Roman" pitchFamily="18" charset="0"/>
                        <a:cs typeface="Times New Roman" pitchFamily="18" charset="0"/>
                      </a:rPr>
                      <m:t>Ct</m:t>
                    </m:r>
                    <m:r>
                      <m:rPr>
                        <m:nor/>
                      </m:rPr>
                      <a:rPr lang="en-US" sz="1400" smtClean="0">
                        <a:latin typeface="Times New Roman" pitchFamily="18" charset="0"/>
                        <a:cs typeface="Times New Roman" pitchFamily="18" charset="0"/>
                      </a:rPr>
                      <m:t>​&gt;</m:t>
                    </m:r>
                    <m:r>
                      <m:rPr>
                        <m:nor/>
                      </m:rPr>
                      <a:rPr lang="el-GR" sz="1400" smtClean="0">
                        <a:latin typeface="Times New Roman" pitchFamily="18" charset="0"/>
                        <a:cs typeface="Times New Roman" pitchFamily="18" charset="0"/>
                      </a:rPr>
                      <m:t>τ</m:t>
                    </m:r>
                  </m:oMath>
                </a14:m>
                <a:r>
                  <a:rPr lang="en-US" sz="1400" dirty="0" smtClean="0">
                    <a:latin typeface="Times New Roman" pitchFamily="18" charset="0"/>
                    <a:cs typeface="Times New Roman" pitchFamily="18" charset="0"/>
                  </a:rPr>
                  <a:t> → Buy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     If  Ct​&lt;</a:t>
                </a:r>
                <a:r>
                  <a:rPr lang="el-GR" sz="1400" dirty="0" smtClean="0">
                    <a:latin typeface="Times New Roman" pitchFamily="18" charset="0"/>
                    <a:cs typeface="Times New Roman" pitchFamily="18" charset="0"/>
                  </a:rPr>
                  <a:t>τ</a:t>
                </a:r>
                <a:r>
                  <a:rPr lang="en-US" sz="1400" dirty="0" smtClean="0">
                    <a:latin typeface="Times New Roman" pitchFamily="18" charset="0"/>
                    <a:cs typeface="Times New Roman" pitchFamily="18" charset="0"/>
                  </a:rPr>
                  <a:t>→  Sell </a:t>
                </a:r>
                <a:br>
                  <a:rPr lang="en-US" sz="1400" dirty="0" smtClean="0">
                    <a:latin typeface="Times New Roman" pitchFamily="18" charset="0"/>
                    <a:cs typeface="Times New Roman" pitchFamily="18" charset="0"/>
                  </a:rPr>
                </a:br>
                <a:r>
                  <a:rPr lang="en-US" sz="1400" dirty="0">
                    <a:latin typeface="Times New Roman" pitchFamily="18" charset="0"/>
                    <a:cs typeface="Times New Roman" pitchFamily="18" charset="0"/>
                  </a:rPr>
                  <a:t> </a:t>
                </a:r>
                <a:r>
                  <a:rPr lang="en-US" sz="1400" dirty="0" smtClean="0">
                    <a:latin typeface="Times New Roman" pitchFamily="18" charset="0"/>
                    <a:cs typeface="Times New Roman" pitchFamily="18" charset="0"/>
                  </a:rPr>
                  <a:t>    Else   →  Hold </a:t>
                </a:r>
                <a:endParaRPr lang="en-US" sz="1400" dirty="0">
                  <a:latin typeface="Times New Roman" pitchFamily="18" charset="0"/>
                  <a:cs typeface="Times New Roman" pitchFamily="18" charset="0"/>
                </a:endParaRPr>
              </a:p>
            </p:txBody>
          </p:sp>
        </mc:Choice>
        <mc:Fallback>
          <p:sp>
            <p:nvSpPr>
              <p:cNvPr id="7" name="TextBox 6"/>
              <p:cNvSpPr txBox="1">
                <a:spLocks noRot="1" noChangeAspect="1" noMove="1" noResize="1" noEditPoints="1" noAdjustHandles="1" noChangeArrowheads="1" noChangeShapeType="1" noTextEdit="1"/>
              </p:cNvSpPr>
              <p:nvPr/>
            </p:nvSpPr>
            <p:spPr>
              <a:xfrm>
                <a:off x="161778" y="658611"/>
                <a:ext cx="8820444" cy="4059060"/>
              </a:xfrm>
              <a:prstGeom prst="rect">
                <a:avLst/>
              </a:prstGeom>
              <a:blipFill rotWithShape="1">
                <a:blip r:embed="rId5"/>
                <a:stretch>
                  <a:fillRect l="-207" t="-150" b="-601"/>
                </a:stretch>
              </a:blipFill>
            </p:spPr>
            <p:txBody>
              <a:bodyPr/>
              <a:lstStyle/>
              <a:p>
                <a:r>
                  <a:rPr lang="en-US">
                    <a:noFill/>
                  </a:rPr>
                  <a:t> </a:t>
                </a:r>
              </a:p>
            </p:txBody>
          </p:sp>
        </mc:Fallback>
      </mc:AlternateContent>
    </p:spTree>
    <p:extLst>
      <p:ext uri="{BB962C8B-B14F-4D97-AF65-F5344CB8AC3E}">
        <p14:creationId xmlns:p14="http://schemas.microsoft.com/office/powerpoint/2010/main" val="590597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A9BA8E3-34DE-BC8D-D6BB-6B87445C71ED}"/>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D0FDF7C1-858D-09A9-6A23-0597BBEF11C0}"/>
              </a:ext>
            </a:extLst>
          </p:cNvPr>
          <p:cNvGrpSpPr/>
          <p:nvPr/>
        </p:nvGrpSpPr>
        <p:grpSpPr>
          <a:xfrm>
            <a:off x="0" y="8223"/>
            <a:ext cx="9144000" cy="748030"/>
            <a:chOff x="0" y="0"/>
            <a:chExt cx="9144000" cy="748030"/>
          </a:xfrm>
        </p:grpSpPr>
        <p:pic>
          <p:nvPicPr>
            <p:cNvPr id="3" name="object 3">
              <a:extLst>
                <a:ext uri="{FF2B5EF4-FFF2-40B4-BE49-F238E27FC236}">
                  <a16:creationId xmlns="" xmlns:a16="http://schemas.microsoft.com/office/drawing/2014/main" id="{5CFB22A5-1149-499B-D955-F3F6AABCF96C}"/>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CC4E8764-C7B6-1864-67B5-0399C2F19333}"/>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1B9B92BF-CC29-4365-EBC7-90B2A7068055}"/>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86B59386-D332-C04F-28DC-D9FAD510BBFF}"/>
              </a:ext>
            </a:extLst>
          </p:cNvPr>
          <p:cNvSpPr txBox="1">
            <a:spLocks noGrp="1"/>
          </p:cNvSpPr>
          <p:nvPr>
            <p:ph type="title"/>
          </p:nvPr>
        </p:nvSpPr>
        <p:spPr>
          <a:xfrm>
            <a:off x="3178560" y="-64529"/>
            <a:ext cx="5289549" cy="1790105"/>
          </a:xfrm>
          <a:prstGeom prst="rect">
            <a:avLst/>
          </a:prstGeom>
        </p:spPr>
        <p:txBody>
          <a:bodyPr vert="horz" wrap="square" lIns="0" tIns="114173" rIns="0" bIns="0" rtlCol="0" anchor="t">
            <a:spAutoFit/>
          </a:bodyPr>
          <a:lstStyle/>
          <a:p>
            <a:pPr marL="342900" indent="-342900" algn="l"/>
            <a:r>
              <a:rPr lang="en-US" sz="3600" spc="-15" dirty="0">
                <a:ea typeface="Calibri"/>
              </a:rPr>
              <a:t>UML Diagram</a:t>
            </a:r>
          </a:p>
          <a:p>
            <a:pPr marL="342900" indent="-342900" algn="l"/>
            <a:endParaRPr lang="en-US" sz="3600" spc="-15" dirty="0">
              <a:ea typeface="Calibri"/>
            </a:endParaRPr>
          </a:p>
          <a:p>
            <a:pPr marL="1830070">
              <a:lnSpc>
                <a:spcPct val="100000"/>
              </a:lnSpc>
              <a:spcBef>
                <a:spcPts val="100"/>
              </a:spcBef>
            </a:pPr>
            <a:endParaRPr lang="en-US" sz="3600" spc="-15" dirty="0"/>
          </a:p>
        </p:txBody>
      </p:sp>
      <p:sp>
        <p:nvSpPr>
          <p:cNvPr id="9" name="object 9">
            <a:extLst>
              <a:ext uri="{FF2B5EF4-FFF2-40B4-BE49-F238E27FC236}">
                <a16:creationId xmlns="" xmlns:a16="http://schemas.microsoft.com/office/drawing/2014/main" id="{53BF1472-89FF-5DD4-8F31-E5678CCB001B}"/>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0B17896D-5AED-284C-01E0-A963B72EC437}"/>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66F5E7EC-DE33-B489-129A-635B67BF5F87}"/>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pic>
        <p:nvPicPr>
          <p:cNvPr id="7" name="Picture 6" descr="A diagram of a software development process&#10;&#10;AI-generated content may be incorrect.">
            <a:extLst>
              <a:ext uri="{FF2B5EF4-FFF2-40B4-BE49-F238E27FC236}">
                <a16:creationId xmlns="" xmlns:a16="http://schemas.microsoft.com/office/drawing/2014/main" id="{E1B2A98E-ACA1-04F9-4BEB-C6D8BFA4E1A4}"/>
              </a:ext>
            </a:extLst>
          </p:cNvPr>
          <p:cNvPicPr>
            <a:picLocks noChangeAspect="1"/>
          </p:cNvPicPr>
          <p:nvPr/>
        </p:nvPicPr>
        <p:blipFill rotWithShape="1">
          <a:blip r:embed="rId5"/>
          <a:srcRect r="1319" b="4253"/>
          <a:stretch/>
        </p:blipFill>
        <p:spPr>
          <a:xfrm>
            <a:off x="2055626" y="830524"/>
            <a:ext cx="5321568" cy="3814628"/>
          </a:xfrm>
          <a:prstGeom prst="rect">
            <a:avLst/>
          </a:prstGeom>
        </p:spPr>
      </p:pic>
    </p:spTree>
    <p:extLst>
      <p:ext uri="{BB962C8B-B14F-4D97-AF65-F5344CB8AC3E}">
        <p14:creationId xmlns:p14="http://schemas.microsoft.com/office/powerpoint/2010/main" val="3743948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8223"/>
            <a:ext cx="9144000" cy="748030"/>
            <a:chOff x="0" y="0"/>
            <a:chExt cx="9144000" cy="748030"/>
          </a:xfrm>
        </p:grpSpPr>
        <p:pic>
          <p:nvPicPr>
            <p:cNvPr id="4" name="object 4"/>
            <p:cNvPicPr/>
            <p:nvPr/>
          </p:nvPicPr>
          <p:blipFill>
            <a:blip r:embed="rId2" cstate="print"/>
            <a:stretch>
              <a:fillRect/>
            </a:stretch>
          </p:blipFill>
          <p:spPr>
            <a:xfrm>
              <a:off x="0" y="0"/>
              <a:ext cx="9144000" cy="681356"/>
            </a:xfrm>
            <a:prstGeom prst="rect">
              <a:avLst/>
            </a:prstGeom>
          </p:spPr>
        </p:pic>
        <p:pic>
          <p:nvPicPr>
            <p:cNvPr id="5" name="object 5"/>
            <p:cNvPicPr/>
            <p:nvPr/>
          </p:nvPicPr>
          <p:blipFill>
            <a:blip r:embed="rId3" cstate="print"/>
            <a:stretch>
              <a:fillRect/>
            </a:stretch>
          </p:blipFill>
          <p:spPr>
            <a:xfrm>
              <a:off x="2905125" y="9461"/>
              <a:ext cx="3329051" cy="738187"/>
            </a:xfrm>
            <a:prstGeom prst="rect">
              <a:avLst/>
            </a:prstGeom>
          </p:spPr>
        </p:pic>
        <p:pic>
          <p:nvPicPr>
            <p:cNvPr id="6" name="object 6"/>
            <p:cNvPicPr/>
            <p:nvPr/>
          </p:nvPicPr>
          <p:blipFill>
            <a:blip r:embed="rId4" cstate="print"/>
            <a:stretch>
              <a:fillRect/>
            </a:stretch>
          </p:blipFill>
          <p:spPr>
            <a:xfrm>
              <a:off x="0" y="0"/>
              <a:ext cx="9144000" cy="628650"/>
            </a:xfrm>
            <a:prstGeom prst="rect">
              <a:avLst/>
            </a:prstGeom>
          </p:spPr>
        </p:pic>
      </p:grpSp>
      <p:sp>
        <p:nvSpPr>
          <p:cNvPr id="7" name="object 7"/>
          <p:cNvSpPr txBox="1">
            <a:spLocks noGrp="1"/>
          </p:cNvSpPr>
          <p:nvPr>
            <p:ph type="title"/>
          </p:nvPr>
        </p:nvSpPr>
        <p:spPr>
          <a:xfrm>
            <a:off x="1491405" y="-73912"/>
            <a:ext cx="5289549" cy="669286"/>
          </a:xfrm>
          <a:prstGeom prst="rect">
            <a:avLst/>
          </a:prstGeom>
        </p:spPr>
        <p:txBody>
          <a:bodyPr vert="horz" wrap="square" lIns="0" tIns="114173" rIns="0" bIns="0" rtlCol="0" anchor="t">
            <a:spAutoFit/>
          </a:bodyPr>
          <a:lstStyle/>
          <a:p>
            <a:pPr marL="1221105">
              <a:lnSpc>
                <a:spcPct val="100000"/>
              </a:lnSpc>
              <a:spcBef>
                <a:spcPts val="100"/>
              </a:spcBef>
            </a:pPr>
            <a:r>
              <a:rPr spc="-135">
                <a:latin typeface="Arial"/>
                <a:cs typeface="Arial"/>
              </a:rPr>
              <a:t> </a:t>
            </a:r>
            <a:r>
              <a:rPr sz="3600"/>
              <a:t>Data</a:t>
            </a:r>
            <a:r>
              <a:rPr sz="3600" spc="-40"/>
              <a:t> </a:t>
            </a:r>
            <a:r>
              <a:rPr sz="3600"/>
              <a:t>Flow</a:t>
            </a:r>
            <a:r>
              <a:rPr sz="3600" spc="-20"/>
              <a:t> </a:t>
            </a:r>
            <a:r>
              <a:rPr sz="3600" spc="-10"/>
              <a:t>Diagram</a:t>
            </a:r>
          </a:p>
        </p:txBody>
      </p:sp>
      <p:sp>
        <p:nvSpPr>
          <p:cNvPr id="10" name="object 10"/>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1" name="object 11"/>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2" name="Footer Placeholder 1">
            <a:extLst>
              <a:ext uri="{FF2B5EF4-FFF2-40B4-BE49-F238E27FC236}">
                <a16:creationId xmlns="" xmlns:a16="http://schemas.microsoft.com/office/drawing/2014/main" id="{EC86018A-6D54-8A41-171D-A1B6B65BF1B8}"/>
              </a:ext>
            </a:extLst>
          </p:cNvPr>
          <p:cNvSpPr>
            <a:spLocks noGrp="1"/>
          </p:cNvSpPr>
          <p:nvPr>
            <p:ph type="ftr" sz="quarter" idx="5"/>
          </p:nvPr>
        </p:nvSpPr>
        <p:spPr>
          <a:xfrm>
            <a:off x="226176" y="4934057"/>
            <a:ext cx="733626" cy="338554"/>
          </a:xfrm>
        </p:spPr>
        <p:txBody>
          <a:bodyPr wrap="square" lIns="0" tIns="0" rIns="0" bIns="0" anchor="t">
            <a:spAutoFit/>
          </a:bodyPr>
          <a:lstStyle/>
          <a:p>
            <a:r>
              <a:rPr lang="en-US" spc="-95" dirty="0"/>
              <a:t>30  / 06 /  26</a:t>
            </a:r>
          </a:p>
          <a:p>
            <a:endParaRPr lang="en-US" dirty="0"/>
          </a:p>
        </p:txBody>
      </p:sp>
      <p:pic>
        <p:nvPicPr>
          <p:cNvPr id="9" name="Picture 8" descr="A diagram of a data processing process&#10;&#10;AI-generated content may be incorrect.">
            <a:extLst>
              <a:ext uri="{FF2B5EF4-FFF2-40B4-BE49-F238E27FC236}">
                <a16:creationId xmlns="" xmlns:a16="http://schemas.microsoft.com/office/drawing/2014/main" id="{6A1AAE86-6C75-0B77-9748-AE52ED917156}"/>
              </a:ext>
            </a:extLst>
          </p:cNvPr>
          <p:cNvPicPr>
            <a:picLocks noChangeAspect="1"/>
          </p:cNvPicPr>
          <p:nvPr/>
        </p:nvPicPr>
        <p:blipFill>
          <a:blip r:embed="rId5"/>
          <a:stretch>
            <a:fillRect/>
          </a:stretch>
        </p:blipFill>
        <p:spPr>
          <a:xfrm>
            <a:off x="2665517" y="689579"/>
            <a:ext cx="3812966" cy="41526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7CE6258-7E3F-10CD-2252-E9DD801A8CE7}"/>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01D661EA-57A3-3A6C-B2FC-B8BE57060F53}"/>
              </a:ext>
            </a:extLst>
          </p:cNvPr>
          <p:cNvGrpSpPr/>
          <p:nvPr/>
        </p:nvGrpSpPr>
        <p:grpSpPr>
          <a:xfrm>
            <a:off x="0" y="8223"/>
            <a:ext cx="9144000" cy="748030"/>
            <a:chOff x="0" y="0"/>
            <a:chExt cx="9144000" cy="748030"/>
          </a:xfrm>
        </p:grpSpPr>
        <p:pic>
          <p:nvPicPr>
            <p:cNvPr id="3" name="object 3">
              <a:extLst>
                <a:ext uri="{FF2B5EF4-FFF2-40B4-BE49-F238E27FC236}">
                  <a16:creationId xmlns="" xmlns:a16="http://schemas.microsoft.com/office/drawing/2014/main" id="{469181A7-8407-506E-5BB6-94423DFFDF2F}"/>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085DDA6C-821D-1E42-4B0F-2CC30756A068}"/>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166FCB2B-6EE3-EB06-25A8-602490B0527E}"/>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52C5F19C-F21B-AC62-C32B-B9040A5B60AC}"/>
              </a:ext>
            </a:extLst>
          </p:cNvPr>
          <p:cNvSpPr txBox="1">
            <a:spLocks noGrp="1"/>
          </p:cNvSpPr>
          <p:nvPr>
            <p:ph type="title"/>
          </p:nvPr>
        </p:nvSpPr>
        <p:spPr>
          <a:xfrm>
            <a:off x="2889319" y="-65689"/>
            <a:ext cx="5289549" cy="1223284"/>
          </a:xfrm>
          <a:prstGeom prst="rect">
            <a:avLst/>
          </a:prstGeom>
        </p:spPr>
        <p:txBody>
          <a:bodyPr vert="horz" wrap="square" lIns="0" tIns="114173" rIns="0" bIns="0" rtlCol="0" anchor="t">
            <a:spAutoFit/>
          </a:bodyPr>
          <a:lstStyle/>
          <a:p>
            <a:pPr marL="342900" indent="-342900" algn="l"/>
            <a:r>
              <a:rPr lang="en-US" sz="3600" spc="-15">
                <a:ea typeface="Calibri"/>
              </a:rPr>
              <a:t>Activity Diagram</a:t>
            </a:r>
          </a:p>
          <a:p>
            <a:pPr marL="342900" indent="-342900" algn="l"/>
            <a:endParaRPr lang="en-US" sz="3600" spc="-15">
              <a:ea typeface="Calibri"/>
            </a:endParaRPr>
          </a:p>
        </p:txBody>
      </p:sp>
      <p:sp>
        <p:nvSpPr>
          <p:cNvPr id="9" name="object 9">
            <a:extLst>
              <a:ext uri="{FF2B5EF4-FFF2-40B4-BE49-F238E27FC236}">
                <a16:creationId xmlns="" xmlns:a16="http://schemas.microsoft.com/office/drawing/2014/main" id="{1124388A-1628-F916-D3AC-1C510F3F9043}"/>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034A8667-1579-B363-AB76-6BE35C148D4B}"/>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B9175AEE-3A40-38D5-F3F9-BF0DFBAAB1FF}"/>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pic>
        <p:nvPicPr>
          <p:cNvPr id="11" name="Picture 10" descr="A diagram of a diagram&#10;&#10;AI-generated content may be incorrect.">
            <a:extLst>
              <a:ext uri="{FF2B5EF4-FFF2-40B4-BE49-F238E27FC236}">
                <a16:creationId xmlns="" xmlns:a16="http://schemas.microsoft.com/office/drawing/2014/main" id="{7EADB152-4573-0038-BED5-195F84A9FB85}"/>
              </a:ext>
            </a:extLst>
          </p:cNvPr>
          <p:cNvPicPr>
            <a:picLocks noChangeAspect="1"/>
          </p:cNvPicPr>
          <p:nvPr/>
        </p:nvPicPr>
        <p:blipFill>
          <a:blip r:embed="rId5"/>
          <a:stretch>
            <a:fillRect/>
          </a:stretch>
        </p:blipFill>
        <p:spPr>
          <a:xfrm>
            <a:off x="386481" y="1725501"/>
            <a:ext cx="8223023" cy="1470477"/>
          </a:xfrm>
          <a:prstGeom prst="rect">
            <a:avLst/>
          </a:prstGeom>
        </p:spPr>
      </p:pic>
    </p:spTree>
    <p:extLst>
      <p:ext uri="{BB962C8B-B14F-4D97-AF65-F5344CB8AC3E}">
        <p14:creationId xmlns:p14="http://schemas.microsoft.com/office/powerpoint/2010/main" val="3481653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099" y="-65689"/>
            <a:ext cx="6280423" cy="669286"/>
          </a:xfrm>
          <a:prstGeom prst="rect">
            <a:avLst/>
          </a:prstGeom>
        </p:spPr>
        <p:txBody>
          <a:bodyPr vert="horz" wrap="square" lIns="0" tIns="114173" rIns="0" bIns="0" rtlCol="0" anchor="t">
            <a:spAutoFit/>
          </a:bodyPr>
          <a:lstStyle/>
          <a:p>
            <a:pPr marL="1089025">
              <a:spcBef>
                <a:spcPts val="100"/>
              </a:spcBef>
            </a:pPr>
            <a:r>
              <a:rPr lang="en-US" sz="3600" spc="-10" dirty="0"/>
              <a:t>Tools and Technologies</a:t>
            </a:r>
            <a:endParaRPr lang="en-US" dirty="0"/>
          </a:p>
        </p:txBody>
      </p:sp>
      <p:sp>
        <p:nvSpPr>
          <p:cNvPr id="6" name="object 6"/>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7" name="object 7"/>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3" name="object 3"/>
          <p:cNvSpPr txBox="1"/>
          <p:nvPr/>
        </p:nvSpPr>
        <p:spPr>
          <a:xfrm>
            <a:off x="319087" y="1157287"/>
            <a:ext cx="4000500" cy="2950167"/>
          </a:xfrm>
          <a:prstGeom prst="rect">
            <a:avLst/>
          </a:prstGeom>
          <a:ln w="25400">
            <a:solidFill>
              <a:srgbClr val="974707"/>
            </a:solidFill>
          </a:ln>
        </p:spPr>
        <p:txBody>
          <a:bodyPr vert="horz" wrap="square" lIns="0" tIns="113030" rIns="0" bIns="0" rtlCol="0" anchor="t">
            <a:spAutoFit/>
          </a:bodyPr>
          <a:lstStyle/>
          <a:p>
            <a:pPr marL="1003300" algn="l">
              <a:lnSpc>
                <a:spcPct val="150000"/>
              </a:lnSpc>
              <a:spcBef>
                <a:spcPts val="890"/>
              </a:spcBef>
            </a:pPr>
            <a:r>
              <a:rPr sz="1600" b="1" dirty="0">
                <a:latin typeface="Times New Roman"/>
                <a:cs typeface="Times New Roman"/>
              </a:rPr>
              <a:t>Software</a:t>
            </a:r>
            <a:r>
              <a:rPr sz="1600" b="1" spc="165" dirty="0">
                <a:latin typeface="Times New Roman"/>
                <a:cs typeface="Times New Roman"/>
              </a:rPr>
              <a:t> </a:t>
            </a:r>
            <a:r>
              <a:rPr sz="1600" b="1" spc="-10" dirty="0">
                <a:latin typeface="Times New Roman"/>
                <a:cs typeface="Times New Roman"/>
              </a:rPr>
              <a:t>Requirements:</a:t>
            </a:r>
            <a:endParaRPr sz="1600" dirty="0">
              <a:latin typeface="Times New Roman"/>
              <a:cs typeface="Times New Roman"/>
            </a:endParaRPr>
          </a:p>
          <a:p>
            <a:pPr marL="567055" indent="-342900" algn="l">
              <a:lnSpc>
                <a:spcPct val="150000"/>
              </a:lnSpc>
              <a:spcBef>
                <a:spcPts val="545"/>
              </a:spcBef>
              <a:buClr>
                <a:srgbClr val="878787"/>
              </a:buClr>
              <a:buSzPct val="160000"/>
              <a:buFont typeface="Arial MT"/>
              <a:buChar char="•"/>
              <a:tabLst>
                <a:tab pos="567055" algn="l"/>
              </a:tabLst>
            </a:pPr>
            <a:r>
              <a:rPr sz="1600" spc="-40" dirty="0">
                <a:solidFill>
                  <a:srgbClr val="1D1D1D"/>
                </a:solidFill>
                <a:latin typeface="Times New Roman"/>
                <a:cs typeface="Times New Roman"/>
              </a:rPr>
              <a:t>Programming:</a:t>
            </a:r>
            <a:r>
              <a:rPr sz="1600" spc="-10" dirty="0">
                <a:solidFill>
                  <a:srgbClr val="1D1D1D"/>
                </a:solidFill>
                <a:latin typeface="Times New Roman"/>
                <a:cs typeface="Times New Roman"/>
              </a:rPr>
              <a:t> Python</a:t>
            </a:r>
            <a:endParaRPr sz="1600" dirty="0">
              <a:latin typeface="Times New Roman"/>
              <a:cs typeface="Times New Roman"/>
            </a:endParaRPr>
          </a:p>
          <a:p>
            <a:pPr marL="395605" marR="311150" indent="-286385" algn="l">
              <a:lnSpc>
                <a:spcPct val="150000"/>
              </a:lnSpc>
              <a:spcBef>
                <a:spcPts val="610"/>
              </a:spcBef>
              <a:buFontTx/>
              <a:buChar char="•"/>
              <a:tabLst>
                <a:tab pos="395605" algn="l"/>
                <a:tab pos="465455" algn="l"/>
              </a:tabLst>
            </a:pPr>
            <a:r>
              <a:rPr sz="1600" spc="-50" dirty="0">
                <a:solidFill>
                  <a:srgbClr val="1D1D1D"/>
                </a:solidFill>
                <a:latin typeface="Times New Roman"/>
                <a:cs typeface="Times New Roman"/>
              </a:rPr>
              <a:t>Libraries:</a:t>
            </a:r>
            <a:r>
              <a:rPr sz="1600" spc="-75" dirty="0">
                <a:solidFill>
                  <a:srgbClr val="1D1D1D"/>
                </a:solidFill>
                <a:latin typeface="Times New Roman"/>
                <a:cs typeface="Times New Roman"/>
              </a:rPr>
              <a:t> </a:t>
            </a:r>
            <a:r>
              <a:rPr sz="1600" spc="-20" dirty="0" err="1">
                <a:solidFill>
                  <a:srgbClr val="1D1D1D"/>
                </a:solidFill>
                <a:latin typeface="Times New Roman"/>
                <a:cs typeface="Times New Roman"/>
              </a:rPr>
              <a:t>NumPy</a:t>
            </a:r>
            <a:r>
              <a:rPr sz="1600" spc="-20" dirty="0">
                <a:solidFill>
                  <a:srgbClr val="1D1D1D"/>
                </a:solidFill>
                <a:latin typeface="Times New Roman"/>
                <a:cs typeface="Times New Roman"/>
              </a:rPr>
              <a:t>,</a:t>
            </a:r>
            <a:r>
              <a:rPr sz="1600" spc="-75" dirty="0">
                <a:solidFill>
                  <a:srgbClr val="1D1D1D"/>
                </a:solidFill>
                <a:latin typeface="Times New Roman"/>
                <a:cs typeface="Times New Roman"/>
              </a:rPr>
              <a:t> </a:t>
            </a:r>
            <a:r>
              <a:rPr sz="1600" spc="-10" dirty="0">
                <a:solidFill>
                  <a:srgbClr val="1D1D1D"/>
                </a:solidFill>
                <a:latin typeface="Times New Roman"/>
                <a:cs typeface="Times New Roman"/>
              </a:rPr>
              <a:t>Pandas, </a:t>
            </a:r>
            <a:r>
              <a:rPr sz="1600" spc="-25" dirty="0" err="1">
                <a:solidFill>
                  <a:srgbClr val="1D1D1D"/>
                </a:solidFill>
                <a:latin typeface="Times New Roman"/>
                <a:cs typeface="Times New Roman"/>
              </a:rPr>
              <a:t>TensorFlow</a:t>
            </a:r>
            <a:r>
              <a:rPr sz="1600" spc="-25" dirty="0">
                <a:solidFill>
                  <a:srgbClr val="1D1D1D"/>
                </a:solidFill>
                <a:latin typeface="Times New Roman"/>
                <a:cs typeface="Times New Roman"/>
              </a:rPr>
              <a:t>,</a:t>
            </a:r>
            <a:r>
              <a:rPr sz="1600" spc="-15" dirty="0">
                <a:solidFill>
                  <a:srgbClr val="1D1D1D"/>
                </a:solidFill>
                <a:latin typeface="Times New Roman"/>
                <a:cs typeface="Times New Roman"/>
              </a:rPr>
              <a:t> </a:t>
            </a:r>
            <a:r>
              <a:rPr sz="1600" spc="-75" dirty="0" err="1">
                <a:solidFill>
                  <a:srgbClr val="1D1D1D"/>
                </a:solidFill>
                <a:latin typeface="Times New Roman"/>
                <a:cs typeface="Times New Roman"/>
              </a:rPr>
              <a:t>Scikit</a:t>
            </a:r>
            <a:r>
              <a:rPr sz="1600" spc="-75" dirty="0">
                <a:solidFill>
                  <a:srgbClr val="1D1D1D"/>
                </a:solidFill>
                <a:latin typeface="Times New Roman"/>
                <a:cs typeface="Times New Roman"/>
              </a:rPr>
              <a:t>-</a:t>
            </a:r>
            <a:r>
              <a:rPr sz="1600" spc="-35" dirty="0">
                <a:solidFill>
                  <a:srgbClr val="1D1D1D"/>
                </a:solidFill>
                <a:latin typeface="Times New Roman"/>
                <a:cs typeface="Times New Roman"/>
              </a:rPr>
              <a:t>learn,</a:t>
            </a:r>
            <a:r>
              <a:rPr sz="1600" spc="-80" dirty="0">
                <a:solidFill>
                  <a:srgbClr val="1D1D1D"/>
                </a:solidFill>
                <a:latin typeface="Times New Roman"/>
                <a:cs typeface="Times New Roman"/>
              </a:rPr>
              <a:t> </a:t>
            </a:r>
            <a:r>
              <a:rPr sz="1600" spc="-10" dirty="0">
                <a:solidFill>
                  <a:srgbClr val="1D1D1D"/>
                </a:solidFill>
                <a:latin typeface="Times New Roman"/>
                <a:cs typeface="Times New Roman"/>
              </a:rPr>
              <a:t>NLTK, Transformers</a:t>
            </a:r>
            <a:endParaRPr sz="1600" dirty="0">
              <a:latin typeface="Times New Roman"/>
              <a:cs typeface="Times New Roman"/>
            </a:endParaRPr>
          </a:p>
          <a:p>
            <a:pPr marL="465455" indent="-356235" algn="l">
              <a:lnSpc>
                <a:spcPct val="150000"/>
              </a:lnSpc>
              <a:spcBef>
                <a:spcPts val="615"/>
              </a:spcBef>
              <a:buClr>
                <a:srgbClr val="878787"/>
              </a:buClr>
              <a:buSzPct val="160000"/>
              <a:buFont typeface="Arial MT"/>
              <a:buChar char="•"/>
              <a:tabLst>
                <a:tab pos="465455" algn="l"/>
              </a:tabLst>
            </a:pPr>
            <a:r>
              <a:rPr sz="1600" spc="-45" dirty="0">
                <a:solidFill>
                  <a:srgbClr val="1D1D1D"/>
                </a:solidFill>
                <a:latin typeface="Times New Roman"/>
                <a:cs typeface="Times New Roman"/>
              </a:rPr>
              <a:t>Frameworks:</a:t>
            </a:r>
            <a:r>
              <a:rPr sz="1600" spc="-55" dirty="0">
                <a:solidFill>
                  <a:srgbClr val="1D1D1D"/>
                </a:solidFill>
                <a:latin typeface="Times New Roman"/>
                <a:cs typeface="Times New Roman"/>
              </a:rPr>
              <a:t> </a:t>
            </a:r>
            <a:r>
              <a:rPr lang="en-US" sz="1600" spc="-45" dirty="0" err="1" smtClean="0">
                <a:solidFill>
                  <a:srgbClr val="1D1D1D"/>
                </a:solidFill>
                <a:latin typeface="Times New Roman"/>
                <a:cs typeface="Times New Roman"/>
              </a:rPr>
              <a:t>Streamlit</a:t>
            </a:r>
            <a:r>
              <a:rPr sz="1600" spc="-45" dirty="0" smtClean="0">
                <a:solidFill>
                  <a:srgbClr val="1D1D1D"/>
                </a:solidFill>
                <a:latin typeface="Times New Roman"/>
                <a:cs typeface="Times New Roman"/>
              </a:rPr>
              <a:t>,</a:t>
            </a:r>
            <a:r>
              <a:rPr sz="1600" spc="-60" dirty="0" smtClean="0">
                <a:solidFill>
                  <a:srgbClr val="1D1D1D"/>
                </a:solidFill>
                <a:latin typeface="Times New Roman"/>
                <a:cs typeface="Times New Roman"/>
              </a:rPr>
              <a:t> </a:t>
            </a:r>
            <a:r>
              <a:rPr sz="1600" spc="-10" dirty="0" err="1">
                <a:solidFill>
                  <a:srgbClr val="1D1D1D"/>
                </a:solidFill>
                <a:latin typeface="Times New Roman"/>
                <a:cs typeface="Times New Roman"/>
              </a:rPr>
              <a:t>yfinance</a:t>
            </a:r>
            <a:r>
              <a:rPr sz="1600" spc="-10" dirty="0">
                <a:solidFill>
                  <a:srgbClr val="1D1D1D"/>
                </a:solidFill>
                <a:latin typeface="Times New Roman"/>
                <a:cs typeface="Times New Roman"/>
              </a:rPr>
              <a:t>,</a:t>
            </a:r>
            <a:endParaRPr sz="1600" dirty="0">
              <a:latin typeface="Times New Roman"/>
              <a:cs typeface="Times New Roman"/>
            </a:endParaRPr>
          </a:p>
          <a:p>
            <a:pPr marL="395605" algn="l">
              <a:lnSpc>
                <a:spcPct val="150000"/>
              </a:lnSpc>
            </a:pPr>
            <a:r>
              <a:rPr sz="1600" spc="-10" dirty="0">
                <a:solidFill>
                  <a:srgbClr val="1D1D1D"/>
                </a:solidFill>
                <a:latin typeface="Times New Roman"/>
                <a:cs typeface="Times New Roman"/>
              </a:rPr>
              <a:t>newsdata.io</a:t>
            </a:r>
            <a:endParaRPr sz="1600" dirty="0">
              <a:latin typeface="Times New Roman"/>
              <a:cs typeface="Times New Roman"/>
            </a:endParaRPr>
          </a:p>
          <a:p>
            <a:pPr marL="394335" indent="-285115" algn="l">
              <a:lnSpc>
                <a:spcPct val="150000"/>
              </a:lnSpc>
              <a:spcBef>
                <a:spcPts val="610"/>
              </a:spcBef>
              <a:buClr>
                <a:srgbClr val="878787"/>
              </a:buClr>
              <a:buSzPct val="160000"/>
              <a:buFont typeface="Arial MT"/>
              <a:buChar char="•"/>
              <a:tabLst>
                <a:tab pos="394335" algn="l"/>
              </a:tabLst>
            </a:pPr>
            <a:r>
              <a:rPr sz="1600" spc="-60" dirty="0">
                <a:solidFill>
                  <a:srgbClr val="1D1D1D"/>
                </a:solidFill>
                <a:latin typeface="Times New Roman"/>
                <a:cs typeface="Times New Roman"/>
              </a:rPr>
              <a:t>Visualization:</a:t>
            </a:r>
            <a:r>
              <a:rPr sz="1600" spc="-45" dirty="0">
                <a:solidFill>
                  <a:srgbClr val="1D1D1D"/>
                </a:solidFill>
                <a:latin typeface="Times New Roman"/>
                <a:cs typeface="Times New Roman"/>
              </a:rPr>
              <a:t> </a:t>
            </a:r>
            <a:r>
              <a:rPr sz="1600" spc="-35" dirty="0" err="1">
                <a:solidFill>
                  <a:srgbClr val="1D1D1D"/>
                </a:solidFill>
                <a:latin typeface="Times New Roman"/>
                <a:cs typeface="Times New Roman"/>
              </a:rPr>
              <a:t>Matplotlib</a:t>
            </a:r>
            <a:r>
              <a:rPr sz="1600" spc="-35" dirty="0">
                <a:solidFill>
                  <a:srgbClr val="1D1D1D"/>
                </a:solidFill>
                <a:latin typeface="Times New Roman"/>
                <a:cs typeface="Times New Roman"/>
              </a:rPr>
              <a:t>,</a:t>
            </a:r>
            <a:r>
              <a:rPr sz="1600" spc="30" dirty="0">
                <a:solidFill>
                  <a:srgbClr val="1D1D1D"/>
                </a:solidFill>
                <a:latin typeface="Times New Roman"/>
                <a:cs typeface="Times New Roman"/>
              </a:rPr>
              <a:t> </a:t>
            </a:r>
            <a:r>
              <a:rPr sz="1600" spc="-10" dirty="0" err="1">
                <a:solidFill>
                  <a:srgbClr val="1D1D1D"/>
                </a:solidFill>
                <a:latin typeface="Times New Roman"/>
                <a:cs typeface="Times New Roman"/>
              </a:rPr>
              <a:t>Seaborn</a:t>
            </a:r>
            <a:endParaRPr sz="1600" dirty="0">
              <a:latin typeface="Times New Roman"/>
              <a:cs typeface="Times New Roman"/>
            </a:endParaRPr>
          </a:p>
        </p:txBody>
      </p:sp>
      <p:sp>
        <p:nvSpPr>
          <p:cNvPr id="4" name="object 4"/>
          <p:cNvSpPr txBox="1"/>
          <p:nvPr/>
        </p:nvSpPr>
        <p:spPr>
          <a:xfrm>
            <a:off x="4834001" y="1157287"/>
            <a:ext cx="4000500" cy="2667397"/>
          </a:xfrm>
          <a:prstGeom prst="rect">
            <a:avLst/>
          </a:prstGeom>
          <a:ln w="25400">
            <a:solidFill>
              <a:srgbClr val="974707"/>
            </a:solidFill>
          </a:ln>
        </p:spPr>
        <p:txBody>
          <a:bodyPr vert="horz" wrap="square" lIns="0" tIns="46355" rIns="0" bIns="0" rtlCol="0" anchor="t">
            <a:spAutoFit/>
          </a:bodyPr>
          <a:lstStyle/>
          <a:p>
            <a:pPr marL="957580">
              <a:lnSpc>
                <a:spcPct val="150000"/>
              </a:lnSpc>
              <a:spcBef>
                <a:spcPts val="365"/>
              </a:spcBef>
            </a:pPr>
            <a:r>
              <a:rPr sz="1600" b="1">
                <a:latin typeface="Times New Roman"/>
                <a:cs typeface="Times New Roman"/>
              </a:rPr>
              <a:t>Hardware</a:t>
            </a:r>
            <a:r>
              <a:rPr sz="1600" b="1" spc="175">
                <a:latin typeface="Times New Roman"/>
                <a:cs typeface="Times New Roman"/>
              </a:rPr>
              <a:t> </a:t>
            </a:r>
            <a:r>
              <a:rPr sz="1600" b="1" spc="-10">
                <a:latin typeface="Times New Roman"/>
                <a:cs typeface="Times New Roman"/>
              </a:rPr>
              <a:t>Requirements:</a:t>
            </a:r>
            <a:endParaRPr sz="1600">
              <a:latin typeface="Times New Roman"/>
              <a:cs typeface="Times New Roman"/>
            </a:endParaRPr>
          </a:p>
          <a:p>
            <a:pPr marL="183515" indent="-97155">
              <a:lnSpc>
                <a:spcPct val="150000"/>
              </a:lnSpc>
              <a:spcBef>
                <a:spcPts val="770"/>
              </a:spcBef>
              <a:buClr>
                <a:srgbClr val="000000"/>
              </a:buClr>
              <a:buSzPct val="95000"/>
              <a:buFont typeface="Arial MT"/>
              <a:buChar char="•"/>
              <a:tabLst>
                <a:tab pos="183515" algn="l"/>
              </a:tabLst>
            </a:pPr>
            <a:r>
              <a:rPr sz="1600" spc="-25">
                <a:solidFill>
                  <a:srgbClr val="1D1D1D"/>
                </a:solidFill>
                <a:latin typeface="Times New Roman"/>
                <a:cs typeface="Times New Roman"/>
              </a:rPr>
              <a:t>Processor:</a:t>
            </a:r>
            <a:r>
              <a:rPr sz="1600" spc="-75">
                <a:solidFill>
                  <a:srgbClr val="1D1D1D"/>
                </a:solidFill>
                <a:latin typeface="Times New Roman"/>
                <a:cs typeface="Times New Roman"/>
              </a:rPr>
              <a:t> </a:t>
            </a:r>
            <a:r>
              <a:rPr sz="1600">
                <a:solidFill>
                  <a:srgbClr val="1D1D1D"/>
                </a:solidFill>
                <a:latin typeface="Times New Roman"/>
                <a:cs typeface="Times New Roman"/>
              </a:rPr>
              <a:t>Intel</a:t>
            </a:r>
            <a:r>
              <a:rPr sz="1600" spc="-25">
                <a:solidFill>
                  <a:srgbClr val="1D1D1D"/>
                </a:solidFill>
                <a:latin typeface="Times New Roman"/>
                <a:cs typeface="Times New Roman"/>
              </a:rPr>
              <a:t> </a:t>
            </a:r>
            <a:r>
              <a:rPr sz="1600">
                <a:solidFill>
                  <a:srgbClr val="1D1D1D"/>
                </a:solidFill>
                <a:latin typeface="Times New Roman"/>
                <a:cs typeface="Times New Roman"/>
              </a:rPr>
              <a:t>Core</a:t>
            </a:r>
            <a:r>
              <a:rPr sz="1600" spc="-25">
                <a:solidFill>
                  <a:srgbClr val="1D1D1D"/>
                </a:solidFill>
                <a:latin typeface="Times New Roman"/>
                <a:cs typeface="Times New Roman"/>
              </a:rPr>
              <a:t> </a:t>
            </a:r>
            <a:r>
              <a:rPr sz="1600" spc="-60">
                <a:solidFill>
                  <a:srgbClr val="1D1D1D"/>
                </a:solidFill>
                <a:latin typeface="Times New Roman"/>
                <a:cs typeface="Times New Roman"/>
              </a:rPr>
              <a:t>i5 </a:t>
            </a:r>
            <a:r>
              <a:rPr sz="1600">
                <a:solidFill>
                  <a:srgbClr val="1D1D1D"/>
                </a:solidFill>
                <a:latin typeface="Times New Roman"/>
                <a:cs typeface="Times New Roman"/>
              </a:rPr>
              <a:t>or</a:t>
            </a:r>
            <a:r>
              <a:rPr sz="1600" spc="-80">
                <a:solidFill>
                  <a:srgbClr val="1D1D1D"/>
                </a:solidFill>
                <a:latin typeface="Times New Roman"/>
                <a:cs typeface="Times New Roman"/>
              </a:rPr>
              <a:t> </a:t>
            </a:r>
            <a:r>
              <a:rPr sz="1600" spc="-10">
                <a:solidFill>
                  <a:srgbClr val="1D1D1D"/>
                </a:solidFill>
                <a:latin typeface="Times New Roman"/>
                <a:cs typeface="Times New Roman"/>
              </a:rPr>
              <a:t>higher</a:t>
            </a:r>
            <a:endParaRPr sz="1600">
              <a:latin typeface="Times New Roman"/>
              <a:cs typeface="Times New Roman"/>
            </a:endParaRPr>
          </a:p>
          <a:p>
            <a:pPr marL="252095" indent="-158115">
              <a:lnSpc>
                <a:spcPct val="150000"/>
              </a:lnSpc>
              <a:spcBef>
                <a:spcPts val="1210"/>
              </a:spcBef>
              <a:buClr>
                <a:srgbClr val="000000"/>
              </a:buClr>
              <a:buSzPct val="95000"/>
              <a:buFont typeface="Arial MT"/>
              <a:buChar char="•"/>
              <a:tabLst>
                <a:tab pos="252729" algn="l"/>
              </a:tabLst>
            </a:pPr>
            <a:r>
              <a:rPr sz="1600" spc="-114">
                <a:solidFill>
                  <a:srgbClr val="1D1D1D"/>
                </a:solidFill>
                <a:latin typeface="Times New Roman"/>
                <a:cs typeface="Times New Roman"/>
              </a:rPr>
              <a:t>RAM:</a:t>
            </a:r>
            <a:r>
              <a:rPr sz="1600" spc="-45">
                <a:solidFill>
                  <a:srgbClr val="1D1D1D"/>
                </a:solidFill>
                <a:latin typeface="Times New Roman"/>
                <a:cs typeface="Times New Roman"/>
              </a:rPr>
              <a:t> Minimum</a:t>
            </a:r>
            <a:r>
              <a:rPr sz="1600" spc="-70">
                <a:solidFill>
                  <a:srgbClr val="1D1D1D"/>
                </a:solidFill>
                <a:latin typeface="Times New Roman"/>
                <a:cs typeface="Times New Roman"/>
              </a:rPr>
              <a:t> </a:t>
            </a:r>
            <a:r>
              <a:rPr sz="1600">
                <a:solidFill>
                  <a:srgbClr val="1D1D1D"/>
                </a:solidFill>
                <a:latin typeface="Times New Roman"/>
                <a:cs typeface="Times New Roman"/>
              </a:rPr>
              <a:t>8</a:t>
            </a:r>
            <a:r>
              <a:rPr sz="1600" spc="-45">
                <a:solidFill>
                  <a:srgbClr val="1D1D1D"/>
                </a:solidFill>
                <a:latin typeface="Times New Roman"/>
                <a:cs typeface="Times New Roman"/>
              </a:rPr>
              <a:t> </a:t>
            </a:r>
            <a:r>
              <a:rPr sz="1600" spc="-25">
                <a:solidFill>
                  <a:srgbClr val="1D1D1D"/>
                </a:solidFill>
                <a:latin typeface="Times New Roman"/>
                <a:cs typeface="Times New Roman"/>
              </a:rPr>
              <a:t>GB</a:t>
            </a:r>
            <a:endParaRPr sz="1600">
              <a:latin typeface="Times New Roman"/>
              <a:cs typeface="Times New Roman"/>
            </a:endParaRPr>
          </a:p>
          <a:p>
            <a:pPr marL="252095" indent="-157480">
              <a:lnSpc>
                <a:spcPct val="150000"/>
              </a:lnSpc>
              <a:spcBef>
                <a:spcPts val="1205"/>
              </a:spcBef>
              <a:buClr>
                <a:srgbClr val="000000"/>
              </a:buClr>
              <a:buSzPct val="95000"/>
              <a:buFont typeface="Arial MT"/>
              <a:buChar char="•"/>
              <a:tabLst>
                <a:tab pos="252095" algn="l"/>
              </a:tabLst>
            </a:pPr>
            <a:r>
              <a:rPr sz="1600" spc="-50">
                <a:solidFill>
                  <a:srgbClr val="1D1D1D"/>
                </a:solidFill>
                <a:latin typeface="Times New Roman"/>
                <a:cs typeface="Times New Roman"/>
              </a:rPr>
              <a:t>Storage:</a:t>
            </a:r>
            <a:r>
              <a:rPr sz="1600">
                <a:solidFill>
                  <a:srgbClr val="1D1D1D"/>
                </a:solidFill>
                <a:latin typeface="Times New Roman"/>
                <a:cs typeface="Times New Roman"/>
              </a:rPr>
              <a:t> </a:t>
            </a:r>
            <a:r>
              <a:rPr sz="1600" spc="240">
                <a:solidFill>
                  <a:srgbClr val="1D1D1D"/>
                </a:solidFill>
                <a:latin typeface="Times New Roman"/>
                <a:cs typeface="Times New Roman"/>
              </a:rPr>
              <a:t>≥</a:t>
            </a:r>
            <a:r>
              <a:rPr sz="1600" spc="-75">
                <a:solidFill>
                  <a:srgbClr val="1D1D1D"/>
                </a:solidFill>
                <a:latin typeface="Times New Roman"/>
                <a:cs typeface="Times New Roman"/>
              </a:rPr>
              <a:t> </a:t>
            </a:r>
            <a:r>
              <a:rPr sz="1600" spc="-50">
                <a:solidFill>
                  <a:srgbClr val="1D1D1D"/>
                </a:solidFill>
                <a:latin typeface="Times New Roman"/>
                <a:cs typeface="Times New Roman"/>
              </a:rPr>
              <a:t>512</a:t>
            </a:r>
            <a:r>
              <a:rPr sz="1600" spc="-55">
                <a:solidFill>
                  <a:srgbClr val="1D1D1D"/>
                </a:solidFill>
                <a:latin typeface="Times New Roman"/>
                <a:cs typeface="Times New Roman"/>
              </a:rPr>
              <a:t> </a:t>
            </a:r>
            <a:r>
              <a:rPr sz="1600">
                <a:solidFill>
                  <a:srgbClr val="1D1D1D"/>
                </a:solidFill>
                <a:latin typeface="Times New Roman"/>
                <a:cs typeface="Times New Roman"/>
              </a:rPr>
              <a:t>GB</a:t>
            </a:r>
            <a:r>
              <a:rPr sz="1600" spc="-45">
                <a:solidFill>
                  <a:srgbClr val="1D1D1D"/>
                </a:solidFill>
                <a:latin typeface="Times New Roman"/>
                <a:cs typeface="Times New Roman"/>
              </a:rPr>
              <a:t> </a:t>
            </a:r>
            <a:r>
              <a:rPr sz="1600" spc="-25">
                <a:solidFill>
                  <a:srgbClr val="1D1D1D"/>
                </a:solidFill>
                <a:latin typeface="Times New Roman"/>
                <a:cs typeface="Times New Roman"/>
              </a:rPr>
              <a:t>SSD</a:t>
            </a:r>
            <a:endParaRPr sz="1600">
              <a:latin typeface="Times New Roman"/>
              <a:cs typeface="Times New Roman"/>
            </a:endParaRPr>
          </a:p>
          <a:p>
            <a:pPr marL="94615" marR="231775" indent="158115">
              <a:lnSpc>
                <a:spcPct val="150000"/>
              </a:lnSpc>
              <a:spcBef>
                <a:spcPts val="320"/>
              </a:spcBef>
              <a:buClr>
                <a:srgbClr val="000000"/>
              </a:buClr>
              <a:buSzPct val="95000"/>
              <a:buFont typeface="Arial MT"/>
              <a:buChar char="•"/>
              <a:tabLst>
                <a:tab pos="252729" algn="l"/>
              </a:tabLst>
            </a:pPr>
            <a:r>
              <a:rPr sz="1600">
                <a:solidFill>
                  <a:srgbClr val="1D1D1D"/>
                </a:solidFill>
                <a:latin typeface="Times New Roman"/>
                <a:cs typeface="Times New Roman"/>
              </a:rPr>
              <a:t>Internet:</a:t>
            </a:r>
            <a:r>
              <a:rPr sz="1600" spc="-120">
                <a:solidFill>
                  <a:srgbClr val="1D1D1D"/>
                </a:solidFill>
                <a:latin typeface="Times New Roman"/>
                <a:cs typeface="Times New Roman"/>
              </a:rPr>
              <a:t> </a:t>
            </a:r>
            <a:r>
              <a:rPr sz="1600" spc="-45">
                <a:solidFill>
                  <a:srgbClr val="1D1D1D"/>
                </a:solidFill>
                <a:latin typeface="Times New Roman"/>
                <a:cs typeface="Times New Roman"/>
              </a:rPr>
              <a:t>Stable</a:t>
            </a:r>
            <a:r>
              <a:rPr sz="1600" spc="-80">
                <a:solidFill>
                  <a:srgbClr val="1D1D1D"/>
                </a:solidFill>
                <a:latin typeface="Times New Roman"/>
                <a:cs typeface="Times New Roman"/>
              </a:rPr>
              <a:t> </a:t>
            </a:r>
            <a:r>
              <a:rPr sz="1600">
                <a:solidFill>
                  <a:srgbClr val="1D1D1D"/>
                </a:solidFill>
                <a:latin typeface="Times New Roman"/>
                <a:cs typeface="Times New Roman"/>
              </a:rPr>
              <a:t>connection</a:t>
            </a:r>
            <a:r>
              <a:rPr sz="1600" spc="-80">
                <a:solidFill>
                  <a:srgbClr val="1D1D1D"/>
                </a:solidFill>
                <a:latin typeface="Times New Roman"/>
                <a:cs typeface="Times New Roman"/>
              </a:rPr>
              <a:t> </a:t>
            </a:r>
            <a:r>
              <a:rPr sz="1600">
                <a:solidFill>
                  <a:srgbClr val="1D1D1D"/>
                </a:solidFill>
                <a:latin typeface="Times New Roman"/>
                <a:cs typeface="Times New Roman"/>
              </a:rPr>
              <a:t>for</a:t>
            </a:r>
            <a:r>
              <a:rPr sz="1600" spc="-30">
                <a:solidFill>
                  <a:srgbClr val="1D1D1D"/>
                </a:solidFill>
                <a:latin typeface="Times New Roman"/>
                <a:cs typeface="Times New Roman"/>
              </a:rPr>
              <a:t> </a:t>
            </a:r>
            <a:r>
              <a:rPr sz="1600" spc="-25">
                <a:solidFill>
                  <a:srgbClr val="1D1D1D"/>
                </a:solidFill>
                <a:latin typeface="Times New Roman"/>
                <a:cs typeface="Times New Roman"/>
              </a:rPr>
              <a:t>API </a:t>
            </a:r>
            <a:r>
              <a:rPr sz="1600" spc="-10">
                <a:solidFill>
                  <a:srgbClr val="1D1D1D"/>
                </a:solidFill>
                <a:latin typeface="Times New Roman"/>
                <a:cs typeface="Times New Roman"/>
              </a:rPr>
              <a:t>streaming</a:t>
            </a:r>
            <a:endParaRPr sz="1600">
              <a:latin typeface="Times New Roman"/>
              <a:cs typeface="Times New Roman"/>
            </a:endParaRPr>
          </a:p>
        </p:txBody>
      </p:sp>
      <p:sp>
        <p:nvSpPr>
          <p:cNvPr id="5" name="Footer Placeholder 4">
            <a:extLst>
              <a:ext uri="{FF2B5EF4-FFF2-40B4-BE49-F238E27FC236}">
                <a16:creationId xmlns="" xmlns:a16="http://schemas.microsoft.com/office/drawing/2014/main" id="{CE348828-0D52-2675-C173-398314EDCC14}"/>
              </a:ext>
            </a:extLst>
          </p:cNvPr>
          <p:cNvSpPr>
            <a:spLocks noGrp="1"/>
          </p:cNvSpPr>
          <p:nvPr>
            <p:ph type="ftr" sz="quarter" idx="5"/>
          </p:nvPr>
        </p:nvSpPr>
        <p:spPr>
          <a:xfrm>
            <a:off x="226176" y="4934057"/>
            <a:ext cx="733626" cy="338554"/>
          </a:xfrm>
        </p:spPr>
        <p:txBody>
          <a:bodyPr wrap="square" lIns="0" tIns="0" rIns="0" bIns="0" anchor="t">
            <a:spAutoFit/>
          </a:bodyPr>
          <a:lstStyle/>
          <a:p>
            <a:r>
              <a:rPr lang="en-US" spc="-95" dirty="0"/>
              <a:t>30  / 06 /  26</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540C368-AC67-540E-C10C-0CB3758493C4}"/>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A64535CC-B8A0-493B-4EB9-C7369B7C55C9}"/>
              </a:ext>
            </a:extLst>
          </p:cNvPr>
          <p:cNvGrpSpPr/>
          <p:nvPr/>
        </p:nvGrpSpPr>
        <p:grpSpPr>
          <a:xfrm>
            <a:off x="0" y="0"/>
            <a:ext cx="9144000" cy="748030"/>
            <a:chOff x="0" y="0"/>
            <a:chExt cx="9144000" cy="748030"/>
          </a:xfrm>
        </p:grpSpPr>
        <p:pic>
          <p:nvPicPr>
            <p:cNvPr id="3" name="object 3">
              <a:extLst>
                <a:ext uri="{FF2B5EF4-FFF2-40B4-BE49-F238E27FC236}">
                  <a16:creationId xmlns="" xmlns:a16="http://schemas.microsoft.com/office/drawing/2014/main" id="{83416260-AEC6-48ED-1371-B1E4883A5424}"/>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11F6D16B-8184-641E-E19F-FF8FBA7C8F84}"/>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74ED8AF4-9155-63D1-4975-9042AD97210D}"/>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25D8ACD2-0961-DA8B-3684-DCF7999B04EA}"/>
              </a:ext>
            </a:extLst>
          </p:cNvPr>
          <p:cNvSpPr txBox="1">
            <a:spLocks noGrp="1"/>
          </p:cNvSpPr>
          <p:nvPr>
            <p:ph type="title"/>
          </p:nvPr>
        </p:nvSpPr>
        <p:spPr>
          <a:xfrm>
            <a:off x="2657405" y="-131641"/>
            <a:ext cx="5289549" cy="1223284"/>
          </a:xfrm>
          <a:prstGeom prst="rect">
            <a:avLst/>
          </a:prstGeom>
        </p:spPr>
        <p:txBody>
          <a:bodyPr vert="horz" wrap="square" lIns="0" tIns="114173" rIns="0" bIns="0" rtlCol="0" anchor="t">
            <a:spAutoFit/>
          </a:bodyPr>
          <a:lstStyle/>
          <a:p>
            <a:pPr marL="342900" indent="-342900" algn="l"/>
            <a:r>
              <a:rPr lang="en-US" sz="3600" spc="-15" dirty="0">
                <a:ea typeface="Calibri"/>
              </a:rPr>
              <a:t>Results and Discussion</a:t>
            </a:r>
          </a:p>
          <a:p>
            <a:pPr marL="342900" indent="-342900" algn="l"/>
            <a:endParaRPr lang="en-US" sz="3600" spc="-15" dirty="0">
              <a:ea typeface="Calibri"/>
            </a:endParaRPr>
          </a:p>
        </p:txBody>
      </p:sp>
      <p:sp>
        <p:nvSpPr>
          <p:cNvPr id="9" name="object 9">
            <a:extLst>
              <a:ext uri="{FF2B5EF4-FFF2-40B4-BE49-F238E27FC236}">
                <a16:creationId xmlns="" xmlns:a16="http://schemas.microsoft.com/office/drawing/2014/main" id="{623D64B4-EA09-C2EE-806D-FE583E76DAC4}"/>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2164E31A-8853-E35A-ECDD-B2FD0B0B330C}"/>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FA08EB6C-E90A-987A-4646-7D8F1D96E449}"/>
              </a:ext>
            </a:extLst>
          </p:cNvPr>
          <p:cNvSpPr txBox="1"/>
          <p:nvPr/>
        </p:nvSpPr>
        <p:spPr>
          <a:xfrm>
            <a:off x="590248" y="743949"/>
            <a:ext cx="8441096" cy="4191340"/>
          </a:xfrm>
          <a:prstGeom prst="rect">
            <a:avLst/>
          </a:prstGeom>
        </p:spPr>
        <p:txBody>
          <a:bodyPr vert="horz" wrap="square" lIns="0" tIns="15875" rIns="0" bIns="0" rtlCol="0" anchor="t">
            <a:spAutoFit/>
          </a:bodyPr>
          <a:lstStyle/>
          <a:p>
            <a:pPr marL="342900" indent="-342900" algn="l">
              <a:lnSpc>
                <a:spcPct val="150000"/>
              </a:lnSpc>
              <a:buChar char="•"/>
              <a:tabLst>
                <a:tab pos="298450" algn="l"/>
              </a:tabLst>
            </a:pPr>
            <a:r>
              <a:rPr lang="en-US" sz="1400" spc="-10" dirty="0">
                <a:solidFill>
                  <a:srgbClr val="1D1D1D"/>
                </a:solidFill>
                <a:latin typeface="Times New Roman"/>
                <a:cs typeface="Times New Roman"/>
              </a:rPr>
              <a:t>The system was tested using historical stock data and real-time news data.</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The LSTM prediction model achieved high accuracy with:</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Low error values (RMSE, MAE)</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High R² score (~0.90)</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Better performance than Linear Regression and Random Forest</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The Sentiment Analysis model showed:</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High accuracy (~92%)</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Effective classification into Positive, Negative, Neutral</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A strong relationship was observed between news sentiment and stock price movements.</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The integrated system (prediction + sentiment):</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Improves overall accuracy</a:t>
            </a:r>
            <a:endParaRPr lang="en-US" sz="1400" dirty="0">
              <a:latin typeface="Times New Roman"/>
              <a:cs typeface="Times New Roman"/>
            </a:endParaRPr>
          </a:p>
          <a:p>
            <a:pPr marL="342900" indent="-342900" algn="l">
              <a:lnSpc>
                <a:spcPct val="150000"/>
              </a:lnSpc>
              <a:buChar char="•"/>
              <a:tabLst>
                <a:tab pos="298450" algn="l"/>
              </a:tabLst>
            </a:pPr>
            <a:r>
              <a:rPr lang="en-US" sz="1400" spc="-10" dirty="0">
                <a:solidFill>
                  <a:srgbClr val="1D1D1D"/>
                </a:solidFill>
                <a:latin typeface="Times New Roman"/>
                <a:cs typeface="Times New Roman"/>
              </a:rPr>
              <a:t>The system provides real-time insights through a web dashboard, helping users make better decisions.</a:t>
            </a:r>
            <a:endParaRPr lang="en-US" sz="1400" dirty="0">
              <a:latin typeface="Times New Roman"/>
              <a:cs typeface="Times New Roman"/>
            </a:endParaRPr>
          </a:p>
          <a:p>
            <a:pPr marL="12700">
              <a:lnSpc>
                <a:spcPct val="150000"/>
              </a:lnSpc>
              <a:spcBef>
                <a:spcPts val="125"/>
              </a:spcBef>
              <a:tabLst>
                <a:tab pos="298450" algn="l"/>
              </a:tabLst>
            </a:pPr>
            <a:endParaRPr lang="en-US" sz="1400" spc="-10" dirty="0">
              <a:solidFill>
                <a:srgbClr val="1D1D1D"/>
              </a:solidFill>
              <a:latin typeface="Times New Roman"/>
              <a:cs typeface="Times New Roman"/>
            </a:endParaRPr>
          </a:p>
        </p:txBody>
      </p:sp>
      <p:sp>
        <p:nvSpPr>
          <p:cNvPr id="8" name="Footer Placeholder 7">
            <a:extLst>
              <a:ext uri="{FF2B5EF4-FFF2-40B4-BE49-F238E27FC236}">
                <a16:creationId xmlns="" xmlns:a16="http://schemas.microsoft.com/office/drawing/2014/main" id="{B01D18B0-81C3-575F-B933-CE02A0E2F8D2}"/>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3950560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7DE709F-D4BF-F380-F834-F0F1747D6192}"/>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DE48C483-FE52-5AFC-08A8-59722EC836DF}"/>
              </a:ext>
            </a:extLst>
          </p:cNvPr>
          <p:cNvGrpSpPr/>
          <p:nvPr/>
        </p:nvGrpSpPr>
        <p:grpSpPr>
          <a:xfrm>
            <a:off x="0" y="8223"/>
            <a:ext cx="9144000" cy="748030"/>
            <a:chOff x="0" y="0"/>
            <a:chExt cx="9144000" cy="748030"/>
          </a:xfrm>
        </p:grpSpPr>
        <p:pic>
          <p:nvPicPr>
            <p:cNvPr id="3" name="object 3">
              <a:extLst>
                <a:ext uri="{FF2B5EF4-FFF2-40B4-BE49-F238E27FC236}">
                  <a16:creationId xmlns="" xmlns:a16="http://schemas.microsoft.com/office/drawing/2014/main" id="{A798BA72-10F2-78FB-E468-B7D687EA9788}"/>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C817BAEE-7608-1549-9415-043FD807509C}"/>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AC16C268-E9EB-3126-1E50-B09B94AAB06D}"/>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088382D0-0103-1C30-2459-DB97FBD58B14}"/>
              </a:ext>
            </a:extLst>
          </p:cNvPr>
          <p:cNvSpPr txBox="1">
            <a:spLocks noGrp="1"/>
          </p:cNvSpPr>
          <p:nvPr>
            <p:ph type="title"/>
          </p:nvPr>
        </p:nvSpPr>
        <p:spPr>
          <a:xfrm>
            <a:off x="2457610" y="-78024"/>
            <a:ext cx="5289549" cy="1223284"/>
          </a:xfrm>
          <a:prstGeom prst="rect">
            <a:avLst/>
          </a:prstGeom>
        </p:spPr>
        <p:txBody>
          <a:bodyPr vert="horz" wrap="square" lIns="0" tIns="114173" rIns="0" bIns="0" rtlCol="0" anchor="t">
            <a:spAutoFit/>
          </a:bodyPr>
          <a:lstStyle/>
          <a:p>
            <a:pPr marL="342900" indent="-342900" algn="l"/>
            <a:r>
              <a:rPr lang="en-US" sz="3600" spc="-15">
                <a:ea typeface="Calibri"/>
              </a:rPr>
              <a:t>Evaluation Metrics</a:t>
            </a:r>
          </a:p>
          <a:p>
            <a:pPr marL="342900" indent="-342900" algn="l"/>
            <a:endParaRPr lang="en-US" sz="3600" spc="-15">
              <a:ea typeface="Calibri"/>
            </a:endParaRPr>
          </a:p>
        </p:txBody>
      </p:sp>
      <p:sp>
        <p:nvSpPr>
          <p:cNvPr id="9" name="object 9">
            <a:extLst>
              <a:ext uri="{FF2B5EF4-FFF2-40B4-BE49-F238E27FC236}">
                <a16:creationId xmlns="" xmlns:a16="http://schemas.microsoft.com/office/drawing/2014/main" id="{C903DD31-CD77-62C3-E57F-85676F70786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FC9F1633-6DF7-1E77-4067-2A355A987747}"/>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65BF78CB-F030-32A9-FBA1-56F71DA13254}"/>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graphicFrame>
        <p:nvGraphicFramePr>
          <p:cNvPr id="12" name="Table 11">
            <a:extLst>
              <a:ext uri="{FF2B5EF4-FFF2-40B4-BE49-F238E27FC236}">
                <a16:creationId xmlns="" xmlns:a16="http://schemas.microsoft.com/office/drawing/2014/main" id="{AA8CA2A3-BA10-A324-B4F7-DFEC4B3C8F34}"/>
              </a:ext>
            </a:extLst>
          </p:cNvPr>
          <p:cNvGraphicFramePr>
            <a:graphicFrameLocks noGrp="1"/>
          </p:cNvGraphicFramePr>
          <p:nvPr>
            <p:extLst>
              <p:ext uri="{D42A27DB-BD31-4B8C-83A1-F6EECF244321}">
                <p14:modId xmlns:p14="http://schemas.microsoft.com/office/powerpoint/2010/main" val="2649322936"/>
              </p:ext>
            </p:extLst>
          </p:nvPr>
        </p:nvGraphicFramePr>
        <p:xfrm>
          <a:off x="740071" y="1315683"/>
          <a:ext cx="7867635" cy="3438924"/>
        </p:xfrm>
        <a:graphic>
          <a:graphicData uri="http://schemas.openxmlformats.org/drawingml/2006/table">
            <a:tbl>
              <a:tblPr bandRow="1">
                <a:tableStyleId>{5C22544A-7EE6-4342-B048-85BDC9FD1C3A}</a:tableStyleId>
              </a:tblPr>
              <a:tblGrid>
                <a:gridCol w="1632022">
                  <a:extLst>
                    <a:ext uri="{9D8B030D-6E8A-4147-A177-3AD203B41FA5}">
                      <a16:colId xmlns="" xmlns:a16="http://schemas.microsoft.com/office/drawing/2014/main" val="61180529"/>
                    </a:ext>
                  </a:extLst>
                </a:gridCol>
                <a:gridCol w="1441913">
                  <a:extLst>
                    <a:ext uri="{9D8B030D-6E8A-4147-A177-3AD203B41FA5}">
                      <a16:colId xmlns="" xmlns:a16="http://schemas.microsoft.com/office/drawing/2014/main" val="4084907007"/>
                    </a:ext>
                  </a:extLst>
                </a:gridCol>
                <a:gridCol w="1588149">
                  <a:extLst>
                    <a:ext uri="{9D8B030D-6E8A-4147-A177-3AD203B41FA5}">
                      <a16:colId xmlns="" xmlns:a16="http://schemas.microsoft.com/office/drawing/2014/main" val="547789950"/>
                    </a:ext>
                  </a:extLst>
                </a:gridCol>
                <a:gridCol w="1485785">
                  <a:extLst>
                    <a:ext uri="{9D8B030D-6E8A-4147-A177-3AD203B41FA5}">
                      <a16:colId xmlns="" xmlns:a16="http://schemas.microsoft.com/office/drawing/2014/main" val="1446735578"/>
                    </a:ext>
                  </a:extLst>
                </a:gridCol>
                <a:gridCol w="1719766">
                  <a:extLst>
                    <a:ext uri="{9D8B030D-6E8A-4147-A177-3AD203B41FA5}">
                      <a16:colId xmlns="" xmlns:a16="http://schemas.microsoft.com/office/drawing/2014/main" val="1797994289"/>
                    </a:ext>
                  </a:extLst>
                </a:gridCol>
              </a:tblGrid>
              <a:tr h="547960">
                <a:tc>
                  <a:txBody>
                    <a:bodyPr/>
                    <a:lstStyle/>
                    <a:p>
                      <a:pPr>
                        <a:buNone/>
                      </a:pPr>
                      <a:r>
                        <a:rPr lang="en-US" sz="1600" b="1" dirty="0">
                          <a:effectLst/>
                          <a:latin typeface="Times New Roman" pitchFamily="18" charset="0"/>
                          <a:cs typeface="Times New Roman" pitchFamily="18" charset="0"/>
                        </a:rPr>
                        <a:t>Algorithm</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effectLst/>
                          <a:latin typeface="Times New Roman" pitchFamily="18" charset="0"/>
                          <a:cs typeface="Times New Roman" pitchFamily="18" charset="0"/>
                        </a:rPr>
                        <a:t>Accuracy</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effectLst/>
                          <a:latin typeface="Times New Roman" pitchFamily="18" charset="0"/>
                          <a:cs typeface="Times New Roman" pitchFamily="18" charset="0"/>
                        </a:rPr>
                        <a:t>Complexity</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effectLst/>
                          <a:latin typeface="Times New Roman" pitchFamily="18" charset="0"/>
                          <a:cs typeface="Times New Roman" pitchFamily="18" charset="0"/>
                        </a:rPr>
                        <a:t>Overfitting</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effectLst/>
                          <a:latin typeface="Times New Roman" pitchFamily="18" charset="0"/>
                          <a:cs typeface="Times New Roman" pitchFamily="18" charset="0"/>
                        </a:rPr>
                        <a:t>Suitability</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043214278"/>
                  </a:ext>
                </a:extLst>
              </a:tr>
              <a:tr h="784150">
                <a:tc>
                  <a:txBody>
                    <a:bodyPr/>
                    <a:lstStyle/>
                    <a:p>
                      <a:pPr>
                        <a:buNone/>
                      </a:pPr>
                      <a:r>
                        <a:rPr lang="en-US" sz="1600" b="0">
                          <a:effectLst/>
                          <a:latin typeface="Times New Roman" pitchFamily="18" charset="0"/>
                          <a:cs typeface="Times New Roman" pitchFamily="18" charset="0"/>
                        </a:rPr>
                        <a:t>Linear Regression</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Very High</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Low</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Low</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Best (Linear Data)</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77549597"/>
                  </a:ext>
                </a:extLst>
              </a:tr>
              <a:tr h="661332">
                <a:tc>
                  <a:txBody>
                    <a:bodyPr/>
                    <a:lstStyle/>
                    <a:p>
                      <a:pPr>
                        <a:buNone/>
                      </a:pPr>
                      <a:r>
                        <a:rPr lang="en-US" sz="1600" b="0">
                          <a:effectLst/>
                          <a:latin typeface="Times New Roman" pitchFamily="18" charset="0"/>
                          <a:cs typeface="Times New Roman" pitchFamily="18" charset="0"/>
                        </a:rPr>
                        <a:t>LSTM</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High</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High</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Medium</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Sequential Patterns</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11632127"/>
                  </a:ext>
                </a:extLst>
              </a:tr>
              <a:tr h="784150">
                <a:tc>
                  <a:txBody>
                    <a:bodyPr/>
                    <a:lstStyle/>
                    <a:p>
                      <a:pPr>
                        <a:buNone/>
                      </a:pPr>
                      <a:r>
                        <a:rPr lang="en-US" sz="1600" b="0">
                          <a:effectLst/>
                          <a:latin typeface="Times New Roman" pitchFamily="18" charset="0"/>
                          <a:cs typeface="Times New Roman" pitchFamily="18" charset="0"/>
                        </a:rPr>
                        <a:t>Random Forest</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Low</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Medium</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Low</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Non-linear Data</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876727721"/>
                  </a:ext>
                </a:extLst>
              </a:tr>
              <a:tr h="661332">
                <a:tc>
                  <a:txBody>
                    <a:bodyPr/>
                    <a:lstStyle/>
                    <a:p>
                      <a:pPr>
                        <a:buNone/>
                      </a:pPr>
                      <a:r>
                        <a:rPr lang="en-US" sz="1600" b="0">
                          <a:effectLst/>
                          <a:latin typeface="Times New Roman" pitchFamily="18" charset="0"/>
                          <a:cs typeface="Times New Roman" pitchFamily="18" charset="0"/>
                        </a:rPr>
                        <a:t>Ensemble</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Medium</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High</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effectLst/>
                          <a:latin typeface="Times New Roman" pitchFamily="18" charset="0"/>
                          <a:cs typeface="Times New Roman" pitchFamily="18" charset="0"/>
                        </a:rPr>
                        <a:t>Medium</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dirty="0">
                          <a:effectLst/>
                          <a:latin typeface="Times New Roman" pitchFamily="18" charset="0"/>
                          <a:cs typeface="Times New Roman" pitchFamily="18" charset="0"/>
                        </a:rPr>
                        <a:t>Combined Models</a:t>
                      </a:r>
                    </a:p>
                  </a:txBody>
                  <a:tcPr marL="35243" marR="35243" marT="35243" marB="352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332586049"/>
                  </a:ext>
                </a:extLst>
              </a:tr>
            </a:tbl>
          </a:graphicData>
        </a:graphic>
      </p:graphicFrame>
      <p:sp>
        <p:nvSpPr>
          <p:cNvPr id="14" name="TextBox 13">
            <a:extLst>
              <a:ext uri="{FF2B5EF4-FFF2-40B4-BE49-F238E27FC236}">
                <a16:creationId xmlns="" xmlns:a16="http://schemas.microsoft.com/office/drawing/2014/main" id="{15F1636C-B958-CB97-FDF2-BFC68EA4DD0B}"/>
              </a:ext>
            </a:extLst>
          </p:cNvPr>
          <p:cNvSpPr txBox="1"/>
          <p:nvPr/>
        </p:nvSpPr>
        <p:spPr>
          <a:xfrm>
            <a:off x="730069" y="611941"/>
            <a:ext cx="310912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a:latin typeface="Helvetica"/>
              <a:cs typeface="Helvetica"/>
            </a:endParaRPr>
          </a:p>
          <a:p>
            <a:pPr algn="l"/>
            <a:r>
              <a:rPr lang="en-US" dirty="0">
                <a:latin typeface="Times New Roman" pitchFamily="18" charset="0"/>
                <a:cs typeface="Times New Roman" pitchFamily="18" charset="0"/>
              </a:rPr>
              <a:t>Performance Metrics :</a:t>
            </a:r>
          </a:p>
          <a:p>
            <a:pPr algn="l"/>
            <a:endParaRPr lang="en-US" dirty="0"/>
          </a:p>
        </p:txBody>
      </p:sp>
    </p:spTree>
    <p:extLst>
      <p:ext uri="{BB962C8B-B14F-4D97-AF65-F5344CB8AC3E}">
        <p14:creationId xmlns:p14="http://schemas.microsoft.com/office/powerpoint/2010/main" val="793159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6BBBEEE-5E21-D455-C592-00FB85940EEF}"/>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E0BE5510-2F48-4878-F8FB-1137B7D45488}"/>
              </a:ext>
            </a:extLst>
          </p:cNvPr>
          <p:cNvGrpSpPr/>
          <p:nvPr/>
        </p:nvGrpSpPr>
        <p:grpSpPr>
          <a:xfrm>
            <a:off x="0" y="8223"/>
            <a:ext cx="9144000" cy="748030"/>
            <a:chOff x="0" y="0"/>
            <a:chExt cx="9144000" cy="748030"/>
          </a:xfrm>
        </p:grpSpPr>
        <p:pic>
          <p:nvPicPr>
            <p:cNvPr id="3" name="object 3">
              <a:extLst>
                <a:ext uri="{FF2B5EF4-FFF2-40B4-BE49-F238E27FC236}">
                  <a16:creationId xmlns="" xmlns:a16="http://schemas.microsoft.com/office/drawing/2014/main" id="{93EAE4B2-325C-0A71-8B14-B8C0CE972F95}"/>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0F1964BF-2DC2-349A-851F-77F623163603}"/>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EABEF6C6-AA40-0724-0318-E078A09EB51E}"/>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D3DED4ED-8E15-D8EA-0007-AAA6F75D9060}"/>
              </a:ext>
            </a:extLst>
          </p:cNvPr>
          <p:cNvSpPr txBox="1">
            <a:spLocks noGrp="1"/>
          </p:cNvSpPr>
          <p:nvPr>
            <p:ph type="title"/>
          </p:nvPr>
        </p:nvSpPr>
        <p:spPr>
          <a:xfrm>
            <a:off x="2490205" y="-82301"/>
            <a:ext cx="5289549" cy="1223284"/>
          </a:xfrm>
          <a:prstGeom prst="rect">
            <a:avLst/>
          </a:prstGeom>
        </p:spPr>
        <p:txBody>
          <a:bodyPr vert="horz" wrap="square" lIns="0" tIns="114173" rIns="0" bIns="0" rtlCol="0" anchor="t">
            <a:spAutoFit/>
          </a:bodyPr>
          <a:lstStyle/>
          <a:p>
            <a:pPr marL="342900" indent="-342900" algn="l"/>
            <a:r>
              <a:rPr lang="en-US" sz="3600" spc="-15" dirty="0">
                <a:ea typeface="Calibri"/>
              </a:rPr>
              <a:t>Evaluation Metrics</a:t>
            </a:r>
          </a:p>
          <a:p>
            <a:pPr marL="342900" indent="-342900" algn="l"/>
            <a:endParaRPr lang="en-US" sz="3600" spc="-15" dirty="0">
              <a:ea typeface="Calibri"/>
            </a:endParaRPr>
          </a:p>
        </p:txBody>
      </p:sp>
      <p:sp>
        <p:nvSpPr>
          <p:cNvPr id="9" name="object 9">
            <a:extLst>
              <a:ext uri="{FF2B5EF4-FFF2-40B4-BE49-F238E27FC236}">
                <a16:creationId xmlns="" xmlns:a16="http://schemas.microsoft.com/office/drawing/2014/main" id="{DC579DB5-68FD-9B58-1C97-A88B8BB917A3}"/>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993A49C9-1B36-6A4D-2AE3-648688999D71}"/>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8" name="Footer Placeholder 7">
            <a:extLst>
              <a:ext uri="{FF2B5EF4-FFF2-40B4-BE49-F238E27FC236}">
                <a16:creationId xmlns="" xmlns:a16="http://schemas.microsoft.com/office/drawing/2014/main" id="{5B071BD8-DA55-B653-514A-65AE10AE8699}"/>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
        <p:nvSpPr>
          <p:cNvPr id="14" name="TextBox 13">
            <a:extLst>
              <a:ext uri="{FF2B5EF4-FFF2-40B4-BE49-F238E27FC236}">
                <a16:creationId xmlns="" xmlns:a16="http://schemas.microsoft.com/office/drawing/2014/main" id="{DC11A477-8E2E-979E-C5DD-7C72462B758C}"/>
              </a:ext>
            </a:extLst>
          </p:cNvPr>
          <p:cNvSpPr txBox="1"/>
          <p:nvPr/>
        </p:nvSpPr>
        <p:spPr>
          <a:xfrm>
            <a:off x="935644" y="611941"/>
            <a:ext cx="310912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dirty="0">
              <a:latin typeface="Helvetica"/>
              <a:cs typeface="Helvetica"/>
            </a:endParaRPr>
          </a:p>
          <a:p>
            <a:pPr algn="l"/>
            <a:r>
              <a:rPr lang="en-US" dirty="0">
                <a:latin typeface="Times New Roman" pitchFamily="18" charset="0"/>
                <a:cs typeface="Times New Roman" pitchFamily="18" charset="0"/>
              </a:rPr>
              <a:t>Performance Metrics :</a:t>
            </a:r>
          </a:p>
          <a:p>
            <a:pPr algn="l"/>
            <a:endParaRPr lang="en-US" dirty="0"/>
          </a:p>
        </p:txBody>
      </p:sp>
      <p:graphicFrame>
        <p:nvGraphicFramePr>
          <p:cNvPr id="11" name="Table 10">
            <a:extLst>
              <a:ext uri="{FF2B5EF4-FFF2-40B4-BE49-F238E27FC236}">
                <a16:creationId xmlns="" xmlns:a16="http://schemas.microsoft.com/office/drawing/2014/main" id="{B25A5ADB-596A-F693-DD9F-15682C2C5B8F}"/>
              </a:ext>
            </a:extLst>
          </p:cNvPr>
          <p:cNvGraphicFramePr>
            <a:graphicFrameLocks noGrp="1"/>
          </p:cNvGraphicFramePr>
          <p:nvPr>
            <p:extLst>
              <p:ext uri="{D42A27DB-BD31-4B8C-83A1-F6EECF244321}">
                <p14:modId xmlns:p14="http://schemas.microsoft.com/office/powerpoint/2010/main" val="3504360292"/>
              </p:ext>
            </p:extLst>
          </p:nvPr>
        </p:nvGraphicFramePr>
        <p:xfrm>
          <a:off x="937424" y="1365021"/>
          <a:ext cx="7200650" cy="2724710"/>
        </p:xfrm>
        <a:graphic>
          <a:graphicData uri="http://schemas.openxmlformats.org/drawingml/2006/table">
            <a:tbl>
              <a:tblPr bandRow="1">
                <a:tableStyleId>{5C22544A-7EE6-4342-B048-85BDC9FD1C3A}</a:tableStyleId>
              </a:tblPr>
              <a:tblGrid>
                <a:gridCol w="2660497">
                  <a:extLst>
                    <a:ext uri="{9D8B030D-6E8A-4147-A177-3AD203B41FA5}">
                      <a16:colId xmlns="" xmlns:a16="http://schemas.microsoft.com/office/drawing/2014/main" val="403419461"/>
                    </a:ext>
                  </a:extLst>
                </a:gridCol>
                <a:gridCol w="1352386">
                  <a:extLst>
                    <a:ext uri="{9D8B030D-6E8A-4147-A177-3AD203B41FA5}">
                      <a16:colId xmlns="" xmlns:a16="http://schemas.microsoft.com/office/drawing/2014/main" val="2140626345"/>
                    </a:ext>
                  </a:extLst>
                </a:gridCol>
                <a:gridCol w="1372511">
                  <a:extLst>
                    <a:ext uri="{9D8B030D-6E8A-4147-A177-3AD203B41FA5}">
                      <a16:colId xmlns="" xmlns:a16="http://schemas.microsoft.com/office/drawing/2014/main" val="3279956492"/>
                    </a:ext>
                  </a:extLst>
                </a:gridCol>
                <a:gridCol w="1815256">
                  <a:extLst>
                    <a:ext uri="{9D8B030D-6E8A-4147-A177-3AD203B41FA5}">
                      <a16:colId xmlns="" xmlns:a16="http://schemas.microsoft.com/office/drawing/2014/main" val="1194108064"/>
                    </a:ext>
                  </a:extLst>
                </a:gridCol>
              </a:tblGrid>
              <a:tr h="544942">
                <a:tc>
                  <a:txBody>
                    <a:bodyPr/>
                    <a:lstStyle/>
                    <a:p>
                      <a:pPr>
                        <a:lnSpc>
                          <a:spcPct val="150000"/>
                        </a:lnSpc>
                        <a:buNone/>
                      </a:pPr>
                      <a:r>
                        <a:rPr lang="en-US" dirty="0">
                          <a:effectLst/>
                          <a:latin typeface="Times New Roman"/>
                          <a:cs typeface="Times New Roman"/>
                        </a:rPr>
                        <a:t>Model</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dirty="0">
                          <a:effectLst/>
                          <a:latin typeface="Times New Roman"/>
                          <a:cs typeface="Times New Roman"/>
                        </a:rPr>
                        <a:t>MAE</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dirty="0">
                          <a:effectLst/>
                          <a:latin typeface="Times New Roman"/>
                          <a:cs typeface="Times New Roman"/>
                        </a:rPr>
                        <a:t>RMSE</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dirty="0">
                          <a:effectLst/>
                          <a:latin typeface="Times New Roman"/>
                          <a:cs typeface="Times New Roman"/>
                        </a:rPr>
                        <a:t>R²  Score</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624364992"/>
                  </a:ext>
                </a:extLst>
              </a:tr>
              <a:tr h="544942">
                <a:tc>
                  <a:txBody>
                    <a:bodyPr/>
                    <a:lstStyle/>
                    <a:p>
                      <a:pPr>
                        <a:lnSpc>
                          <a:spcPct val="150000"/>
                        </a:lnSpc>
                        <a:buNone/>
                      </a:pPr>
                      <a:r>
                        <a:rPr lang="en-US">
                          <a:effectLst/>
                          <a:latin typeface="Times New Roman"/>
                          <a:cs typeface="Times New Roman"/>
                        </a:rPr>
                        <a:t>Linear Regression</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13.94</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19.27</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b="1" dirty="0">
                          <a:effectLst/>
                          <a:latin typeface="Times New Roman"/>
                          <a:cs typeface="Times New Roman"/>
                        </a:rPr>
                        <a:t>0.9643</a:t>
                      </a:r>
                      <a:endParaRPr lang="en-US" dirty="0">
                        <a:effectLst/>
                        <a:latin typeface="Times New Roman"/>
                        <a:cs typeface="Times New Roman"/>
                      </a:endParaRP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636147948"/>
                  </a:ext>
                </a:extLst>
              </a:tr>
              <a:tr h="544942">
                <a:tc>
                  <a:txBody>
                    <a:bodyPr/>
                    <a:lstStyle/>
                    <a:p>
                      <a:pPr>
                        <a:lnSpc>
                          <a:spcPct val="150000"/>
                        </a:lnSpc>
                        <a:buNone/>
                      </a:pPr>
                      <a:r>
                        <a:rPr lang="en-US">
                          <a:effectLst/>
                          <a:latin typeface="Times New Roman"/>
                          <a:cs typeface="Times New Roman"/>
                        </a:rPr>
                        <a:t>Random Forest</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29.92</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40.02</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0.8459</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631915844"/>
                  </a:ext>
                </a:extLst>
              </a:tr>
              <a:tr h="544942">
                <a:tc>
                  <a:txBody>
                    <a:bodyPr/>
                    <a:lstStyle/>
                    <a:p>
                      <a:pPr>
                        <a:lnSpc>
                          <a:spcPct val="150000"/>
                        </a:lnSpc>
                        <a:buNone/>
                      </a:pPr>
                      <a:r>
                        <a:rPr lang="en-US" dirty="0">
                          <a:effectLst/>
                          <a:latin typeface="Times New Roman"/>
                          <a:cs typeface="Times New Roman"/>
                        </a:rPr>
                        <a:t>Ensemble</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18.95</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24.81</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0.9408</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529039137"/>
                  </a:ext>
                </a:extLst>
              </a:tr>
              <a:tr h="544942">
                <a:tc>
                  <a:txBody>
                    <a:bodyPr/>
                    <a:lstStyle/>
                    <a:p>
                      <a:pPr>
                        <a:lnSpc>
                          <a:spcPct val="150000"/>
                        </a:lnSpc>
                        <a:buNone/>
                      </a:pPr>
                      <a:r>
                        <a:rPr lang="en-US" b="1" dirty="0">
                          <a:effectLst/>
                          <a:latin typeface="Times New Roman"/>
                          <a:cs typeface="Times New Roman"/>
                        </a:rPr>
                        <a:t>LSTM</a:t>
                      </a:r>
                      <a:endParaRPr lang="en-US" dirty="0">
                        <a:effectLst/>
                        <a:latin typeface="Times New Roman"/>
                        <a:cs typeface="Times New Roman"/>
                      </a:endParaRP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21.18</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a:effectLst/>
                          <a:latin typeface="Times New Roman"/>
                          <a:cs typeface="Times New Roman"/>
                        </a:rPr>
                        <a:t>27.53</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nSpc>
                          <a:spcPct val="150000"/>
                        </a:lnSpc>
                        <a:buNone/>
                      </a:pPr>
                      <a:r>
                        <a:rPr lang="en-US" b="1" dirty="0">
                          <a:effectLst/>
                          <a:latin typeface="Times New Roman"/>
                          <a:cs typeface="Times New Roman"/>
                        </a:rPr>
                        <a:t>0.9274</a:t>
                      </a:r>
                      <a:r>
                        <a:rPr lang="en-US" dirty="0">
                          <a:effectLst/>
                          <a:latin typeface="Times New Roman"/>
                          <a:cs typeface="Times New Roman"/>
                        </a:rPr>
                        <a:t> </a:t>
                      </a:r>
                    </a:p>
                  </a:txBody>
                  <a:tcPr marL="45720" marR="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93600633"/>
                  </a:ext>
                </a:extLst>
              </a:tr>
            </a:tbl>
          </a:graphicData>
        </a:graphic>
      </p:graphicFrame>
    </p:spTree>
    <p:extLst>
      <p:ext uri="{BB962C8B-B14F-4D97-AF65-F5344CB8AC3E}">
        <p14:creationId xmlns:p14="http://schemas.microsoft.com/office/powerpoint/2010/main" val="2929961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AB831A-9CDC-48D0-A5F9-EB301AC9305C}"/>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79171A45-7808-9FA6-6C83-996AE0D4042C}"/>
              </a:ext>
            </a:extLst>
          </p:cNvPr>
          <p:cNvGrpSpPr/>
          <p:nvPr/>
        </p:nvGrpSpPr>
        <p:grpSpPr>
          <a:xfrm>
            <a:off x="0" y="12335"/>
            <a:ext cx="9144000" cy="748030"/>
            <a:chOff x="0" y="0"/>
            <a:chExt cx="9144000" cy="748030"/>
          </a:xfrm>
        </p:grpSpPr>
        <p:pic>
          <p:nvPicPr>
            <p:cNvPr id="3" name="object 3">
              <a:extLst>
                <a:ext uri="{FF2B5EF4-FFF2-40B4-BE49-F238E27FC236}">
                  <a16:creationId xmlns="" xmlns:a16="http://schemas.microsoft.com/office/drawing/2014/main" id="{257A2271-EE7E-A16B-02CE-8152AA99305A}"/>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101C1F89-9BA5-5672-B603-7003E5B8DC26}"/>
                </a:ext>
              </a:extLst>
            </p:cNvPr>
            <p:cNvPicPr/>
            <p:nvPr/>
          </p:nvPicPr>
          <p:blipFill>
            <a:blip r:embed="rId3" cstate="print"/>
            <a:stretch>
              <a:fillRect/>
            </a:stretch>
          </p:blipFill>
          <p:spPr>
            <a:xfrm>
              <a:off x="3514725" y="9461"/>
              <a:ext cx="2109851" cy="738187"/>
            </a:xfrm>
            <a:prstGeom prst="rect">
              <a:avLst/>
            </a:prstGeom>
          </p:spPr>
        </p:pic>
        <p:pic>
          <p:nvPicPr>
            <p:cNvPr id="5" name="object 5">
              <a:extLst>
                <a:ext uri="{FF2B5EF4-FFF2-40B4-BE49-F238E27FC236}">
                  <a16:creationId xmlns="" xmlns:a16="http://schemas.microsoft.com/office/drawing/2014/main" id="{2AF3C246-0DBF-6886-1710-40070A46ECDC}"/>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6600E006-FBD5-CA8A-D518-29015CBF4377}"/>
              </a:ext>
            </a:extLst>
          </p:cNvPr>
          <p:cNvSpPr txBox="1">
            <a:spLocks noGrp="1"/>
          </p:cNvSpPr>
          <p:nvPr>
            <p:ph type="title"/>
          </p:nvPr>
        </p:nvSpPr>
        <p:spPr>
          <a:xfrm>
            <a:off x="2650851" y="-61578"/>
            <a:ext cx="5289549" cy="1223284"/>
          </a:xfrm>
          <a:prstGeom prst="rect">
            <a:avLst/>
          </a:prstGeom>
        </p:spPr>
        <p:txBody>
          <a:bodyPr vert="horz" wrap="square" lIns="0" tIns="114173" rIns="0" bIns="0" rtlCol="0" anchor="t">
            <a:spAutoFit/>
          </a:bodyPr>
          <a:lstStyle/>
          <a:p>
            <a:pPr marL="342900" indent="-342900" algn="l"/>
            <a:r>
              <a:rPr lang="en-US" sz="3600" spc="-15" dirty="0">
                <a:ea typeface="Calibri"/>
              </a:rPr>
              <a:t>        Test Cases </a:t>
            </a:r>
          </a:p>
          <a:p>
            <a:pPr marL="342900" indent="-342900" algn="l"/>
            <a:endParaRPr lang="en-US" sz="3600" spc="-15" dirty="0">
              <a:ea typeface="Calibri"/>
            </a:endParaRPr>
          </a:p>
        </p:txBody>
      </p:sp>
      <p:sp>
        <p:nvSpPr>
          <p:cNvPr id="9" name="object 9">
            <a:extLst>
              <a:ext uri="{FF2B5EF4-FFF2-40B4-BE49-F238E27FC236}">
                <a16:creationId xmlns="" xmlns:a16="http://schemas.microsoft.com/office/drawing/2014/main" id="{CA74A284-DD5D-F267-62C2-B614ECFABF8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E6F8BA76-F3B5-D7A3-D6B9-0BD182A2970A}"/>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626BE2C5-2830-752E-2B35-A28B539FBFCE}"/>
              </a:ext>
            </a:extLst>
          </p:cNvPr>
          <p:cNvSpPr txBox="1"/>
          <p:nvPr/>
        </p:nvSpPr>
        <p:spPr>
          <a:xfrm>
            <a:off x="319978" y="971274"/>
            <a:ext cx="8083392" cy="3352841"/>
          </a:xfrm>
          <a:prstGeom prst="rect">
            <a:avLst/>
          </a:prstGeom>
        </p:spPr>
        <p:txBody>
          <a:bodyPr vert="horz" wrap="square" lIns="0" tIns="15875" rIns="0" bIns="0" rtlCol="0" anchor="t">
            <a:spAutoFit/>
          </a:bodyPr>
          <a:lstStyle/>
          <a:p>
            <a:pPr algn="l">
              <a:lnSpc>
                <a:spcPct val="150000"/>
              </a:lnSpc>
              <a:tabLst>
                <a:tab pos="298450" algn="l"/>
              </a:tabLst>
            </a:pPr>
            <a:r>
              <a:rPr lang="en-US" sz="1600" spc="-10" dirty="0">
                <a:solidFill>
                  <a:srgbClr val="1D1D1D"/>
                </a:solidFill>
                <a:latin typeface="Times New Roman"/>
                <a:cs typeface="Times New Roman"/>
              </a:rPr>
              <a:t>Test cases are used to verify that the system functions correctly under different conditions and inputs.</a:t>
            </a:r>
            <a:r>
              <a:rPr lang="en-US" sz="1600" spc="-10" dirty="0">
                <a:latin typeface="Times New Roman"/>
                <a:cs typeface="Times New Roman"/>
              </a:rPr>
              <a:t/>
            </a:r>
            <a:br>
              <a:rPr lang="en-US" sz="1600" spc="-10" dirty="0">
                <a:latin typeface="Times New Roman"/>
                <a:cs typeface="Times New Roman"/>
              </a:rPr>
            </a:br>
            <a:r>
              <a:rPr lang="en-US" sz="1600" spc="-10" dirty="0">
                <a:solidFill>
                  <a:srgbClr val="1D1D1D"/>
                </a:solidFill>
                <a:latin typeface="Times New Roman"/>
                <a:cs typeface="Times New Roman"/>
              </a:rPr>
              <a:t> A total of </a:t>
            </a:r>
            <a:r>
              <a:rPr lang="en-US" sz="1600" b="1" spc="-10" dirty="0">
                <a:solidFill>
                  <a:srgbClr val="1D1D1D"/>
                </a:solidFill>
                <a:latin typeface="Times New Roman"/>
                <a:cs typeface="Times New Roman"/>
              </a:rPr>
              <a:t>110 test cases</a:t>
            </a:r>
            <a:r>
              <a:rPr lang="en-US" sz="1600" spc="-10" dirty="0">
                <a:solidFill>
                  <a:srgbClr val="1D1D1D"/>
                </a:solidFill>
                <a:latin typeface="Times New Roman"/>
                <a:cs typeface="Times New Roman"/>
              </a:rPr>
              <a:t> were designed to validate the stock prediction, sentiment </a:t>
            </a:r>
            <a:r>
              <a:rPr lang="en-US" sz="1600" spc="-10" dirty="0" smtClean="0">
                <a:solidFill>
                  <a:srgbClr val="1D1D1D"/>
                </a:solidFill>
                <a:latin typeface="Times New Roman"/>
                <a:cs typeface="Times New Roman"/>
              </a:rPr>
              <a:t>analysis </a:t>
            </a:r>
            <a:r>
              <a:rPr lang="en-US" sz="1600" spc="-10" dirty="0">
                <a:solidFill>
                  <a:srgbClr val="1D1D1D"/>
                </a:solidFill>
                <a:latin typeface="Times New Roman"/>
                <a:cs typeface="Times New Roman"/>
              </a:rPr>
              <a:t>and overall system performance.</a:t>
            </a:r>
            <a:endParaRPr lang="en-US" sz="1600" dirty="0">
              <a:latin typeface="Times New Roman"/>
              <a:cs typeface="Times New Roman"/>
            </a:endParaRPr>
          </a:p>
          <a:p>
            <a:pPr algn="l">
              <a:lnSpc>
                <a:spcPct val="150000"/>
              </a:lnSpc>
              <a:tabLst>
                <a:tab pos="298450" algn="l"/>
              </a:tabLst>
            </a:pPr>
            <a:endParaRPr lang="en-US" sz="1600" spc="-10" dirty="0">
              <a:solidFill>
                <a:srgbClr val="1D1D1D"/>
              </a:solidFill>
              <a:latin typeface="Times New Roman"/>
              <a:cs typeface="Times New Roman"/>
            </a:endParaRPr>
          </a:p>
          <a:p>
            <a:pPr algn="l">
              <a:lnSpc>
                <a:spcPct val="150000"/>
              </a:lnSpc>
              <a:tabLst>
                <a:tab pos="298450" algn="l"/>
              </a:tabLst>
            </a:pPr>
            <a:r>
              <a:rPr lang="en-US" sz="1600" b="1" spc="-10" dirty="0">
                <a:solidFill>
                  <a:srgbClr val="1D1D1D"/>
                </a:solidFill>
                <a:latin typeface="Times New Roman"/>
                <a:cs typeface="Times New Roman"/>
              </a:rPr>
              <a:t>Link:</a:t>
            </a:r>
          </a:p>
          <a:p>
            <a:pPr algn="l">
              <a:lnSpc>
                <a:spcPct val="150000"/>
              </a:lnSpc>
              <a:tabLst>
                <a:tab pos="298450" algn="l"/>
              </a:tabLst>
            </a:pPr>
            <a:r>
              <a:rPr lang="en-US" sz="1600" spc="-10" dirty="0">
                <a:solidFill>
                  <a:srgbClr val="1D1D1D"/>
                </a:solidFill>
                <a:latin typeface="Times New Roman"/>
                <a:cs typeface="Times New Roman"/>
                <a:hlinkClick r:id="rId5" action="ppaction://hlinkpres?slideindex=1&amp;slidetitle="/>
              </a:rPr>
              <a:t>https://docs.google.com/spreadsheets/d/1yeus3vHP0j1HMpNypYvORa3WjNT6YrdQz6EosYj_LIw/edit?usp=sharing</a:t>
            </a:r>
            <a:endParaRPr lang="en-US" sz="1600" dirty="0">
              <a:latin typeface="Times New Roman"/>
              <a:cs typeface="Times New Roman"/>
            </a:endParaRPr>
          </a:p>
          <a:p>
            <a:pPr marL="12700">
              <a:lnSpc>
                <a:spcPct val="150000"/>
              </a:lnSpc>
              <a:spcBef>
                <a:spcPts val="125"/>
              </a:spcBef>
              <a:tabLst>
                <a:tab pos="298450" algn="l"/>
              </a:tabLst>
            </a:pPr>
            <a:endParaRPr lang="en-US" sz="1600" spc="-10" dirty="0">
              <a:solidFill>
                <a:srgbClr val="1D1D1D"/>
              </a:solidFill>
              <a:latin typeface="Times New Roman"/>
              <a:cs typeface="Times New Roman"/>
            </a:endParaRPr>
          </a:p>
        </p:txBody>
      </p:sp>
      <p:sp>
        <p:nvSpPr>
          <p:cNvPr id="8" name="Footer Placeholder 7">
            <a:extLst>
              <a:ext uri="{FF2B5EF4-FFF2-40B4-BE49-F238E27FC236}">
                <a16:creationId xmlns="" xmlns:a16="http://schemas.microsoft.com/office/drawing/2014/main" id="{CFC6DD7C-43D0-24DF-B7F1-E911D371B8DD}"/>
              </a:ext>
            </a:extLst>
          </p:cNvPr>
          <p:cNvSpPr>
            <a:spLocks noGrp="1"/>
          </p:cNvSpPr>
          <p:nvPr>
            <p:ph type="ftr" sz="quarter" idx="5"/>
          </p:nvPr>
        </p:nvSpPr>
        <p:spPr>
          <a:xfrm>
            <a:off x="267292" y="4934057"/>
            <a:ext cx="692510"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2787791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748030"/>
            <a:chOff x="0" y="0"/>
            <a:chExt cx="9144000" cy="748030"/>
          </a:xfrm>
        </p:grpSpPr>
        <p:pic>
          <p:nvPicPr>
            <p:cNvPr id="3" name="object 3"/>
            <p:cNvPicPr/>
            <p:nvPr/>
          </p:nvPicPr>
          <p:blipFill>
            <a:blip r:embed="rId2" cstate="print"/>
            <a:stretch>
              <a:fillRect/>
            </a:stretch>
          </p:blipFill>
          <p:spPr>
            <a:xfrm>
              <a:off x="0" y="0"/>
              <a:ext cx="9144000" cy="681356"/>
            </a:xfrm>
            <a:prstGeom prst="rect">
              <a:avLst/>
            </a:prstGeom>
          </p:spPr>
        </p:pic>
        <p:pic>
          <p:nvPicPr>
            <p:cNvPr id="4" name="object 4"/>
            <p:cNvPicPr/>
            <p:nvPr/>
          </p:nvPicPr>
          <p:blipFill>
            <a:blip r:embed="rId3" cstate="print"/>
            <a:stretch>
              <a:fillRect/>
            </a:stretch>
          </p:blipFill>
          <p:spPr>
            <a:xfrm>
              <a:off x="3419475" y="9461"/>
              <a:ext cx="2300351" cy="738187"/>
            </a:xfrm>
            <a:prstGeom prst="rect">
              <a:avLst/>
            </a:prstGeom>
          </p:spPr>
        </p:pic>
        <p:pic>
          <p:nvPicPr>
            <p:cNvPr id="5" name="object 5"/>
            <p:cNvPicPr/>
            <p:nvPr/>
          </p:nvPicPr>
          <p:blipFill>
            <a:blip r:embed="rId4" cstate="print"/>
            <a:stretch>
              <a:fillRect/>
            </a:stretch>
          </p:blipFill>
          <p:spPr>
            <a:xfrm>
              <a:off x="0" y="0"/>
              <a:ext cx="9144000" cy="628650"/>
            </a:xfrm>
            <a:prstGeom prst="rect">
              <a:avLst/>
            </a:prstGeom>
          </p:spPr>
        </p:pic>
      </p:grpSp>
      <p:sp>
        <p:nvSpPr>
          <p:cNvPr id="6" name="object 6"/>
          <p:cNvSpPr txBox="1">
            <a:spLocks noGrp="1"/>
          </p:cNvSpPr>
          <p:nvPr>
            <p:ph type="title"/>
          </p:nvPr>
        </p:nvSpPr>
        <p:spPr>
          <a:xfrm>
            <a:off x="1833041" y="-117639"/>
            <a:ext cx="5289549" cy="669286"/>
          </a:xfrm>
          <a:prstGeom prst="rect">
            <a:avLst/>
          </a:prstGeom>
        </p:spPr>
        <p:txBody>
          <a:bodyPr vert="horz" wrap="square" lIns="0" tIns="114173" rIns="0" bIns="0" rtlCol="0" anchor="t">
            <a:spAutoFit/>
          </a:bodyPr>
          <a:lstStyle/>
          <a:p>
            <a:pPr marL="1731645">
              <a:spcBef>
                <a:spcPts val="100"/>
              </a:spcBef>
            </a:pPr>
            <a:r>
              <a:rPr lang="en-US" sz="3600" spc="-240" dirty="0">
                <a:ea typeface="Calibri"/>
              </a:rPr>
              <a:t>Conclusion</a:t>
            </a:r>
            <a:endParaRPr lang="en-US" sz="3600" dirty="0"/>
          </a:p>
        </p:txBody>
      </p:sp>
      <p:sp>
        <p:nvSpPr>
          <p:cNvPr id="9" name="object 9"/>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p:cNvSpPr txBox="1"/>
          <p:nvPr/>
        </p:nvSpPr>
        <p:spPr>
          <a:xfrm>
            <a:off x="747967" y="994277"/>
            <a:ext cx="7953180" cy="2665473"/>
          </a:xfrm>
          <a:prstGeom prst="rect">
            <a:avLst/>
          </a:prstGeom>
        </p:spPr>
        <p:txBody>
          <a:bodyPr vert="horz" wrap="square" lIns="0" tIns="123190" rIns="0" bIns="0" rtlCol="0" anchor="t">
            <a:spAutoFit/>
          </a:bodyPr>
          <a:lstStyle/>
          <a:p>
            <a:pPr marL="12700">
              <a:lnSpc>
                <a:spcPct val="150000"/>
              </a:lnSpc>
              <a:spcBef>
                <a:spcPts val="970"/>
              </a:spcBef>
              <a:tabLst>
                <a:tab pos="240665" algn="l"/>
              </a:tabLst>
            </a:pPr>
            <a:r>
              <a:rPr lang="en-US" sz="1600" spc="-10" dirty="0">
                <a:latin typeface="Times New Roman"/>
                <a:cs typeface="Times New Roman"/>
              </a:rPr>
              <a:t>The proposed system presents an effective AI-based approach for stock market prediction by combining historical data analysis with real-time news sentiment analysis. The use of the LSTM model enables accurate capture of time-dependent patterns, while the sentiment analysis module provides valuable insights into market behavior influenced by public opinion. By integrating both quantitative and qualitative data, the system delivers more reliable and context-aware predictions. Overall, the web-based platform offers a user-friendly solution that supports informed and data-driven investment decisions.</a:t>
            </a:r>
            <a:endParaRPr lang="en-US" sz="1600" spc="-10" dirty="0">
              <a:solidFill>
                <a:srgbClr val="000000"/>
              </a:solidFill>
              <a:latin typeface="Times New Roman"/>
              <a:cs typeface="Times New Roman"/>
            </a:endParaRPr>
          </a:p>
        </p:txBody>
      </p:sp>
      <p:sp>
        <p:nvSpPr>
          <p:cNvPr id="8" name="Footer Placeholder 7">
            <a:extLst>
              <a:ext uri="{FF2B5EF4-FFF2-40B4-BE49-F238E27FC236}">
                <a16:creationId xmlns="" xmlns:a16="http://schemas.microsoft.com/office/drawing/2014/main" id="{E37AFFAF-B866-9B72-17AF-74CB4E90E54D}"/>
              </a:ext>
            </a:extLst>
          </p:cNvPr>
          <p:cNvSpPr>
            <a:spLocks noGrp="1"/>
          </p:cNvSpPr>
          <p:nvPr>
            <p:ph type="ftr" sz="quarter" idx="5"/>
          </p:nvPr>
        </p:nvSpPr>
        <p:spPr>
          <a:xfrm>
            <a:off x="304295" y="4934057"/>
            <a:ext cx="680176" cy="338554"/>
          </a:xfrm>
        </p:spPr>
        <p:txBody>
          <a:bodyPr wrap="square" lIns="0" tIns="0" rIns="0" bIns="0" anchor="t">
            <a:spAutoFit/>
          </a:bodyPr>
          <a:lstStyle/>
          <a:p>
            <a:r>
              <a:rPr lang="en-US" spc="-95" dirty="0"/>
              <a:t>30  / 06 /  26</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D5A7B2C-D4D0-9690-AE3D-E430E6D0165C}"/>
            </a:ext>
          </a:extLst>
        </p:cNvPr>
        <p:cNvGrpSpPr/>
        <p:nvPr/>
      </p:nvGrpSpPr>
      <p:grpSpPr>
        <a:xfrm>
          <a:off x="0" y="0"/>
          <a:ext cx="0" cy="0"/>
          <a:chOff x="0" y="0"/>
          <a:chExt cx="0" cy="0"/>
        </a:xfrm>
      </p:grpSpPr>
      <p:grpSp>
        <p:nvGrpSpPr>
          <p:cNvPr id="2" name="object 2">
            <a:extLst>
              <a:ext uri="{FF2B5EF4-FFF2-40B4-BE49-F238E27FC236}">
                <a16:creationId xmlns="" xmlns:a16="http://schemas.microsoft.com/office/drawing/2014/main" id="{3B118956-8480-FB42-83D5-788F8520842C}"/>
              </a:ext>
            </a:extLst>
          </p:cNvPr>
          <p:cNvGrpSpPr/>
          <p:nvPr/>
        </p:nvGrpSpPr>
        <p:grpSpPr>
          <a:xfrm>
            <a:off x="0" y="0"/>
            <a:ext cx="9144000" cy="748030"/>
            <a:chOff x="0" y="0"/>
            <a:chExt cx="9144000" cy="748030"/>
          </a:xfrm>
        </p:grpSpPr>
        <p:pic>
          <p:nvPicPr>
            <p:cNvPr id="3" name="object 3">
              <a:extLst>
                <a:ext uri="{FF2B5EF4-FFF2-40B4-BE49-F238E27FC236}">
                  <a16:creationId xmlns="" xmlns:a16="http://schemas.microsoft.com/office/drawing/2014/main" id="{E4EA2DF4-365B-C22A-9D1B-C051D970B126}"/>
                </a:ext>
              </a:extLst>
            </p:cNvPr>
            <p:cNvPicPr/>
            <p:nvPr/>
          </p:nvPicPr>
          <p:blipFill>
            <a:blip r:embed="rId2" cstate="print"/>
            <a:stretch>
              <a:fillRect/>
            </a:stretch>
          </p:blipFill>
          <p:spPr>
            <a:xfrm>
              <a:off x="0" y="0"/>
              <a:ext cx="9144000" cy="681356"/>
            </a:xfrm>
            <a:prstGeom prst="rect">
              <a:avLst/>
            </a:prstGeom>
          </p:spPr>
        </p:pic>
        <p:pic>
          <p:nvPicPr>
            <p:cNvPr id="4" name="object 4">
              <a:extLst>
                <a:ext uri="{FF2B5EF4-FFF2-40B4-BE49-F238E27FC236}">
                  <a16:creationId xmlns="" xmlns:a16="http://schemas.microsoft.com/office/drawing/2014/main" id="{60954C18-E59F-8F0D-88C3-5E93D8EB1DC0}"/>
                </a:ext>
              </a:extLst>
            </p:cNvPr>
            <p:cNvPicPr/>
            <p:nvPr/>
          </p:nvPicPr>
          <p:blipFill>
            <a:blip r:embed="rId3" cstate="print"/>
            <a:stretch>
              <a:fillRect/>
            </a:stretch>
          </p:blipFill>
          <p:spPr>
            <a:xfrm>
              <a:off x="3419475" y="9461"/>
              <a:ext cx="2300351" cy="738187"/>
            </a:xfrm>
            <a:prstGeom prst="rect">
              <a:avLst/>
            </a:prstGeom>
          </p:spPr>
        </p:pic>
        <p:pic>
          <p:nvPicPr>
            <p:cNvPr id="5" name="object 5">
              <a:extLst>
                <a:ext uri="{FF2B5EF4-FFF2-40B4-BE49-F238E27FC236}">
                  <a16:creationId xmlns="" xmlns:a16="http://schemas.microsoft.com/office/drawing/2014/main" id="{F225C2A1-860F-FB9F-DFCD-F5F8ACCCA7A7}"/>
                </a:ext>
              </a:extLst>
            </p:cNvPr>
            <p:cNvPicPr/>
            <p:nvPr/>
          </p:nvPicPr>
          <p:blipFill>
            <a:blip r:embed="rId4" cstate="print"/>
            <a:stretch>
              <a:fillRect/>
            </a:stretch>
          </p:blipFill>
          <p:spPr>
            <a:xfrm>
              <a:off x="0" y="0"/>
              <a:ext cx="9144000" cy="628650"/>
            </a:xfrm>
            <a:prstGeom prst="rect">
              <a:avLst/>
            </a:prstGeom>
          </p:spPr>
        </p:pic>
      </p:grpSp>
      <p:sp>
        <p:nvSpPr>
          <p:cNvPr id="6" name="object 6">
            <a:extLst>
              <a:ext uri="{FF2B5EF4-FFF2-40B4-BE49-F238E27FC236}">
                <a16:creationId xmlns="" xmlns:a16="http://schemas.microsoft.com/office/drawing/2014/main" id="{9582F1D0-02C3-ED00-10C7-C9DA29E7D8D0}"/>
              </a:ext>
            </a:extLst>
          </p:cNvPr>
          <p:cNvSpPr txBox="1">
            <a:spLocks noGrp="1"/>
          </p:cNvSpPr>
          <p:nvPr>
            <p:ph type="title"/>
          </p:nvPr>
        </p:nvSpPr>
        <p:spPr>
          <a:xfrm>
            <a:off x="1591215" y="-127264"/>
            <a:ext cx="5515912" cy="669286"/>
          </a:xfrm>
          <a:prstGeom prst="rect">
            <a:avLst/>
          </a:prstGeom>
        </p:spPr>
        <p:txBody>
          <a:bodyPr vert="horz" wrap="square" lIns="0" tIns="114173" rIns="0" bIns="0" rtlCol="0" anchor="t">
            <a:spAutoFit/>
          </a:bodyPr>
          <a:lstStyle/>
          <a:p>
            <a:pPr marL="1731645">
              <a:spcBef>
                <a:spcPts val="100"/>
              </a:spcBef>
            </a:pPr>
            <a:r>
              <a:rPr lang="en-US" sz="3600" spc="-240" dirty="0" smtClean="0"/>
              <a:t>Future  Scopes</a:t>
            </a:r>
            <a:endParaRPr lang="en-US" sz="3600" dirty="0"/>
          </a:p>
        </p:txBody>
      </p:sp>
      <p:sp>
        <p:nvSpPr>
          <p:cNvPr id="9" name="object 9">
            <a:extLst>
              <a:ext uri="{FF2B5EF4-FFF2-40B4-BE49-F238E27FC236}">
                <a16:creationId xmlns="" xmlns:a16="http://schemas.microsoft.com/office/drawing/2014/main" id="{5A5F2126-786D-FAA2-5506-530637A5E5B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10" name="object 10">
            <a:extLst>
              <a:ext uri="{FF2B5EF4-FFF2-40B4-BE49-F238E27FC236}">
                <a16:creationId xmlns="" xmlns:a16="http://schemas.microsoft.com/office/drawing/2014/main" id="{A94CB343-9368-5DF7-7A3B-94B536B3CD37}"/>
              </a:ext>
            </a:extLst>
          </p:cNvPr>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a:extLst>
              <a:ext uri="{FF2B5EF4-FFF2-40B4-BE49-F238E27FC236}">
                <a16:creationId xmlns="" xmlns:a16="http://schemas.microsoft.com/office/drawing/2014/main" id="{3209C301-1ACC-A519-BB3B-ACDD1424A81C}"/>
              </a:ext>
            </a:extLst>
          </p:cNvPr>
          <p:cNvSpPr txBox="1"/>
          <p:nvPr/>
        </p:nvSpPr>
        <p:spPr>
          <a:xfrm>
            <a:off x="656531" y="994277"/>
            <a:ext cx="7953180" cy="3114955"/>
          </a:xfrm>
          <a:prstGeom prst="rect">
            <a:avLst/>
          </a:prstGeom>
        </p:spPr>
        <p:txBody>
          <a:bodyPr vert="horz" wrap="square" lIns="0" tIns="123190" rIns="0" bIns="0" rtlCol="0" anchor="t">
            <a:spAutoFit/>
          </a:bodyPr>
          <a:lstStyle/>
          <a:p>
            <a:pPr marL="285750" indent="-285750" algn="l">
              <a:lnSpc>
                <a:spcPct val="150000"/>
              </a:lnSpc>
              <a:buFont typeface="Arial"/>
              <a:buChar char="•"/>
              <a:tabLst>
                <a:tab pos="240665" algn="l"/>
              </a:tabLst>
            </a:pPr>
            <a:r>
              <a:rPr lang="en-US" spc="-10" dirty="0" smtClean="0">
                <a:latin typeface="Times New Roman"/>
                <a:cs typeface="Times New Roman"/>
              </a:rPr>
              <a:t>Integrate </a:t>
            </a:r>
            <a:r>
              <a:rPr lang="en-US" spc="-10" dirty="0">
                <a:latin typeface="Times New Roman"/>
                <a:cs typeface="Times New Roman"/>
              </a:rPr>
              <a:t>social media sentiment (Twitter, </a:t>
            </a:r>
            <a:r>
              <a:rPr lang="en-US" spc="-10" dirty="0" err="1">
                <a:latin typeface="Times New Roman"/>
                <a:cs typeface="Times New Roman"/>
              </a:rPr>
              <a:t>Reddit</a:t>
            </a:r>
            <a:r>
              <a:rPr lang="en-US" spc="-10" dirty="0">
                <a:latin typeface="Times New Roman"/>
                <a:cs typeface="Times New Roman"/>
              </a:rPr>
              <a:t>) for deeper market insights</a:t>
            </a:r>
          </a:p>
          <a:p>
            <a:pPr marL="285750" indent="-285750" algn="l">
              <a:lnSpc>
                <a:spcPct val="150000"/>
              </a:lnSpc>
              <a:buFont typeface="Arial"/>
              <a:buChar char="•"/>
              <a:tabLst>
                <a:tab pos="240665" algn="l"/>
              </a:tabLst>
            </a:pPr>
            <a:r>
              <a:rPr lang="en-US" spc="-10" dirty="0">
                <a:latin typeface="Times New Roman"/>
                <a:cs typeface="Times New Roman"/>
              </a:rPr>
              <a:t>Develop mobile application for real-time access and alerts </a:t>
            </a:r>
          </a:p>
          <a:p>
            <a:pPr marL="285750" indent="-285750" algn="l">
              <a:lnSpc>
                <a:spcPct val="150000"/>
              </a:lnSpc>
              <a:buFont typeface="Arial"/>
              <a:buChar char="•"/>
              <a:tabLst>
                <a:tab pos="240665" algn="l"/>
              </a:tabLst>
            </a:pPr>
            <a:r>
              <a:rPr lang="en-US" spc="-10" dirty="0">
                <a:latin typeface="Times New Roman"/>
                <a:cs typeface="Times New Roman"/>
              </a:rPr>
              <a:t>Apply reinforcement learning for adaptive trading systems</a:t>
            </a:r>
          </a:p>
          <a:p>
            <a:pPr marL="285750" indent="-285750" algn="l">
              <a:lnSpc>
                <a:spcPct val="150000"/>
              </a:lnSpc>
              <a:buFont typeface="Arial"/>
              <a:buChar char="•"/>
              <a:tabLst>
                <a:tab pos="240665" algn="l"/>
              </a:tabLst>
            </a:pPr>
            <a:r>
              <a:rPr lang="en-US" spc="-10" dirty="0">
                <a:latin typeface="Times New Roman"/>
                <a:cs typeface="Times New Roman"/>
              </a:rPr>
              <a:t>Improve model accuracy using advanced deep learning techniques</a:t>
            </a:r>
          </a:p>
          <a:p>
            <a:pPr marL="285750" indent="-285750" algn="l">
              <a:lnSpc>
                <a:spcPct val="150000"/>
              </a:lnSpc>
              <a:buFont typeface="Arial"/>
              <a:buChar char="•"/>
              <a:tabLst>
                <a:tab pos="240665" algn="l"/>
              </a:tabLst>
            </a:pPr>
            <a:r>
              <a:rPr lang="en-US" spc="-10" dirty="0">
                <a:latin typeface="Times New Roman"/>
                <a:cs typeface="Times New Roman"/>
              </a:rPr>
              <a:t>Expand system to multiple markets (crypto, </a:t>
            </a:r>
            <a:r>
              <a:rPr lang="en-US" spc="-10" dirty="0" err="1">
                <a:latin typeface="Times New Roman"/>
                <a:cs typeface="Times New Roman"/>
              </a:rPr>
              <a:t>forex</a:t>
            </a:r>
            <a:r>
              <a:rPr lang="en-US" spc="-10" dirty="0">
                <a:latin typeface="Times New Roman"/>
                <a:cs typeface="Times New Roman"/>
              </a:rPr>
              <a:t>, commodities) </a:t>
            </a:r>
            <a:br>
              <a:rPr lang="en-US" spc="-10" dirty="0">
                <a:latin typeface="Times New Roman"/>
                <a:cs typeface="Times New Roman"/>
              </a:rPr>
            </a:br>
            <a:endParaRPr lang="en-US" spc="-10" dirty="0">
              <a:latin typeface="Times New Roman"/>
              <a:cs typeface="Times New Roman"/>
            </a:endParaRPr>
          </a:p>
          <a:p>
            <a:pPr marL="298450" indent="-285750">
              <a:lnSpc>
                <a:spcPct val="150000"/>
              </a:lnSpc>
              <a:spcBef>
                <a:spcPts val="969"/>
              </a:spcBef>
              <a:buFont typeface="Arial"/>
              <a:buChar char="•"/>
              <a:tabLst>
                <a:tab pos="240665" algn="l"/>
              </a:tabLst>
            </a:pPr>
            <a:endParaRPr lang="en-US" sz="1600" spc="-10" dirty="0">
              <a:solidFill>
                <a:srgbClr val="000000"/>
              </a:solidFill>
              <a:latin typeface="Times New Roman"/>
              <a:cs typeface="Times New Roman"/>
            </a:endParaRPr>
          </a:p>
        </p:txBody>
      </p:sp>
      <p:sp>
        <p:nvSpPr>
          <p:cNvPr id="8" name="Footer Placeholder 7">
            <a:extLst>
              <a:ext uri="{FF2B5EF4-FFF2-40B4-BE49-F238E27FC236}">
                <a16:creationId xmlns="" xmlns:a16="http://schemas.microsoft.com/office/drawing/2014/main" id="{DB68885E-EEB6-BE5C-E7B6-F54555530605}"/>
              </a:ext>
            </a:extLst>
          </p:cNvPr>
          <p:cNvSpPr>
            <a:spLocks noGrp="1"/>
          </p:cNvSpPr>
          <p:nvPr>
            <p:ph type="ftr" sz="quarter" idx="5"/>
          </p:nvPr>
        </p:nvSpPr>
        <p:spPr>
          <a:xfrm>
            <a:off x="304295" y="4934057"/>
            <a:ext cx="680176" cy="338554"/>
          </a:xfrm>
        </p:spPr>
        <p:txBody>
          <a:bodyPr wrap="square" lIns="0" tIns="0" rIns="0" bIns="0" anchor="t">
            <a:spAutoFit/>
          </a:bodyPr>
          <a:lstStyle/>
          <a:p>
            <a:r>
              <a:rPr lang="en-US" spc="-95" dirty="0"/>
              <a:t>30  / 06 /  26</a:t>
            </a:r>
          </a:p>
          <a:p>
            <a:endParaRPr lang="en-US" dirty="0"/>
          </a:p>
        </p:txBody>
      </p:sp>
    </p:spTree>
    <p:extLst>
      <p:ext uri="{BB962C8B-B14F-4D97-AF65-F5344CB8AC3E}">
        <p14:creationId xmlns:p14="http://schemas.microsoft.com/office/powerpoint/2010/main" val="2126581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31568"/>
            <a:ext cx="9160446" cy="835229"/>
            <a:chOff x="0" y="0"/>
            <a:chExt cx="9144000" cy="547624"/>
          </a:xfrm>
        </p:grpSpPr>
        <p:pic>
          <p:nvPicPr>
            <p:cNvPr id="3" name="object 3"/>
            <p:cNvPicPr/>
            <p:nvPr/>
          </p:nvPicPr>
          <p:blipFill>
            <a:blip r:embed="rId2" cstate="print"/>
            <a:stretch>
              <a:fillRect/>
            </a:stretch>
          </p:blipFill>
          <p:spPr>
            <a:xfrm>
              <a:off x="0" y="0"/>
              <a:ext cx="9144000" cy="490995"/>
            </a:xfrm>
            <a:prstGeom prst="rect">
              <a:avLst/>
            </a:prstGeom>
          </p:spPr>
        </p:pic>
        <p:pic>
          <p:nvPicPr>
            <p:cNvPr id="4" name="object 4"/>
            <p:cNvPicPr/>
            <p:nvPr/>
          </p:nvPicPr>
          <p:blipFill>
            <a:blip r:embed="rId3" cstate="print"/>
            <a:stretch>
              <a:fillRect/>
            </a:stretch>
          </p:blipFill>
          <p:spPr>
            <a:xfrm>
              <a:off x="3409950" y="0"/>
              <a:ext cx="2309876" cy="547624"/>
            </a:xfrm>
            <a:prstGeom prst="rect">
              <a:avLst/>
            </a:prstGeom>
          </p:spPr>
        </p:pic>
        <p:pic>
          <p:nvPicPr>
            <p:cNvPr id="5" name="object 5"/>
            <p:cNvPicPr/>
            <p:nvPr/>
          </p:nvPicPr>
          <p:blipFill>
            <a:blip r:embed="rId4" cstate="print"/>
            <a:stretch>
              <a:fillRect/>
            </a:stretch>
          </p:blipFill>
          <p:spPr>
            <a:xfrm>
              <a:off x="0" y="18870"/>
              <a:ext cx="9144000" cy="438150"/>
            </a:xfrm>
            <a:prstGeom prst="rect">
              <a:avLst/>
            </a:prstGeom>
          </p:spPr>
        </p:pic>
      </p:grpSp>
      <p:sp>
        <p:nvSpPr>
          <p:cNvPr id="6" name="object 6"/>
          <p:cNvSpPr txBox="1">
            <a:spLocks noGrp="1"/>
          </p:cNvSpPr>
          <p:nvPr>
            <p:ph type="title"/>
          </p:nvPr>
        </p:nvSpPr>
        <p:spPr>
          <a:xfrm>
            <a:off x="3376239" y="-40871"/>
            <a:ext cx="4369237" cy="567463"/>
          </a:xfrm>
          <a:prstGeom prst="rect">
            <a:avLst/>
          </a:prstGeom>
        </p:spPr>
        <p:txBody>
          <a:bodyPr vert="horz" wrap="square" lIns="0" tIns="13335" rIns="0" bIns="0" rtlCol="0" anchor="t">
            <a:spAutoFit/>
          </a:bodyPr>
          <a:lstStyle/>
          <a:p>
            <a:pPr marL="12700">
              <a:lnSpc>
                <a:spcPct val="100000"/>
              </a:lnSpc>
              <a:spcBef>
                <a:spcPts val="105"/>
              </a:spcBef>
            </a:pPr>
            <a:r>
              <a:rPr sz="3600" spc="-85" dirty="0">
                <a:latin typeface="Arial"/>
                <a:cs typeface="Arial"/>
              </a:rPr>
              <a:t> </a:t>
            </a:r>
            <a:r>
              <a:rPr sz="3600" spc="-10" dirty="0"/>
              <a:t>References</a:t>
            </a:r>
            <a:endParaRPr lang="en-US" sz="3600" spc="-10" dirty="0"/>
          </a:p>
        </p:txBody>
      </p:sp>
      <p:sp>
        <p:nvSpPr>
          <p:cNvPr id="9" name="object 9"/>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dirty="0"/>
              <a:t>AI&amp;DS-</a:t>
            </a:r>
            <a:r>
              <a:rPr spc="-105" dirty="0"/>
              <a:t>Department</a:t>
            </a:r>
          </a:p>
        </p:txBody>
      </p:sp>
      <p:sp>
        <p:nvSpPr>
          <p:cNvPr id="10" name="object 10"/>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7" name="object 7"/>
          <p:cNvSpPr txBox="1"/>
          <p:nvPr/>
        </p:nvSpPr>
        <p:spPr>
          <a:xfrm>
            <a:off x="574143" y="731117"/>
            <a:ext cx="8446237" cy="4173577"/>
          </a:xfrm>
          <a:prstGeom prst="rect">
            <a:avLst/>
          </a:prstGeom>
        </p:spPr>
        <p:txBody>
          <a:bodyPr vert="horz" wrap="square" lIns="0" tIns="123189" rIns="0" bIns="0" rtlCol="0" anchor="t">
            <a:spAutoFit/>
          </a:bodyPr>
          <a:lstStyle/>
          <a:p>
            <a:pPr marL="342900" indent="-342900" algn="l">
              <a:buSzPct val="85714"/>
              <a:buAutoNum type="arabicPeriod"/>
              <a:tabLst>
                <a:tab pos="398145" algn="l"/>
              </a:tabLst>
            </a:pPr>
            <a:r>
              <a:rPr lang="en-US" sz="1600" dirty="0">
                <a:latin typeface="Times New Roman"/>
                <a:cs typeface="Times New Roman"/>
              </a:rPr>
              <a:t>Y. Liu, I. Lee, and H. Wang, “</a:t>
            </a:r>
            <a:r>
              <a:rPr lang="en-US" sz="1600" dirty="0" err="1">
                <a:latin typeface="Times New Roman"/>
                <a:cs typeface="Times New Roman"/>
              </a:rPr>
              <a:t>FinBERT</a:t>
            </a:r>
            <a:r>
              <a:rPr lang="en-US" sz="1600" dirty="0">
                <a:latin typeface="Times New Roman"/>
                <a:cs typeface="Times New Roman"/>
              </a:rPr>
              <a:t>: A </a:t>
            </a:r>
            <a:r>
              <a:rPr lang="en-US" sz="1600" dirty="0" err="1">
                <a:latin typeface="Times New Roman"/>
                <a:cs typeface="Times New Roman"/>
              </a:rPr>
              <a:t>Pretrained</a:t>
            </a:r>
            <a:r>
              <a:rPr lang="en-US" sz="1600" dirty="0">
                <a:latin typeface="Times New Roman"/>
                <a:cs typeface="Times New Roman"/>
              </a:rPr>
              <a:t> Language Model for Financial Sentiment Analysis,” </a:t>
            </a:r>
            <a:r>
              <a:rPr lang="en-US" sz="1600" dirty="0" err="1">
                <a:latin typeface="Times New Roman"/>
                <a:cs typeface="Times New Roman"/>
              </a:rPr>
              <a:t>arXiv</a:t>
            </a:r>
            <a:r>
              <a:rPr lang="en-US" sz="1600" dirty="0">
                <a:latin typeface="Times New Roman"/>
                <a:cs typeface="Times New Roman"/>
              </a:rPr>
              <a:t> preprint, arXiv:2006.08097, 2020.</a:t>
            </a:r>
            <a:endParaRPr lang="en-US" sz="1600" spc="-10" dirty="0">
              <a:latin typeface="Times New Roman"/>
              <a:cs typeface="Times New Roman"/>
            </a:endParaRPr>
          </a:p>
          <a:p>
            <a:pPr marL="342900" indent="-342900" algn="l">
              <a:spcBef>
                <a:spcPts val="969"/>
              </a:spcBef>
              <a:buAutoNum type="arabicPeriod"/>
              <a:tabLst>
                <a:tab pos="398145" algn="l"/>
              </a:tabLst>
            </a:pPr>
            <a:r>
              <a:rPr lang="en-US" sz="1600" dirty="0">
                <a:latin typeface="Times New Roman"/>
                <a:cs typeface="Times New Roman"/>
              </a:rPr>
              <a:t>J. </a:t>
            </a:r>
            <a:r>
              <a:rPr lang="en-US" sz="1600" dirty="0" err="1">
                <a:latin typeface="Times New Roman"/>
                <a:cs typeface="Times New Roman"/>
              </a:rPr>
              <a:t>Bollen</a:t>
            </a:r>
            <a:r>
              <a:rPr lang="en-US" sz="1600" dirty="0">
                <a:latin typeface="Times New Roman"/>
                <a:cs typeface="Times New Roman"/>
              </a:rPr>
              <a:t>, H. Mao, and X. </a:t>
            </a:r>
            <a:r>
              <a:rPr lang="en-US" sz="1600" dirty="0" err="1">
                <a:latin typeface="Times New Roman"/>
                <a:cs typeface="Times New Roman"/>
              </a:rPr>
              <a:t>Zeng</a:t>
            </a:r>
            <a:r>
              <a:rPr lang="en-US" sz="1600" dirty="0">
                <a:latin typeface="Times New Roman"/>
                <a:cs typeface="Times New Roman"/>
              </a:rPr>
              <a:t>, “Twitter Mood Predicts the Stock Market,” Journal of Computational Science, vol. 2, no. 1, pp. 1–8, 2021.</a:t>
            </a:r>
          </a:p>
          <a:p>
            <a:pPr marL="342900" indent="-342900" algn="l">
              <a:spcBef>
                <a:spcPts val="969"/>
              </a:spcBef>
              <a:buAutoNum type="arabicPeriod"/>
              <a:tabLst>
                <a:tab pos="398145" algn="l"/>
              </a:tabLst>
            </a:pPr>
            <a:r>
              <a:rPr lang="en-US" sz="1600" dirty="0">
                <a:latin typeface="Times New Roman"/>
                <a:cs typeface="Times New Roman"/>
              </a:rPr>
              <a:t>J. Patel, S. Shah, P. </a:t>
            </a:r>
            <a:r>
              <a:rPr lang="en-US" sz="1600" dirty="0" err="1">
                <a:latin typeface="Times New Roman"/>
                <a:cs typeface="Times New Roman"/>
              </a:rPr>
              <a:t>Thakkar</a:t>
            </a:r>
            <a:r>
              <a:rPr lang="en-US" sz="1600" dirty="0">
                <a:latin typeface="Times New Roman"/>
                <a:cs typeface="Times New Roman"/>
              </a:rPr>
              <a:t>, and K. </a:t>
            </a:r>
            <a:r>
              <a:rPr lang="en-US" sz="1600" dirty="0" err="1">
                <a:latin typeface="Times New Roman"/>
                <a:cs typeface="Times New Roman"/>
              </a:rPr>
              <a:t>Kotecha</a:t>
            </a:r>
            <a:r>
              <a:rPr lang="en-US" sz="1600" dirty="0">
                <a:latin typeface="Times New Roman"/>
                <a:cs typeface="Times New Roman"/>
              </a:rPr>
              <a:t>, “Predicting Stock Market Index Using Machine Learning Techniques,” Expert Systems with Applications, vol. 42, no. 4, pp. 2162–2172, 2022.</a:t>
            </a:r>
          </a:p>
          <a:p>
            <a:pPr marL="342900" indent="-342900" algn="l">
              <a:spcBef>
                <a:spcPts val="969"/>
              </a:spcBef>
              <a:buAutoNum type="arabicPeriod"/>
              <a:tabLst>
                <a:tab pos="398145" algn="l"/>
              </a:tabLst>
            </a:pPr>
            <a:r>
              <a:rPr lang="en-US" sz="1600" dirty="0">
                <a:latin typeface="Times New Roman"/>
                <a:cs typeface="Times New Roman"/>
              </a:rPr>
              <a:t>N. Zhang, “Stock Market Prediction with Deep Learning Models,” </a:t>
            </a:r>
            <a:r>
              <a:rPr lang="en-US" sz="1600" dirty="0" err="1">
                <a:latin typeface="Times New Roman"/>
                <a:cs typeface="Times New Roman"/>
              </a:rPr>
              <a:t>Procedia</a:t>
            </a:r>
            <a:r>
              <a:rPr lang="en-US" sz="1600" dirty="0">
                <a:latin typeface="Times New Roman"/>
                <a:cs typeface="Times New Roman"/>
              </a:rPr>
              <a:t> Computer Science, vol. 224, pp. 1139–1146, 2023.</a:t>
            </a:r>
          </a:p>
          <a:p>
            <a:pPr marL="342900" indent="-342900" algn="l">
              <a:spcBef>
                <a:spcPts val="969"/>
              </a:spcBef>
              <a:buAutoNum type="arabicPeriod"/>
              <a:tabLst>
                <a:tab pos="398145" algn="l"/>
              </a:tabLst>
            </a:pPr>
            <a:r>
              <a:rPr lang="en-US" sz="1600" dirty="0">
                <a:latin typeface="Times New Roman"/>
                <a:cs typeface="Times New Roman"/>
              </a:rPr>
              <a:t>S. Kumar and R. Roy, “Financial Sentiment Analysis and Its Impact on Stock Prediction,” IEEE Access, vol. 11, pp. 54120–54135, 2023.</a:t>
            </a:r>
          </a:p>
          <a:p>
            <a:pPr marL="342900" indent="-342900" algn="l">
              <a:spcBef>
                <a:spcPts val="969"/>
              </a:spcBef>
              <a:buAutoNum type="arabicPeriod"/>
              <a:tabLst>
                <a:tab pos="398145" algn="l"/>
              </a:tabLst>
            </a:pPr>
            <a:r>
              <a:rPr lang="en-US" sz="1600" dirty="0">
                <a:latin typeface="Times New Roman"/>
                <a:cs typeface="Times New Roman"/>
              </a:rPr>
              <a:t>D. </a:t>
            </a:r>
            <a:r>
              <a:rPr lang="en-US" sz="1600" dirty="0" err="1">
                <a:latin typeface="Times New Roman"/>
                <a:cs typeface="Times New Roman"/>
              </a:rPr>
              <a:t>Kahneman</a:t>
            </a:r>
            <a:r>
              <a:rPr lang="en-US" sz="1600" dirty="0">
                <a:latin typeface="Times New Roman"/>
                <a:cs typeface="Times New Roman"/>
              </a:rPr>
              <a:t>, “Sentiment Analysis Revisited: Behavioral Finance Perspectives,” CFA Institute Enterprising Investor, Nov. 2023.</a:t>
            </a:r>
          </a:p>
          <a:p>
            <a:pPr marL="12700" algn="l">
              <a:lnSpc>
                <a:spcPct val="150000"/>
              </a:lnSpc>
              <a:spcBef>
                <a:spcPts val="969"/>
              </a:spcBef>
              <a:tabLst>
                <a:tab pos="398145" algn="l"/>
              </a:tabLst>
            </a:pPr>
            <a:endParaRPr lang="en-US" sz="1600" dirty="0">
              <a:latin typeface="Times New Roman"/>
              <a:cs typeface="Times New Roman"/>
            </a:endParaRPr>
          </a:p>
        </p:txBody>
      </p:sp>
      <p:sp>
        <p:nvSpPr>
          <p:cNvPr id="8" name="Footer Placeholder 7">
            <a:extLst>
              <a:ext uri="{FF2B5EF4-FFF2-40B4-BE49-F238E27FC236}">
                <a16:creationId xmlns="" xmlns:a16="http://schemas.microsoft.com/office/drawing/2014/main" id="{A3CCD8F9-9214-B2CA-5E58-287A8F6063C3}"/>
              </a:ext>
            </a:extLst>
          </p:cNvPr>
          <p:cNvSpPr>
            <a:spLocks noGrp="1"/>
          </p:cNvSpPr>
          <p:nvPr>
            <p:ph type="ftr" sz="quarter" idx="5"/>
          </p:nvPr>
        </p:nvSpPr>
        <p:spPr>
          <a:xfrm>
            <a:off x="181587" y="4938806"/>
            <a:ext cx="853529" cy="338554"/>
          </a:xfrm>
        </p:spPr>
        <p:txBody>
          <a:bodyPr wrap="square" lIns="0" tIns="0" rIns="0" bIns="0" anchor="t">
            <a:spAutoFit/>
          </a:bodyPr>
          <a:lstStyle/>
          <a:p>
            <a:r>
              <a:rPr lang="en-US" spc="-95" dirty="0"/>
              <a:t>30  / 06 /  26</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0"/>
            <a:ext cx="9144000" cy="681355"/>
            <a:chOff x="0" y="0"/>
            <a:chExt cx="9144000" cy="681355"/>
          </a:xfrm>
        </p:grpSpPr>
        <p:pic>
          <p:nvPicPr>
            <p:cNvPr id="4" name="object 4"/>
            <p:cNvPicPr/>
            <p:nvPr/>
          </p:nvPicPr>
          <p:blipFill>
            <a:blip r:embed="rId2" cstate="print"/>
            <a:stretch>
              <a:fillRect/>
            </a:stretch>
          </p:blipFill>
          <p:spPr>
            <a:xfrm>
              <a:off x="0" y="0"/>
              <a:ext cx="9144000" cy="681356"/>
            </a:xfrm>
            <a:prstGeom prst="rect">
              <a:avLst/>
            </a:prstGeom>
          </p:spPr>
        </p:pic>
        <p:pic>
          <p:nvPicPr>
            <p:cNvPr id="5" name="object 5"/>
            <p:cNvPicPr/>
            <p:nvPr/>
          </p:nvPicPr>
          <p:blipFill>
            <a:blip r:embed="rId3" cstate="print"/>
            <a:stretch>
              <a:fillRect/>
            </a:stretch>
          </p:blipFill>
          <p:spPr>
            <a:xfrm>
              <a:off x="0" y="0"/>
              <a:ext cx="9144000" cy="628650"/>
            </a:xfrm>
            <a:prstGeom prst="rect">
              <a:avLst/>
            </a:prstGeom>
          </p:spPr>
        </p:pic>
      </p:grpSp>
      <p:sp>
        <p:nvSpPr>
          <p:cNvPr id="6" name="object 6"/>
          <p:cNvSpPr txBox="1">
            <a:spLocks noGrp="1"/>
          </p:cNvSpPr>
          <p:nvPr>
            <p:ph type="title"/>
          </p:nvPr>
        </p:nvSpPr>
        <p:spPr>
          <a:xfrm>
            <a:off x="2332989" y="2069147"/>
            <a:ext cx="4411980" cy="1033144"/>
          </a:xfrm>
          <a:prstGeom prst="rect">
            <a:avLst/>
          </a:prstGeom>
        </p:spPr>
        <p:txBody>
          <a:bodyPr vert="horz" wrap="square" lIns="0" tIns="13970" rIns="0" bIns="0" rtlCol="0">
            <a:spAutoFit/>
          </a:bodyPr>
          <a:lstStyle/>
          <a:p>
            <a:pPr marL="12700">
              <a:lnSpc>
                <a:spcPct val="100000"/>
              </a:lnSpc>
              <a:spcBef>
                <a:spcPts val="110"/>
              </a:spcBef>
            </a:pPr>
            <a:r>
              <a:rPr sz="6600">
                <a:solidFill>
                  <a:srgbClr val="FB7876"/>
                </a:solidFill>
              </a:rPr>
              <a:t>Thank</a:t>
            </a:r>
            <a:r>
              <a:rPr sz="6600" spc="-15">
                <a:solidFill>
                  <a:srgbClr val="FB7876"/>
                </a:solidFill>
              </a:rPr>
              <a:t> </a:t>
            </a:r>
            <a:r>
              <a:rPr sz="6600">
                <a:solidFill>
                  <a:srgbClr val="FB7876"/>
                </a:solidFill>
              </a:rPr>
              <a:t>you</a:t>
            </a:r>
            <a:r>
              <a:rPr sz="6600" spc="-15">
                <a:solidFill>
                  <a:srgbClr val="FB7876"/>
                </a:solidFill>
              </a:rPr>
              <a:t> </a:t>
            </a:r>
            <a:r>
              <a:rPr sz="6600" spc="-50">
                <a:solidFill>
                  <a:srgbClr val="FB7876"/>
                </a:solidFill>
              </a:rPr>
              <a:t>!</a:t>
            </a:r>
            <a:endParaRPr sz="6600"/>
          </a:p>
        </p:txBody>
      </p:sp>
      <p:sp>
        <p:nvSpPr>
          <p:cNvPr id="8" name="object 8"/>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spc="-130"/>
              <a:t>AI&amp;DS-</a:t>
            </a:r>
            <a:r>
              <a:rPr spc="-105"/>
              <a:t>Department</a:t>
            </a:r>
          </a:p>
        </p:txBody>
      </p:sp>
      <p:sp>
        <p:nvSpPr>
          <p:cNvPr id="9" name="object 9"/>
          <p:cNvSpPr txBox="1"/>
          <p:nvPr/>
        </p:nvSpPr>
        <p:spPr>
          <a:xfrm>
            <a:off x="7745476" y="4942011"/>
            <a:ext cx="864235" cy="189230"/>
          </a:xfrm>
          <a:prstGeom prst="rect">
            <a:avLst/>
          </a:prstGeom>
        </p:spPr>
        <p:txBody>
          <a:bodyPr vert="horz" wrap="square" lIns="0" tIns="6350" rIns="0" bIns="0" rtlCol="0">
            <a:spAutoFit/>
          </a:bodyPr>
          <a:lstStyle/>
          <a:p>
            <a:pPr marL="12700">
              <a:lnSpc>
                <a:spcPct val="100000"/>
              </a:lnSpc>
              <a:spcBef>
                <a:spcPts val="50"/>
              </a:spcBef>
            </a:pPr>
            <a:r>
              <a:rPr sz="1100" b="1" spc="-140">
                <a:solidFill>
                  <a:srgbClr val="FFFFFF"/>
                </a:solidFill>
                <a:latin typeface="Arial"/>
                <a:cs typeface="Arial"/>
              </a:rPr>
              <a:t>APCOER,</a:t>
            </a:r>
            <a:r>
              <a:rPr sz="1100" b="1" spc="-35">
                <a:solidFill>
                  <a:srgbClr val="FFFFFF"/>
                </a:solidFill>
                <a:latin typeface="Arial"/>
                <a:cs typeface="Arial"/>
              </a:rPr>
              <a:t> </a:t>
            </a:r>
            <a:r>
              <a:rPr sz="1100" b="1" spc="-95">
                <a:solidFill>
                  <a:srgbClr val="FFFFFF"/>
                </a:solidFill>
                <a:latin typeface="Arial"/>
                <a:cs typeface="Arial"/>
              </a:rPr>
              <a:t>Pune</a:t>
            </a:r>
            <a:endParaRPr sz="1100">
              <a:latin typeface="Arial"/>
              <a:cs typeface="Arial"/>
            </a:endParaRPr>
          </a:p>
        </p:txBody>
      </p:sp>
      <p:sp>
        <p:nvSpPr>
          <p:cNvPr id="2" name="Footer Placeholder 1">
            <a:extLst>
              <a:ext uri="{FF2B5EF4-FFF2-40B4-BE49-F238E27FC236}">
                <a16:creationId xmlns="" xmlns:a16="http://schemas.microsoft.com/office/drawing/2014/main" id="{FC9090AC-A8D0-8078-C8BB-7509F4851EC0}"/>
              </a:ext>
            </a:extLst>
          </p:cNvPr>
          <p:cNvSpPr>
            <a:spLocks noGrp="1"/>
          </p:cNvSpPr>
          <p:nvPr>
            <p:ph type="ftr" sz="quarter" idx="5"/>
          </p:nvPr>
        </p:nvSpPr>
        <p:spPr>
          <a:xfrm>
            <a:off x="250846" y="4934057"/>
            <a:ext cx="708956" cy="338554"/>
          </a:xfrm>
        </p:spPr>
        <p:txBody>
          <a:bodyPr wrap="square" lIns="0" tIns="0" rIns="0" bIns="0" anchor="t">
            <a:spAutoFit/>
          </a:bodyPr>
          <a:lstStyle/>
          <a:p>
            <a:r>
              <a:rPr lang="en-US" spc="-95" dirty="0"/>
              <a:t>30  / 06 /  26</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703</TotalTime>
  <Words>1176</Words>
  <Application>Microsoft Office PowerPoint</Application>
  <PresentationFormat>On-screen Show (16:9)</PresentationFormat>
  <Paragraphs>326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A Project Presentation on</vt:lpstr>
      <vt:lpstr>Presentation Outline</vt:lpstr>
      <vt:lpstr>Introduction</vt:lpstr>
      <vt:lpstr>Problem Statement</vt:lpstr>
      <vt:lpstr>Motivation</vt:lpstr>
      <vt:lpstr>Research Objectives</vt:lpstr>
      <vt:lpstr>Research Objectives achieved in Sem-I </vt:lpstr>
      <vt:lpstr>Research Objectives achieved in Sem-II </vt:lpstr>
      <vt:lpstr> Existing Systems </vt:lpstr>
      <vt:lpstr> Literature Survey</vt:lpstr>
      <vt:lpstr>Proposed System </vt:lpstr>
      <vt:lpstr> System Architecture   </vt:lpstr>
      <vt:lpstr>        Methodology   </vt:lpstr>
      <vt:lpstr>Algorithm </vt:lpstr>
      <vt:lpstr>Mathematical  Model  </vt:lpstr>
      <vt:lpstr>UML Diagram  </vt:lpstr>
      <vt:lpstr> Data Flow Diagram</vt:lpstr>
      <vt:lpstr>Activity Diagram </vt:lpstr>
      <vt:lpstr>Tools and Technologies</vt:lpstr>
      <vt:lpstr>Results and Discussion </vt:lpstr>
      <vt:lpstr>Evaluation Metrics </vt:lpstr>
      <vt:lpstr>Evaluation Metrics </vt:lpstr>
      <vt:lpstr>        Test Cases  </vt:lpstr>
      <vt:lpstr>Conclusion</vt:lpstr>
      <vt:lpstr>Future  Scopes</vt:lpstr>
      <vt:lpstr> References</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Project Presentation on</dc:title>
  <dc:creator>Aarya Jadhav</dc:creator>
  <cp:lastModifiedBy>aa</cp:lastModifiedBy>
  <cp:revision>44</cp:revision>
  <dcterms:created xsi:type="dcterms:W3CDTF">2025-11-12T16:13:53Z</dcterms:created>
  <dcterms:modified xsi:type="dcterms:W3CDTF">2026-06-30T05:49:42Z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2025-11-02T00:00:00Z</vt:filetime>
  </property>
  <property fmtid="{D5CDD505-2E9C-101B-9397-08002B2CF9AE}" pid="3" name="LastSaved">
    <vt:filetime>2025-11-12T00:00:00Z</vt:filetime>
  </property>
</Properties>
</file>